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この講義では、Cloudflare が何をしている会社なのかを押さえたうえで、創業から今日までの発展を「なぜそうなったのか」という理由とセットで追います。最後に AI 関連の機能を整理し、ハンズオンにつなげます。数字や日付はすべて Cloudflare 公式ブログ・公式サイト・決算資料で確認したものです。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ゴールは3つです。1つ目と2つ目は講義パート、3つ目はハンズオンパートで扱います。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Cloudflare を一言でいうと、利用者とサービスの間に立つ巨大なネットワークです。間に立っているので、コピーを返して速くする、攻撃を止めて守る、さらにその場でプログラムを動かす、ということができます。この3つ目が、後で出てくる Workers や Workers AI につながります。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数字で規模感をつかみます。335都市、125か国以上にデータセンターがあり、Webの HTTP トラフィックのおよそ2割が Cloudflare を通っています。売上も伸び続けていて、2026年第2四半期は前年同期比36%増です。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専門用語を4つだけ押さえます。DNS は住所録、CDN はコピーの配送網、エッジは利用者に近い場所、サーバーレスはサーバーの面倒を見なくてよい実行方式です。AI に例えると、サーバーレスは「モデルの API を呼ぶだけで GPU の管理はしない」のと同じ感覚です。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サービスは大きく4つの領域に分けられます。左の2つが昔からの主力事業で、Webサイトや社内ネットワークを守るものです。右の2つ、開発者プラットフォームと AI が、最近 AI の文脈で話題になっている部分です。大事なのは、4つとも同じネットワークの上に載っていることです。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これが実際のダッシュボードです。左のメニューが、先ほどの4つの領域とほぼ対応しています。ホーム画面の一番上に「エージェントを Cloudflare に載せよう」という案内が出ていて、会社として AI エージェントを前面に出していることがわかります。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歴史を一枚で見るとこうなります。最初は Web サイトを守り、速くする会社でした。次に、そのネットワークでお客さんのコードを動かせるようにしました。そしてそこに GPU を置き、AI とエージェントの基盤になっています。それぞれの段階には理由があるので、順に見ていきます。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Cloudflare の原点は、2004年に始まった Project Honey Pot というスパム追跡プロジェクトです。追跡はできたので、次は止めたい。止めるにはサイトの前に立つ必要がある。これが「間に立つネットワーク」という今の形の出発点です。前に立つとコピーも返せるので、ベータ版の段階で速くなる効果も確認されてい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2014年には、それまで有料だった HTTPS の証明書を、無料の利用者も含めて全員に配りました。理由はミッションで、暗号化されていない Web は盗み見や検閲に弱いからです。ここで押さえておきたいのは、無料で配ると利用者が集まり、流れるデータが増えるほどネットワークが賢くなるという構造です。このあとの発展にも繰り返し出てきます。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2017年の Workers が、今の AI の話につながる一番大きな転換点です。顧客の要望が多様すぎて機能追加が追いつかないので、ネットワークの上で顧客のコードを動かせるようにしました。何百もの拠点すべてで動かすために、仮想マシンではなく Chrome と同じ V8 エンジンの軽い仕組みを選んでいます。起動が一瞬で、ハンズオンでもデプロイが数秒で終わるのはこのおかげです。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コードが動くようになると、次はデータが要ります。データが遠くの別のクラウドにあると、せっかくエッジで動かしても往復で遅くなります。そこでキーバリューストア、状態を持てる Durable Objects、ファイル置き場の R2 と、データの置き場所を揃えていきました。R2 は、データを取り出すたびにかかる料金をゼロにしたことで注目されました。今では Pages は Workers に統合されつつあり、新規の静的サイトも Workers で公開するのが推奨です。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2020年にはパンデミックで、社員がみんな家から仕事をするようになりました。会社のネットワークの中なら安全、という前提が崩れたので、毎回本人と端末を確認する Zero Trust を提供しました。これも、すでに世界中にあるネットワークを別の用途に使い回した例です。AI 時代には、AI エージェントが社内システムにアクセスするときの安全な入口としても使われ始めています。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2023年、ChatGPT のブームの翌年に Workers AI を出しました。当時、AI を自分のサービスに組み込むには GPU を確保する必要があり、ハードルが高かったんです。Cloudflare にはすでにコードを動かす場所があったので、そこに GPU を足すだけで、開発者はいつもの Workers のコードから AI を呼べるようになりました。同時に RAG 用のベクトルデータベースと、外部 AI の通信を管理する AI Gateway も出しています。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MCP は、AI にツールを使わせるための共通の規格です。2025年初めの時点では、MCP サーバーは基本的に自分の PC の中で動かすもので、ブラウザやスマホの AI からは使えませんでした。Cloudflare は、インターネット越しに使えるリモート MCP サーバーを Workers で作って公開する仕組みと、ログインの仕組みを出しました。今日のハンズオンの最後で、これを実際に作ります。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2025年7月1日、Cloudflare は新しいサイトで AI クローラーを標準でブロックすると発表しました。昔の検索エンジンは、ページを読む代わりに訪問者を送ってくれました。でも AI は答えをその場で返すので、サイトに人が来ません。Cloudflare の計測では、読むページ数に対して送ってくる訪問者の少なさが、昔の Google と比べて OpenAI で750倍、Anthropic で3万倍です。インターネットの2割を通しているので、こういう計測ができ、ルールを変える影響力もあります。左下の画像は、AI ボットの通信量を公開している Cloudflare Radar 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2025年末から2026年にかけては、エージェントに必要な部品を一気に揃えています。モデル実行の Replicate を買収してモデルの品揃えを増やし、エージェントが自由にコマンドを実行できる隔離環境、記憶、検索を出しました。8月には自社の Workers AI と、他社モデルへの窓口だった AI Gateway を一つにまとめています。今のダッシュボードのモデル一覧には、Cloudflare 上で動くモデルと OpenAI や Google のモデルが一緒に並んでいます。さらに、エージェントがサイトやデータを使うときにお金を払う仕組みまで作り始めています。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歴史をまとめると、同じ回転を何度も回しています。無料で広く配ると、利用者と通信が集まり、ネットワークが大きく賢くなる。その上に新しいサービスを載せる。守るためのネットワークがコードの実行場所になり、さらに AI の実行場所になりました。AI の文脈で Cloudflare が強いのは、GPU を持っているからだけではなく、前の層で積み上げた資産があるからです。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ここからは AI 関連の機能を整理します。まず AI を作る側です。Workers AI がモデルを動かす本体、AI Gateway が通信の窓口、Agents SDK がエージェントや MCP サーバーを作る道具です。自分の資料を検索させる AI Search、エージェントがコマンドを実行できる Sandboxes、ブラウザを操作させる Browser Run もあります。ハンズオンでは Workers AI と MCP を触ります。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もう一つの側面が、AI から守る、あるいは AI からお金を受け取る側の機能です。AI Crawl Control で、どの AI が自分のサイトをどれだけ読んでいるかを見て、許可やブロックを決められます。さらに読んだ量や使った量に応じて支払ってもらう仕組みや、エージェントに API を有料で売る仕組みもあります。HTTP 402 は「支払いが必要」という、昔からあるのにほとんど使われていなかったステータスコードで、エージェント時代になって活用され始めています。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MCP の流れを確認します。AI クライアントが MCP サーバーに、どんなツールがあるかを聞きます。質問に合うツールを選んで、引数を付けて呼び出します。返ってきた結果を使って、AI が答えを書きます。リモート MCP では、この MCP サーバーがインターネット上にあります。右の画面は、ハンズオンで作るサイコロのツールを AI が呼び出したところです。AI は乱数を正しく作れませんが、ツールを使えば本物のサイコロの結果を返せます。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無料プランでどこまでできるかです。Workers は1日10万リクエスト、Workers AI は1日1万ニューロンまで無料です。ニューロンは AI の計算量の単位で、今日のハンズオンで何度か試したら32ニューロンでした。R2 だけは、無料枠の中で使う場合でも最初にサブスクリプションの登録が必要で、クレジットカードなどの支払い方法を求められるので注意してください。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ここからハンズオンです。1と2はブラウザだけでできます。3と4はターミナルでコマンドを使います。Node.js のインストールから手順書に書いてあるので、そのとおりに進めてください。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AF7F2"/>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315690"/>
            <a:ext cx="10566400" cy="508000"/>
          </a:xfrm>
          <a:prstGeom prst="rect">
            <a:avLst/>
          </a:prstGeom>
          <a:noFill/>
          <a:ln/>
        </p:spPr>
        <p:txBody>
          <a:bodyPr wrap="square" lIns="0" tIns="0" rIns="0" bIns="0" rtlCol="0" anchor="t"/>
          <a:lstStyle>
            <a:lvl1pPr algn="l" indent="0" marL="0">
              <a:lnSpc>
                <a:spcPct val="115000"/>
              </a:lnSpc>
              <a:buNone/>
              <a:defRPr lang="en-US" sz="3200" dirty="0">
                <a:solidFill>
                  <a:srgbClr val="1C1F26"/>
                </a:solidFill>
                <a:latin typeface="Noto Sans JP" pitchFamily="34" charset="0"/>
                <a:ea typeface="Noto Sans JP" pitchFamily="34" charset="-122"/>
                <a:cs typeface="Noto Sans JP"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2128490"/>
            <a:ext cx="10566400" cy="3916710"/>
          </a:xfrm>
          <a:prstGeom prst="rect">
            <a:avLst/>
          </a:prstGeom>
          <a:noFill/>
          <a:ln/>
        </p:spPr>
        <p:txBody>
          <a:bodyPr wrap="square" lIns="0" tIns="0" rIns="0" bIns="0" rtlCol="0" anchor="t"/>
          <a:lstStyle>
            <a:lvl1pPr algn="l" indent="0" marL="0">
              <a:lnSpc>
                <a:spcPct val="140000"/>
              </a:lnSpc>
              <a:buNone/>
              <a:defRPr lang="en-US" sz="1600" dirty="0">
                <a:solidFill>
                  <a:srgbClr val="1C1F26"/>
                </a:solidFill>
                <a:latin typeface="Noto Sans JP" pitchFamily="34" charset="0"/>
                <a:ea typeface="Noto Sans JP" pitchFamily="34" charset="-122"/>
                <a:cs typeface="Noto Sans JP"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AF7F2"/>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315690"/>
            <a:ext cx="10566400" cy="508000"/>
          </a:xfrm>
          <a:prstGeom prst="rect">
            <a:avLst/>
          </a:prstGeom>
          <a:noFill/>
          <a:ln/>
        </p:spPr>
        <p:txBody>
          <a:bodyPr wrap="square" lIns="0" tIns="0" rIns="0" bIns="0" rtlCol="0" anchor="t"/>
          <a:lstStyle>
            <a:lvl1pPr algn="l" indent="0" marL="0">
              <a:lnSpc>
                <a:spcPct val="115000"/>
              </a:lnSpc>
              <a:buNone/>
              <a:defRPr lang="en-US" sz="3200" dirty="0">
                <a:solidFill>
                  <a:srgbClr val="1C1F26"/>
                </a:solidFill>
                <a:latin typeface="Noto Sans JP" pitchFamily="34" charset="0"/>
                <a:ea typeface="Noto Sans JP" pitchFamily="34" charset="-122"/>
                <a:cs typeface="Noto Sans JP"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2128490"/>
            <a:ext cx="10566400" cy="3916710"/>
          </a:xfrm>
          <a:prstGeom prst="rect">
            <a:avLst/>
          </a:prstGeom>
          <a:noFill/>
          <a:ln/>
        </p:spPr>
        <p:txBody>
          <a:bodyPr wrap="square" lIns="0" tIns="0" rIns="0" bIns="0" rtlCol="0" anchor="t"/>
          <a:lstStyle>
            <a:lvl1pPr algn="l" indent="0" marL="0">
              <a:lnSpc>
                <a:spcPct val="140000"/>
              </a:lnSpc>
              <a:buNone/>
              <a:defRPr lang="en-US" sz="1600" dirty="0">
                <a:solidFill>
                  <a:srgbClr val="1C1F26"/>
                </a:solidFill>
                <a:latin typeface="Noto Sans JP" pitchFamily="34" charset="0"/>
                <a:ea typeface="Noto Sans JP" pitchFamily="34" charset="-122"/>
                <a:cs typeface="Noto Sans JP"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2.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2.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2.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e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e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2.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2.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jpeg"/><Relationship Id="rId7" Type="http://schemas.openxmlformats.org/officeDocument/2006/relationships/slideLayout" Target="../slideLayouts/slideLayout2.xml"/><Relationship Id="rId8"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1F26"/>
        </a:solidFill>
      </p:bgPr>
    </p:bg>
    <p:spTree>
      <p:nvGrpSpPr>
        <p:cNvPr id="1" name=""/>
        <p:cNvGrpSpPr/>
        <p:nvPr/>
      </p:nvGrpSpPr>
      <p:grpSpPr>
        <a:xfrm>
          <a:off x="0" y="0"/>
          <a:ext cx="0" cy="0"/>
          <a:chOff x="0" y="0"/>
          <a:chExt cx="0" cy="0"/>
        </a:xfrm>
      </p:grpSpPr>
      <p:sp>
        <p:nvSpPr>
          <p:cNvPr id="2" name="Shape 0"/>
          <p:cNvSpPr/>
          <p:nvPr/>
        </p:nvSpPr>
        <p:spPr>
          <a:xfrm>
            <a:off x="0" y="0"/>
            <a:ext cx="12192000" cy="152400"/>
          </a:xfrm>
          <a:prstGeom prst="rect">
            <a:avLst/>
          </a:prstGeom>
          <a:solidFill>
            <a:srgbClr val="F38020"/>
          </a:solidFill>
          <a:ln/>
        </p:spPr>
      </p:sp>
      <p:sp>
        <p:nvSpPr>
          <p:cNvPr id="3" name="Text 1"/>
          <p:cNvSpPr/>
          <p:nvPr/>
        </p:nvSpPr>
        <p:spPr>
          <a:xfrm>
            <a:off x="812800" y="219457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b="1" spc="200" kern="0" dirty="0">
                <a:solidFill>
                  <a:srgbClr val="F38020"/>
                </a:solidFill>
                <a:latin typeface="Noto Sans JP" pitchFamily="34" charset="0"/>
                <a:ea typeface="Noto Sans JP" pitchFamily="34" charset="-122"/>
                <a:cs typeface="Noto Sans JP" pitchFamily="34" charset="-120"/>
              </a:rPr>
              <a:t>講義 30 分 ＋ ハンズオン</a:t>
            </a:r>
            <a:endParaRPr lang="en-US" sz="1600" dirty="0"/>
          </a:p>
        </p:txBody>
      </p:sp>
      <p:sp>
        <p:nvSpPr>
          <p:cNvPr id="4" name="Text 2"/>
          <p:cNvSpPr/>
          <p:nvPr>
            <p:ph type="title"/>
          </p:nvPr>
        </p:nvSpPr>
        <p:spPr>
          <a:xfrm>
            <a:off x="812800" y="2733030"/>
            <a:ext cx="10883392" cy="863600"/>
          </a:xfrm>
          <a:prstGeom prst="rect">
            <a:avLst/>
          </a:prstGeom>
          <a:noFill/>
          <a:ln/>
        </p:spPr>
        <p:txBody>
          <a:bodyPr wrap="square" lIns="0" tIns="0" rIns="0" bIns="0" rtlCol="0" anchor="t">
            <a:normAutofit/>
          </a:bodyPr>
          <a:lstStyle/>
          <a:p>
            <a:pPr algn="l" indent="0" marL="0">
              <a:lnSpc>
                <a:spcPts val="6600"/>
              </a:lnSpc>
              <a:buNone/>
            </a:pPr>
            <a:r>
              <a:rPr lang="en-US" sz="6000" b="1" i="0" dirty="0">
                <a:solidFill>
                  <a:srgbClr val="F5F1EA"/>
                </a:solidFill>
                <a:latin typeface="Noto Sans JP" pitchFamily="34" charset="0"/>
                <a:ea typeface="Noto Sans JP" pitchFamily="34" charset="-122"/>
                <a:cs typeface="Noto Sans JP" pitchFamily="34" charset="-120"/>
              </a:rPr>
              <a:t>Cloudflare 入門</a:t>
            </a:r>
            <a:endParaRPr lang="en-US" sz="6000" dirty="0"/>
          </a:p>
        </p:txBody>
      </p:sp>
      <p:sp>
        <p:nvSpPr>
          <p:cNvPr id="5" name="Text 3"/>
          <p:cNvSpPr/>
          <p:nvPr/>
        </p:nvSpPr>
        <p:spPr>
          <a:xfrm>
            <a:off x="812800" y="3825230"/>
            <a:ext cx="10883392" cy="863600"/>
          </a:xfrm>
          <a:prstGeom prst="rect">
            <a:avLst/>
          </a:prstGeom>
          <a:noFill/>
          <a:ln/>
        </p:spPr>
        <p:txBody>
          <a:bodyPr wrap="square" lIns="0" tIns="0" rIns="0" bIns="0" rtlCol="0" anchor="t">
            <a:normAutofit/>
          </a:bodyPr>
          <a:lstStyle/>
          <a:p>
            <a:pPr algn="l" indent="0" marL="0">
              <a:lnSpc>
                <a:spcPts val="3300"/>
              </a:lnSpc>
              <a:buNone/>
            </a:pPr>
            <a:r>
              <a:rPr lang="en-US" sz="2200" dirty="0">
                <a:solidFill>
                  <a:srgbClr val="D9D3C7"/>
                </a:solidFill>
                <a:latin typeface="Noto Sans JP" pitchFamily="34" charset="0"/>
                <a:ea typeface="Noto Sans JP" pitchFamily="34" charset="-122"/>
                <a:cs typeface="Noto Sans JP" pitchFamily="34" charset="-120"/>
              </a:rPr>
              <a:t>CDN の会社が、なぜ「AI のインフラ」と</a:t>
            </a:r>
            <a:endParaRPr lang="en-US" sz="2200" dirty="0"/>
          </a:p>
          <a:p>
            <a:pPr algn="l" indent="0" marL="0">
              <a:lnSpc>
                <a:spcPts val="3300"/>
              </a:lnSpc>
              <a:buNone/>
            </a:pPr>
            <a:r>
              <a:rPr lang="en-US" sz="2200" dirty="0">
                <a:solidFill>
                  <a:srgbClr val="D9D3C7"/>
                </a:solidFill>
                <a:latin typeface="Noto Sans JP" pitchFamily="34" charset="0"/>
                <a:ea typeface="Noto Sans JP" pitchFamily="34" charset="-122"/>
                <a:cs typeface="Noto Sans JP" pitchFamily="34" charset="-120"/>
              </a:rPr>
              <a:t>呼ばれるようになったのか</a:t>
            </a:r>
            <a:endParaRPr lang="en-US" sz="2200" dirty="0"/>
          </a:p>
        </p:txBody>
      </p:sp>
      <p:sp>
        <p:nvSpPr>
          <p:cNvPr id="6" name="Text 4"/>
          <p:cNvSpPr/>
          <p:nvPr/>
        </p:nvSpPr>
        <p:spPr>
          <a:xfrm>
            <a:off x="812800" y="5750620"/>
            <a:ext cx="7848600"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A398"/>
                </a:solidFill>
                <a:latin typeface="Noto Sans JP" pitchFamily="34" charset="0"/>
                <a:ea typeface="Noto Sans JP" pitchFamily="34" charset="-122"/>
                <a:cs typeface="Noto Sans JP" pitchFamily="34" charset="-120"/>
              </a:rPr>
              <a:t>対象：AI には詳しいが、ネットワークやサーバーは初心者の人</a:t>
            </a:r>
            <a:endParaRPr lang="en-US" sz="1400" dirty="0"/>
          </a:p>
          <a:p>
            <a:pPr algn="l" indent="0" marL="0">
              <a:lnSpc>
                <a:spcPts val="1960"/>
              </a:lnSpc>
              <a:buNone/>
            </a:pPr>
            <a:r>
              <a:rPr lang="en-US" sz="1400" dirty="0">
                <a:solidFill>
                  <a:srgbClr val="A9A398"/>
                </a:solidFill>
                <a:latin typeface="Noto Sans JP" pitchFamily="34" charset="0"/>
                <a:ea typeface="Noto Sans JP" pitchFamily="34" charset="-122"/>
                <a:cs typeface="Noto Sans JP" pitchFamily="34" charset="-120"/>
              </a:rPr>
              <a:t>2026年10月時点の公式情報にもとづく</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B4560A"/>
                </a:solidFill>
                <a:latin typeface="Noto Sans JP" pitchFamily="34" charset="0"/>
                <a:ea typeface="Noto Sans JP" pitchFamily="34" charset="-122"/>
                <a:cs typeface="Noto Sans JP" pitchFamily="34" charset="-120"/>
              </a:rPr>
              <a:t>今日のゴール</a:t>
            </a:r>
            <a:endParaRPr lang="en-US" sz="1400" dirty="0"/>
          </a:p>
        </p:txBody>
      </p:sp>
      <p:sp>
        <p:nvSpPr>
          <p:cNvPr id="3" name="Text 1"/>
          <p:cNvSpPr/>
          <p:nvPr>
            <p:ph type="title"/>
          </p:nvPr>
        </p:nvSpPr>
        <p:spPr>
          <a:xfrm>
            <a:off x="812800" y="1417290"/>
            <a:ext cx="10883392" cy="533400"/>
          </a:xfrm>
          <a:prstGeom prst="rect">
            <a:avLst/>
          </a:prstGeom>
          <a:noFill/>
          <a:ln/>
        </p:spPr>
        <p:txBody>
          <a:bodyPr wrap="square" lIns="0" tIns="0" rIns="0" bIns="0" rtlCol="0" anchor="t">
            <a:normAutofit/>
          </a:bodyPr>
          <a:lstStyle/>
          <a:p>
            <a:pPr algn="l" indent="0" marL="0">
              <a:lnSpc>
                <a:spcPts val="4000"/>
              </a:lnSpc>
              <a:buNone/>
            </a:pPr>
            <a:r>
              <a:rPr lang="en-US" sz="3200" b="1" i="0" dirty="0">
                <a:solidFill>
                  <a:srgbClr val="1C1F26"/>
                </a:solidFill>
                <a:latin typeface="Noto Sans JP" pitchFamily="34" charset="0"/>
                <a:ea typeface="Noto Sans JP" pitchFamily="34" charset="-122"/>
                <a:cs typeface="Noto Sans JP" pitchFamily="34" charset="-120"/>
              </a:rPr>
              <a:t>終わったときに、この 3 つができる状態を目指す</a:t>
            </a:r>
            <a:endParaRPr lang="en-US" sz="3200" dirty="0"/>
          </a:p>
        </p:txBody>
      </p:sp>
      <p:sp>
        <p:nvSpPr>
          <p:cNvPr id="4" name="Shape 2"/>
          <p:cNvSpPr/>
          <p:nvPr/>
        </p:nvSpPr>
        <p:spPr>
          <a:xfrm>
            <a:off x="815975" y="2284065"/>
            <a:ext cx="3380284" cy="3554760"/>
          </a:xfrm>
          <a:prstGeom prst="roundRect">
            <a:avLst>
              <a:gd name="adj" fmla="val 3663"/>
            </a:avLst>
          </a:prstGeom>
          <a:solidFill>
            <a:srgbClr val="FFFDF9"/>
          </a:solidFill>
          <a:ln w="6350">
            <a:solidFill>
              <a:srgbClr val="E4DDD1"/>
            </a:solidFill>
            <a:prstDash val="solid"/>
          </a:ln>
        </p:spPr>
      </p:sp>
      <p:sp>
        <p:nvSpPr>
          <p:cNvPr id="5" name="Text 3"/>
          <p:cNvSpPr/>
          <p:nvPr/>
        </p:nvSpPr>
        <p:spPr>
          <a:xfrm>
            <a:off x="1123950" y="2592040"/>
            <a:ext cx="2847264"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F38020"/>
                </a:solidFill>
                <a:latin typeface="Noto Sans JP" pitchFamily="34" charset="0"/>
                <a:ea typeface="Noto Sans JP" pitchFamily="34" charset="-122"/>
                <a:cs typeface="Noto Sans JP" pitchFamily="34" charset="-120"/>
              </a:rPr>
              <a:t>1</a:t>
            </a:r>
            <a:endParaRPr lang="en-US" sz="3600" dirty="0"/>
          </a:p>
        </p:txBody>
      </p:sp>
      <p:sp>
        <p:nvSpPr>
          <p:cNvPr id="6" name="Text 4"/>
          <p:cNvSpPr/>
          <p:nvPr/>
        </p:nvSpPr>
        <p:spPr>
          <a:xfrm>
            <a:off x="1123950" y="3176240"/>
            <a:ext cx="2847264" cy="7366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C1F26"/>
                </a:solidFill>
                <a:latin typeface="Noto Sans JP" pitchFamily="34" charset="0"/>
                <a:ea typeface="Noto Sans JP" pitchFamily="34" charset="-122"/>
                <a:cs typeface="Noto Sans JP" pitchFamily="34" charset="-120"/>
              </a:rPr>
              <a:t>何をしている会社か、一言で説明できる</a:t>
            </a:r>
            <a:endParaRPr lang="en-US" sz="2000" dirty="0"/>
          </a:p>
        </p:txBody>
      </p:sp>
      <p:sp>
        <p:nvSpPr>
          <p:cNvPr id="7" name="Text 5"/>
          <p:cNvSpPr/>
          <p:nvPr/>
        </p:nvSpPr>
        <p:spPr>
          <a:xfrm>
            <a:off x="1123950" y="4014440"/>
            <a:ext cx="2847264" cy="635000"/>
          </a:xfrm>
          <a:prstGeom prst="rect">
            <a:avLst/>
          </a:prstGeom>
          <a:noFill/>
          <a:ln/>
        </p:spPr>
        <p:txBody>
          <a:bodyPr wrap="square" lIns="0" tIns="0" rIns="0" bIns="0" rtlCol="0" anchor="t">
            <a:normAutofit/>
          </a:bodyPr>
          <a:lstStyle/>
          <a:p>
            <a:pPr algn="l" indent="0" marL="0">
              <a:lnSpc>
                <a:spcPts val="2400"/>
              </a:lnSpc>
              <a:buNone/>
            </a:pPr>
            <a:r>
              <a:rPr lang="en-US" sz="1500" dirty="0">
                <a:solidFill>
                  <a:srgbClr val="4A4F5A"/>
                </a:solidFill>
                <a:latin typeface="Noto Sans JP" pitchFamily="34" charset="0"/>
                <a:ea typeface="Noto Sans JP" pitchFamily="34" charset="-122"/>
                <a:cs typeface="Noto Sans JP" pitchFamily="34" charset="-120"/>
              </a:rPr>
              <a:t>CDN・セキュリティ・開発者向けクラウドの関係がわかる</a:t>
            </a:r>
            <a:endParaRPr lang="en-US" sz="1500" dirty="0"/>
          </a:p>
        </p:txBody>
      </p:sp>
      <p:sp>
        <p:nvSpPr>
          <p:cNvPr id="8" name="Shape 6"/>
          <p:cNvSpPr/>
          <p:nvPr/>
        </p:nvSpPr>
        <p:spPr>
          <a:xfrm>
            <a:off x="4405809" y="2284065"/>
            <a:ext cx="3380333" cy="3554760"/>
          </a:xfrm>
          <a:prstGeom prst="roundRect">
            <a:avLst>
              <a:gd name="adj" fmla="val 3663"/>
            </a:avLst>
          </a:prstGeom>
          <a:solidFill>
            <a:srgbClr val="FFFDF9"/>
          </a:solidFill>
          <a:ln w="6350">
            <a:solidFill>
              <a:srgbClr val="E4DDD1"/>
            </a:solidFill>
            <a:prstDash val="solid"/>
          </a:ln>
        </p:spPr>
      </p:sp>
      <p:sp>
        <p:nvSpPr>
          <p:cNvPr id="9" name="Text 7"/>
          <p:cNvSpPr/>
          <p:nvPr/>
        </p:nvSpPr>
        <p:spPr>
          <a:xfrm>
            <a:off x="4713784" y="2592040"/>
            <a:ext cx="2847315"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F38020"/>
                </a:solidFill>
                <a:latin typeface="Noto Sans JP" pitchFamily="34" charset="0"/>
                <a:ea typeface="Noto Sans JP" pitchFamily="34" charset="-122"/>
                <a:cs typeface="Noto Sans JP" pitchFamily="34" charset="-120"/>
              </a:rPr>
              <a:t>2</a:t>
            </a:r>
            <a:endParaRPr lang="en-US" sz="3600" dirty="0"/>
          </a:p>
        </p:txBody>
      </p:sp>
      <p:sp>
        <p:nvSpPr>
          <p:cNvPr id="10" name="Text 8"/>
          <p:cNvSpPr/>
          <p:nvPr/>
        </p:nvSpPr>
        <p:spPr>
          <a:xfrm>
            <a:off x="4713784" y="3176240"/>
            <a:ext cx="2847315" cy="7366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C1F26"/>
                </a:solidFill>
                <a:latin typeface="Noto Sans JP" pitchFamily="34" charset="0"/>
                <a:ea typeface="Noto Sans JP" pitchFamily="34" charset="-122"/>
                <a:cs typeface="Noto Sans JP" pitchFamily="34" charset="-120"/>
              </a:rPr>
              <a:t>なぜ AI の文脈で話題なのか説明できる</a:t>
            </a:r>
            <a:endParaRPr lang="en-US" sz="2000" dirty="0"/>
          </a:p>
        </p:txBody>
      </p:sp>
      <p:sp>
        <p:nvSpPr>
          <p:cNvPr id="11" name="Text 9"/>
          <p:cNvSpPr/>
          <p:nvPr/>
        </p:nvSpPr>
        <p:spPr>
          <a:xfrm>
            <a:off x="4713784" y="4014440"/>
            <a:ext cx="2847315" cy="635000"/>
          </a:xfrm>
          <a:prstGeom prst="rect">
            <a:avLst/>
          </a:prstGeom>
          <a:noFill/>
          <a:ln/>
        </p:spPr>
        <p:txBody>
          <a:bodyPr wrap="square" lIns="0" tIns="0" rIns="0" bIns="0" rtlCol="0" anchor="t">
            <a:normAutofit/>
          </a:bodyPr>
          <a:lstStyle/>
          <a:p>
            <a:pPr algn="l" indent="0" marL="0">
              <a:lnSpc>
                <a:spcPts val="2400"/>
              </a:lnSpc>
              <a:buNone/>
            </a:pPr>
            <a:r>
              <a:rPr lang="en-US" sz="1500" dirty="0">
                <a:solidFill>
                  <a:srgbClr val="4A4F5A"/>
                </a:solidFill>
                <a:latin typeface="Noto Sans JP" pitchFamily="34" charset="0"/>
                <a:ea typeface="Noto Sans JP" pitchFamily="34" charset="-122"/>
                <a:cs typeface="Noto Sans JP" pitchFamily="34" charset="-120"/>
              </a:rPr>
              <a:t>歴史の「なぜ」をたどると、今の位置づけが自然に見える</a:t>
            </a:r>
            <a:endParaRPr lang="en-US" sz="1500" dirty="0"/>
          </a:p>
        </p:txBody>
      </p:sp>
      <p:sp>
        <p:nvSpPr>
          <p:cNvPr id="12" name="Shape 10"/>
          <p:cNvSpPr/>
          <p:nvPr/>
        </p:nvSpPr>
        <p:spPr>
          <a:xfrm>
            <a:off x="7995692" y="2284065"/>
            <a:ext cx="3380333" cy="3554760"/>
          </a:xfrm>
          <a:prstGeom prst="roundRect">
            <a:avLst>
              <a:gd name="adj" fmla="val 3663"/>
            </a:avLst>
          </a:prstGeom>
          <a:solidFill>
            <a:srgbClr val="FFFDF9"/>
          </a:solidFill>
          <a:ln w="6350">
            <a:solidFill>
              <a:srgbClr val="E4DDD1"/>
            </a:solidFill>
            <a:prstDash val="solid"/>
          </a:ln>
        </p:spPr>
      </p:sp>
      <p:sp>
        <p:nvSpPr>
          <p:cNvPr id="13" name="Text 11"/>
          <p:cNvSpPr/>
          <p:nvPr/>
        </p:nvSpPr>
        <p:spPr>
          <a:xfrm>
            <a:off x="8303667" y="2592040"/>
            <a:ext cx="2847315"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F38020"/>
                </a:solidFill>
                <a:latin typeface="Noto Sans JP" pitchFamily="34" charset="0"/>
                <a:ea typeface="Noto Sans JP" pitchFamily="34" charset="-122"/>
                <a:cs typeface="Noto Sans JP" pitchFamily="34" charset="-120"/>
              </a:rPr>
              <a:t>3</a:t>
            </a:r>
            <a:endParaRPr lang="en-US" sz="3600" dirty="0"/>
          </a:p>
        </p:txBody>
      </p:sp>
      <p:sp>
        <p:nvSpPr>
          <p:cNvPr id="14" name="Text 12"/>
          <p:cNvSpPr/>
          <p:nvPr/>
        </p:nvSpPr>
        <p:spPr>
          <a:xfrm>
            <a:off x="8303667" y="3176240"/>
            <a:ext cx="2847315" cy="7366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C1F26"/>
                </a:solidFill>
                <a:latin typeface="Noto Sans JP" pitchFamily="34" charset="0"/>
                <a:ea typeface="Noto Sans JP" pitchFamily="34" charset="-122"/>
                <a:cs typeface="Noto Sans JP" pitchFamily="34" charset="-120"/>
              </a:rPr>
              <a:t>AI アプリと MCP サーバーを自分で公開できる</a:t>
            </a:r>
            <a:endParaRPr lang="en-US" sz="2000" dirty="0"/>
          </a:p>
        </p:txBody>
      </p:sp>
      <p:sp>
        <p:nvSpPr>
          <p:cNvPr id="15" name="Text 13"/>
          <p:cNvSpPr/>
          <p:nvPr/>
        </p:nvSpPr>
        <p:spPr>
          <a:xfrm>
            <a:off x="8303667" y="4014440"/>
            <a:ext cx="2847315" cy="635000"/>
          </a:xfrm>
          <a:prstGeom prst="rect">
            <a:avLst/>
          </a:prstGeom>
          <a:noFill/>
          <a:ln/>
        </p:spPr>
        <p:txBody>
          <a:bodyPr wrap="square" lIns="0" tIns="0" rIns="0" bIns="0" rtlCol="0" anchor="t">
            <a:normAutofit/>
          </a:bodyPr>
          <a:lstStyle/>
          <a:p>
            <a:pPr algn="l" indent="0" marL="0">
              <a:lnSpc>
                <a:spcPts val="2400"/>
              </a:lnSpc>
              <a:buNone/>
            </a:pPr>
            <a:r>
              <a:rPr lang="en-US" sz="1500" dirty="0">
                <a:solidFill>
                  <a:srgbClr val="4A4F5A"/>
                </a:solidFill>
                <a:latin typeface="Noto Sans JP" pitchFamily="34" charset="0"/>
                <a:ea typeface="Noto Sans JP" pitchFamily="34" charset="-122"/>
                <a:cs typeface="Noto Sans JP" pitchFamily="34" charset="-120"/>
              </a:rPr>
              <a:t>ハンズオンで、無料プランのまま実際に動かす</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812800" y="812800"/>
            <a:ext cx="10883392" cy="257870"/>
          </a:xfrm>
          <a:prstGeom prst="rect">
            <a:avLst/>
          </a:prstGeom>
          <a:noFill/>
          <a:ln/>
        </p:spPr>
        <p:txBody>
          <a:bodyPr wrap="square" lIns="0" tIns="0" rIns="0" bIns="0" rtlCol="0" anchor="t">
            <a:normAutofit/>
          </a:bodyPr>
          <a:lstStyle/>
          <a:p>
            <a:pPr algn="l" indent="0" marL="0">
              <a:lnSpc>
                <a:spcPts val="1874"/>
              </a:lnSpc>
              <a:buNone/>
            </a:pPr>
            <a:r>
              <a:rPr lang="en-US" sz="1339" b="1" spc="100" kern="0" dirty="0">
                <a:solidFill>
                  <a:srgbClr val="B4560A"/>
                </a:solidFill>
                <a:latin typeface="Noto Sans JP" pitchFamily="34" charset="0"/>
                <a:ea typeface="Noto Sans JP" pitchFamily="34" charset="-122"/>
                <a:cs typeface="Noto Sans JP" pitchFamily="34" charset="-120"/>
              </a:rPr>
              <a:t>一言でいうと</a:t>
            </a:r>
            <a:endParaRPr lang="en-US" sz="1339" dirty="0"/>
          </a:p>
        </p:txBody>
      </p:sp>
      <p:sp>
        <p:nvSpPr>
          <p:cNvPr id="3" name="Text 1"/>
          <p:cNvSpPr/>
          <p:nvPr>
            <p:ph type="title"/>
          </p:nvPr>
        </p:nvSpPr>
        <p:spPr>
          <a:xfrm>
            <a:off x="812800" y="1350070"/>
            <a:ext cx="11379200" cy="974675"/>
          </a:xfrm>
          <a:prstGeom prst="rect">
            <a:avLst/>
          </a:prstGeom>
          <a:noFill/>
          <a:ln/>
        </p:spPr>
        <p:txBody>
          <a:bodyPr wrap="square" lIns="0" tIns="0" rIns="0" bIns="0" rtlCol="0" anchor="t">
            <a:normAutofit/>
          </a:bodyPr>
          <a:lstStyle/>
          <a:p>
            <a:pPr algn="l" indent="0" marL="0">
              <a:lnSpc>
                <a:spcPts val="3850"/>
              </a:lnSpc>
              <a:buNone/>
            </a:pPr>
            <a:r>
              <a:rPr lang="en-US" sz="3080" b="1" i="0" dirty="0">
                <a:solidFill>
                  <a:srgbClr val="1C1F26"/>
                </a:solidFill>
                <a:latin typeface="Noto Sans JP" pitchFamily="34" charset="0"/>
                <a:ea typeface="Noto Sans JP" pitchFamily="34" charset="-122"/>
                <a:cs typeface="Noto Sans JP" pitchFamily="34" charset="-120"/>
              </a:rPr>
              <a:t>利用者とサービスの「間」に立つ、世界規模のネットワーク</a:t>
            </a:r>
            <a:endParaRPr lang="en-US" sz="3080" dirty="0"/>
          </a:p>
        </p:txBody>
      </p:sp>
      <p:sp>
        <p:nvSpPr>
          <p:cNvPr id="4" name="Shape 2"/>
          <p:cNvSpPr/>
          <p:nvPr/>
        </p:nvSpPr>
        <p:spPr>
          <a:xfrm>
            <a:off x="819150" y="2670225"/>
            <a:ext cx="2273300" cy="2070050"/>
          </a:xfrm>
          <a:prstGeom prst="roundRect">
            <a:avLst>
              <a:gd name="adj" fmla="val 5828"/>
            </a:avLst>
          </a:prstGeom>
          <a:solidFill>
            <a:srgbClr val="FFFDF9"/>
          </a:solidFill>
          <a:ln w="12700">
            <a:solidFill>
              <a:srgbClr val="D8D0C2"/>
            </a:solidFill>
            <a:prstDash val="solid"/>
          </a:ln>
        </p:spPr>
      </p:sp>
      <p:pic>
        <p:nvPicPr>
          <p:cNvPr id="5" name="Image 0" descr="Users">    </p:cNvPr>
          <p:cNvPicPr>
            <a:picLocks noChangeAspect="1"/>
          </p:cNvPicPr>
          <p:nvPr/>
        </p:nvPicPr>
        <p:blipFill>
          <a:blip r:embed="rId1"/>
          <a:srcRect l="0" r="0" t="0" b="0"/>
          <a:stretch/>
        </p:blipFill>
        <p:spPr>
          <a:xfrm>
            <a:off x="1651000" y="2930575"/>
            <a:ext cx="609600" cy="609600"/>
          </a:xfrm>
          <a:prstGeom prst="rect">
            <a:avLst/>
          </a:prstGeom>
        </p:spPr>
      </p:pic>
      <p:sp>
        <p:nvSpPr>
          <p:cNvPr id="6" name="Text 3"/>
          <p:cNvSpPr/>
          <p:nvPr/>
        </p:nvSpPr>
        <p:spPr>
          <a:xfrm>
            <a:off x="1544320" y="3641775"/>
            <a:ext cx="822960" cy="299690"/>
          </a:xfrm>
          <a:prstGeom prst="rect">
            <a:avLst/>
          </a:prstGeom>
          <a:noFill/>
          <a:ln/>
        </p:spPr>
        <p:txBody>
          <a:bodyPr wrap="square" lIns="0" tIns="0" rIns="0" bIns="0" rtlCol="0" anchor="t">
            <a:normAutofit/>
          </a:bodyPr>
          <a:lstStyle/>
          <a:p>
            <a:pPr algn="ctr" indent="0" marL="0">
              <a:lnSpc>
                <a:spcPts val="2160"/>
              </a:lnSpc>
              <a:buNone/>
            </a:pPr>
            <a:r>
              <a:rPr lang="en-US" sz="1800" b="1" dirty="0">
                <a:solidFill>
                  <a:srgbClr val="1C1F26"/>
                </a:solidFill>
                <a:latin typeface="Noto Sans JP" pitchFamily="34" charset="0"/>
                <a:ea typeface="Noto Sans JP" pitchFamily="34" charset="-122"/>
                <a:cs typeface="Noto Sans JP" pitchFamily="34" charset="-120"/>
              </a:rPr>
              <a:t>利用者</a:t>
            </a:r>
            <a:endParaRPr lang="en-US" sz="1800" dirty="0"/>
          </a:p>
        </p:txBody>
      </p:sp>
      <p:sp>
        <p:nvSpPr>
          <p:cNvPr id="7" name="Text 4"/>
          <p:cNvSpPr/>
          <p:nvPr/>
        </p:nvSpPr>
        <p:spPr>
          <a:xfrm>
            <a:off x="1187450" y="4017665"/>
            <a:ext cx="1536700" cy="487660"/>
          </a:xfrm>
          <a:prstGeom prst="rect">
            <a:avLst/>
          </a:prstGeom>
          <a:noFill/>
          <a:ln/>
        </p:spPr>
        <p:txBody>
          <a:bodyPr wrap="square" lIns="0" tIns="0" rIns="0" bIns="0" rtlCol="0" anchor="t">
            <a:normAutofit/>
          </a:bodyPr>
          <a:lstStyle/>
          <a:p>
            <a:pPr algn="ctr" indent="0" marL="0">
              <a:lnSpc>
                <a:spcPts val="1820"/>
              </a:lnSpc>
              <a:buNone/>
            </a:pPr>
            <a:r>
              <a:rPr lang="en-US" sz="1300" dirty="0">
                <a:solidFill>
                  <a:srgbClr val="4A4F5A"/>
                </a:solidFill>
                <a:latin typeface="Noto Sans JP" pitchFamily="34" charset="0"/>
                <a:ea typeface="Noto Sans JP" pitchFamily="34" charset="-122"/>
                <a:cs typeface="Noto Sans JP" pitchFamily="34" charset="-120"/>
              </a:rPr>
              <a:t>世界中のブラウザや</a:t>
            </a:r>
            <a:endParaRPr lang="en-US" sz="1300" dirty="0"/>
          </a:p>
          <a:p>
            <a:pPr algn="ctr" indent="0" marL="0">
              <a:lnSpc>
                <a:spcPts val="1820"/>
              </a:lnSpc>
              <a:buNone/>
            </a:pPr>
            <a:r>
              <a:rPr lang="en-US" sz="1300" dirty="0">
                <a:solidFill>
                  <a:srgbClr val="4A4F5A"/>
                </a:solidFill>
                <a:latin typeface="Noto Sans JP" pitchFamily="34" charset="0"/>
                <a:ea typeface="Noto Sans JP" pitchFamily="34" charset="-122"/>
                <a:cs typeface="Noto Sans JP" pitchFamily="34" charset="-120"/>
              </a:rPr>
              <a:t>スマホアプリ、AI</a:t>
            </a:r>
            <a:endParaRPr lang="en-US" sz="1300" dirty="0"/>
          </a:p>
        </p:txBody>
      </p:sp>
      <p:pic>
        <p:nvPicPr>
          <p:cNvPr id="8" name="Image 1" descr="arrow-right">    </p:cNvPr>
          <p:cNvPicPr>
            <a:picLocks noChangeAspect="1"/>
          </p:cNvPicPr>
          <p:nvPr/>
        </p:nvPicPr>
        <p:blipFill>
          <a:blip r:embed="rId2"/>
          <a:srcRect l="0" r="0" t="0" b="0"/>
          <a:stretch/>
        </p:blipFill>
        <p:spPr>
          <a:xfrm>
            <a:off x="3251200" y="3514725"/>
            <a:ext cx="762000" cy="381000"/>
          </a:xfrm>
          <a:prstGeom prst="rect">
            <a:avLst/>
          </a:prstGeom>
        </p:spPr>
      </p:pic>
      <p:sp>
        <p:nvSpPr>
          <p:cNvPr id="9" name="Shape 5"/>
          <p:cNvSpPr/>
          <p:nvPr/>
        </p:nvSpPr>
        <p:spPr>
          <a:xfrm>
            <a:off x="4165600" y="2676575"/>
            <a:ext cx="3860800" cy="2057350"/>
          </a:xfrm>
          <a:prstGeom prst="roundRect">
            <a:avLst>
              <a:gd name="adj" fmla="val 6173"/>
            </a:avLst>
          </a:prstGeom>
          <a:solidFill>
            <a:srgbClr val="F38020"/>
          </a:solidFill>
          <a:ln/>
        </p:spPr>
      </p:sp>
      <p:pic>
        <p:nvPicPr>
          <p:cNvPr id="10" name="Image 2" descr="Cloud">    </p:cNvPr>
          <p:cNvPicPr>
            <a:picLocks noChangeAspect="1"/>
          </p:cNvPicPr>
          <p:nvPr/>
        </p:nvPicPr>
        <p:blipFill>
          <a:blip r:embed="rId3"/>
          <a:srcRect l="0" r="0" t="0" b="0"/>
          <a:stretch/>
        </p:blipFill>
        <p:spPr>
          <a:xfrm>
            <a:off x="5791200" y="2930575"/>
            <a:ext cx="609600" cy="609600"/>
          </a:xfrm>
          <a:prstGeom prst="rect">
            <a:avLst/>
          </a:prstGeom>
        </p:spPr>
      </p:pic>
      <p:sp>
        <p:nvSpPr>
          <p:cNvPr id="11" name="Text 6"/>
          <p:cNvSpPr/>
          <p:nvPr/>
        </p:nvSpPr>
        <p:spPr>
          <a:xfrm>
            <a:off x="4397573" y="3641775"/>
            <a:ext cx="3396853" cy="299690"/>
          </a:xfrm>
          <a:prstGeom prst="rect">
            <a:avLst/>
          </a:prstGeom>
          <a:noFill/>
          <a:ln/>
        </p:spPr>
        <p:txBody>
          <a:bodyPr wrap="square" lIns="0" tIns="0" rIns="0" bIns="0" rtlCol="0" anchor="t">
            <a:normAutofit/>
          </a:bodyPr>
          <a:lstStyle/>
          <a:p>
            <a:pPr algn="ctr" indent="0" marL="0">
              <a:lnSpc>
                <a:spcPts val="2160"/>
              </a:lnSpc>
              <a:buNone/>
            </a:pPr>
            <a:r>
              <a:rPr lang="en-US" sz="1800" b="1" dirty="0">
                <a:solidFill>
                  <a:srgbClr val="1C1F26"/>
                </a:solidFill>
                <a:latin typeface="Noto Sans JP" pitchFamily="34" charset="0"/>
                <a:ea typeface="Noto Sans JP" pitchFamily="34" charset="-122"/>
                <a:cs typeface="Noto Sans JP" pitchFamily="34" charset="-120"/>
              </a:rPr>
              <a:t>Cloudflare のネットワーク</a:t>
            </a:r>
            <a:endParaRPr lang="en-US" sz="1800" dirty="0"/>
          </a:p>
        </p:txBody>
      </p:sp>
      <p:sp>
        <p:nvSpPr>
          <p:cNvPr id="12" name="Text 7"/>
          <p:cNvSpPr/>
          <p:nvPr/>
        </p:nvSpPr>
        <p:spPr>
          <a:xfrm>
            <a:off x="4369308" y="4017665"/>
            <a:ext cx="3453384" cy="487660"/>
          </a:xfrm>
          <a:prstGeom prst="rect">
            <a:avLst/>
          </a:prstGeom>
          <a:noFill/>
          <a:ln/>
        </p:spPr>
        <p:txBody>
          <a:bodyPr wrap="square" lIns="0" tIns="0" rIns="0" bIns="0" rtlCol="0" anchor="t">
            <a:normAutofit/>
          </a:bodyPr>
          <a:lstStyle/>
          <a:p>
            <a:pPr algn="ctr" indent="0" marL="0">
              <a:lnSpc>
                <a:spcPts val="1820"/>
              </a:lnSpc>
              <a:buNone/>
            </a:pPr>
            <a:r>
              <a:rPr lang="en-US" sz="1300" dirty="0">
                <a:solidFill>
                  <a:srgbClr val="1C1F26"/>
                </a:solidFill>
                <a:latin typeface="Noto Sans JP" pitchFamily="34" charset="0"/>
                <a:ea typeface="Noto Sans JP" pitchFamily="34" charset="-122"/>
                <a:cs typeface="Noto Sans JP" pitchFamily="34" charset="-120"/>
              </a:rPr>
              <a:t>利用者のすぐ近くにあるデータセンターで受け止める</a:t>
            </a:r>
            <a:endParaRPr lang="en-US" sz="1300" dirty="0"/>
          </a:p>
        </p:txBody>
      </p:sp>
      <p:pic>
        <p:nvPicPr>
          <p:cNvPr id="13" name="Image 3" descr="arrow-right">    </p:cNvPr>
          <p:cNvPicPr>
            <a:picLocks noChangeAspect="1"/>
          </p:cNvPicPr>
          <p:nvPr/>
        </p:nvPicPr>
        <p:blipFill>
          <a:blip r:embed="rId4"/>
          <a:srcRect l="0" r="0" t="0" b="0"/>
          <a:stretch/>
        </p:blipFill>
        <p:spPr>
          <a:xfrm>
            <a:off x="8178800" y="3514725"/>
            <a:ext cx="762000" cy="381000"/>
          </a:xfrm>
          <a:prstGeom prst="rect">
            <a:avLst/>
          </a:prstGeom>
        </p:spPr>
      </p:pic>
      <p:sp>
        <p:nvSpPr>
          <p:cNvPr id="14" name="Shape 8"/>
          <p:cNvSpPr/>
          <p:nvPr/>
        </p:nvSpPr>
        <p:spPr>
          <a:xfrm>
            <a:off x="9099550" y="2533104"/>
            <a:ext cx="2273300" cy="2344341"/>
          </a:xfrm>
          <a:prstGeom prst="roundRect">
            <a:avLst>
              <a:gd name="adj" fmla="val 5307"/>
            </a:avLst>
          </a:prstGeom>
          <a:solidFill>
            <a:srgbClr val="FFFDF9"/>
          </a:solidFill>
          <a:ln w="12700">
            <a:solidFill>
              <a:srgbClr val="D8D0C2"/>
            </a:solidFill>
            <a:prstDash val="solid"/>
          </a:ln>
        </p:spPr>
      </p:sp>
      <p:pic>
        <p:nvPicPr>
          <p:cNvPr id="15" name="Image 4" descr="Database">    </p:cNvPr>
          <p:cNvPicPr>
            <a:picLocks noChangeAspect="1"/>
          </p:cNvPicPr>
          <p:nvPr/>
        </p:nvPicPr>
        <p:blipFill>
          <a:blip r:embed="rId5"/>
          <a:srcRect l="0" r="0" t="0" b="0"/>
          <a:stretch/>
        </p:blipFill>
        <p:spPr>
          <a:xfrm>
            <a:off x="9931400" y="2793454"/>
            <a:ext cx="609600" cy="609600"/>
          </a:xfrm>
          <a:prstGeom prst="rect">
            <a:avLst/>
          </a:prstGeom>
        </p:spPr>
      </p:pic>
      <p:sp>
        <p:nvSpPr>
          <p:cNvPr id="16" name="Text 9"/>
          <p:cNvSpPr/>
          <p:nvPr/>
        </p:nvSpPr>
        <p:spPr>
          <a:xfrm>
            <a:off x="9359900" y="3504654"/>
            <a:ext cx="1805178" cy="57398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C1F26"/>
                </a:solidFill>
                <a:latin typeface="Noto Sans JP" pitchFamily="34" charset="0"/>
                <a:ea typeface="Noto Sans JP" pitchFamily="34" charset="-122"/>
                <a:cs typeface="Noto Sans JP" pitchFamily="34" charset="-120"/>
              </a:rPr>
              <a:t>あなたのサーバー</a:t>
            </a:r>
            <a:endParaRPr lang="en-US" sz="1800" dirty="0"/>
          </a:p>
        </p:txBody>
      </p:sp>
      <p:sp>
        <p:nvSpPr>
          <p:cNvPr id="17" name="Text 10"/>
          <p:cNvSpPr/>
          <p:nvPr/>
        </p:nvSpPr>
        <p:spPr>
          <a:xfrm>
            <a:off x="9467850" y="4154835"/>
            <a:ext cx="1536700" cy="487660"/>
          </a:xfrm>
          <a:prstGeom prst="rect">
            <a:avLst/>
          </a:prstGeom>
          <a:noFill/>
          <a:ln/>
        </p:spPr>
        <p:txBody>
          <a:bodyPr wrap="square" lIns="0" tIns="0" rIns="0" bIns="0" rtlCol="0" anchor="t">
            <a:normAutofit/>
          </a:bodyPr>
          <a:lstStyle/>
          <a:p>
            <a:pPr algn="ctr" indent="0" marL="0">
              <a:lnSpc>
                <a:spcPts val="1820"/>
              </a:lnSpc>
              <a:buNone/>
            </a:pPr>
            <a:r>
              <a:rPr lang="en-US" sz="1300" dirty="0">
                <a:solidFill>
                  <a:srgbClr val="4A4F5A"/>
                </a:solidFill>
                <a:latin typeface="Noto Sans JP" pitchFamily="34" charset="0"/>
                <a:ea typeface="Noto Sans JP" pitchFamily="34" charset="-122"/>
                <a:cs typeface="Noto Sans JP" pitchFamily="34" charset="-120"/>
              </a:rPr>
              <a:t>「オリジン」と呼ぶ</a:t>
            </a:r>
            <a:endParaRPr lang="en-US" sz="1300" dirty="0"/>
          </a:p>
          <a:p>
            <a:pPr algn="ctr" indent="0" marL="0">
              <a:lnSpc>
                <a:spcPts val="1820"/>
              </a:lnSpc>
              <a:buNone/>
            </a:pPr>
            <a:r>
              <a:rPr lang="en-US" sz="1300" dirty="0">
                <a:solidFill>
                  <a:srgbClr val="4A4F5A"/>
                </a:solidFill>
                <a:latin typeface="Noto Sans JP" pitchFamily="34" charset="0"/>
                <a:ea typeface="Noto Sans JP" pitchFamily="34" charset="-122"/>
                <a:cs typeface="Noto Sans JP" pitchFamily="34" charset="-120"/>
              </a:rPr>
              <a:t>本物のサービス</a:t>
            </a:r>
            <a:endParaRPr lang="en-US" sz="1300" dirty="0"/>
          </a:p>
        </p:txBody>
      </p:sp>
      <p:sp>
        <p:nvSpPr>
          <p:cNvPr id="18" name="Shape 11"/>
          <p:cNvSpPr/>
          <p:nvPr/>
        </p:nvSpPr>
        <p:spPr>
          <a:xfrm>
            <a:off x="812800" y="5130205"/>
            <a:ext cx="3386634" cy="0"/>
          </a:xfrm>
          <a:prstGeom prst="line">
            <a:avLst/>
          </a:prstGeom>
          <a:noFill/>
          <a:ln w="38100">
            <a:solidFill>
              <a:srgbClr val="2B59C3"/>
            </a:solidFill>
            <a:prstDash val="solid"/>
          </a:ln>
        </p:spPr>
      </p:sp>
      <p:sp>
        <p:nvSpPr>
          <p:cNvPr id="19" name="Text 12"/>
          <p:cNvSpPr/>
          <p:nvPr/>
        </p:nvSpPr>
        <p:spPr>
          <a:xfrm>
            <a:off x="812800" y="5301655"/>
            <a:ext cx="3488233" cy="273596"/>
          </a:xfrm>
          <a:prstGeom prst="rect">
            <a:avLst/>
          </a:prstGeom>
          <a:noFill/>
          <a:ln/>
        </p:spPr>
        <p:txBody>
          <a:bodyPr wrap="square" lIns="0" tIns="0" rIns="0" bIns="0" rtlCol="0" anchor="t">
            <a:normAutofit/>
          </a:bodyPr>
          <a:lstStyle/>
          <a:p>
            <a:pPr algn="l" indent="0" marL="0">
              <a:lnSpc>
                <a:spcPts val="1971"/>
              </a:lnSpc>
              <a:buNone/>
            </a:pPr>
            <a:r>
              <a:rPr lang="en-US" sz="1643" b="1" dirty="0">
                <a:solidFill>
                  <a:srgbClr val="1C1F26"/>
                </a:solidFill>
                <a:latin typeface="Noto Sans JP" pitchFamily="34" charset="0"/>
                <a:ea typeface="Noto Sans JP" pitchFamily="34" charset="-122"/>
                <a:cs typeface="Noto Sans JP" pitchFamily="34" charset="-120"/>
              </a:rPr>
              <a:t>速くする</a:t>
            </a:r>
            <a:endParaRPr lang="en-US" sz="1643" dirty="0"/>
          </a:p>
        </p:txBody>
      </p:sp>
      <p:sp>
        <p:nvSpPr>
          <p:cNvPr id="20" name="Text 13"/>
          <p:cNvSpPr/>
          <p:nvPr/>
        </p:nvSpPr>
        <p:spPr>
          <a:xfrm>
            <a:off x="812800" y="5600650"/>
            <a:ext cx="3488233" cy="266750"/>
          </a:xfrm>
          <a:prstGeom prst="rect">
            <a:avLst/>
          </a:prstGeom>
          <a:noFill/>
          <a:ln/>
        </p:spPr>
        <p:txBody>
          <a:bodyPr wrap="square" lIns="0" tIns="0" rIns="0" bIns="0" rtlCol="0" anchor="t">
            <a:normAutofit/>
          </a:bodyPr>
          <a:lstStyle/>
          <a:p>
            <a:pPr algn="l" indent="0" marL="0">
              <a:lnSpc>
                <a:spcPts val="1923"/>
              </a:lnSpc>
              <a:buNone/>
            </a:pPr>
            <a:r>
              <a:rPr lang="en-US" sz="1282" dirty="0">
                <a:solidFill>
                  <a:srgbClr val="4A4F5A"/>
                </a:solidFill>
                <a:latin typeface="Noto Sans JP" pitchFamily="34" charset="0"/>
                <a:ea typeface="Noto Sans JP" pitchFamily="34" charset="-122"/>
                <a:cs typeface="Noto Sans JP" pitchFamily="34" charset="-120"/>
              </a:rPr>
              <a:t>コピーを近くに置いて返す（キャッシュ）</a:t>
            </a:r>
            <a:endParaRPr lang="en-US" sz="1282" dirty="0"/>
          </a:p>
        </p:txBody>
      </p:sp>
      <p:sp>
        <p:nvSpPr>
          <p:cNvPr id="21" name="Shape 14"/>
          <p:cNvSpPr/>
          <p:nvPr/>
        </p:nvSpPr>
        <p:spPr>
          <a:xfrm>
            <a:off x="4402634" y="5130205"/>
            <a:ext cx="3386683" cy="0"/>
          </a:xfrm>
          <a:prstGeom prst="line">
            <a:avLst/>
          </a:prstGeom>
          <a:noFill/>
          <a:ln w="38100">
            <a:solidFill>
              <a:srgbClr val="2B59C3"/>
            </a:solidFill>
            <a:prstDash val="solid"/>
          </a:ln>
        </p:spPr>
      </p:sp>
      <p:sp>
        <p:nvSpPr>
          <p:cNvPr id="22" name="Text 15"/>
          <p:cNvSpPr/>
          <p:nvPr/>
        </p:nvSpPr>
        <p:spPr>
          <a:xfrm>
            <a:off x="4402634" y="5301655"/>
            <a:ext cx="3488284" cy="273596"/>
          </a:xfrm>
          <a:prstGeom prst="rect">
            <a:avLst/>
          </a:prstGeom>
          <a:noFill/>
          <a:ln/>
        </p:spPr>
        <p:txBody>
          <a:bodyPr wrap="square" lIns="0" tIns="0" rIns="0" bIns="0" rtlCol="0" anchor="t">
            <a:normAutofit/>
          </a:bodyPr>
          <a:lstStyle/>
          <a:p>
            <a:pPr algn="l" indent="0" marL="0">
              <a:lnSpc>
                <a:spcPts val="1971"/>
              </a:lnSpc>
              <a:buNone/>
            </a:pPr>
            <a:r>
              <a:rPr lang="en-US" sz="1643" b="1" dirty="0">
                <a:solidFill>
                  <a:srgbClr val="1C1F26"/>
                </a:solidFill>
                <a:latin typeface="Noto Sans JP" pitchFamily="34" charset="0"/>
                <a:ea typeface="Noto Sans JP" pitchFamily="34" charset="-122"/>
                <a:cs typeface="Noto Sans JP" pitchFamily="34" charset="-120"/>
              </a:rPr>
              <a:t>守る</a:t>
            </a:r>
            <a:endParaRPr lang="en-US" sz="1643" dirty="0"/>
          </a:p>
        </p:txBody>
      </p:sp>
      <p:sp>
        <p:nvSpPr>
          <p:cNvPr id="23" name="Text 16"/>
          <p:cNvSpPr/>
          <p:nvPr/>
        </p:nvSpPr>
        <p:spPr>
          <a:xfrm>
            <a:off x="4402634" y="5600650"/>
            <a:ext cx="3488284" cy="266750"/>
          </a:xfrm>
          <a:prstGeom prst="rect">
            <a:avLst/>
          </a:prstGeom>
          <a:noFill/>
          <a:ln/>
        </p:spPr>
        <p:txBody>
          <a:bodyPr wrap="square" lIns="0" tIns="0" rIns="0" bIns="0" rtlCol="0" anchor="t">
            <a:normAutofit/>
          </a:bodyPr>
          <a:lstStyle/>
          <a:p>
            <a:pPr algn="l" indent="0" marL="0">
              <a:lnSpc>
                <a:spcPts val="1923"/>
              </a:lnSpc>
              <a:buNone/>
            </a:pPr>
            <a:r>
              <a:rPr lang="en-US" sz="1282" dirty="0">
                <a:solidFill>
                  <a:srgbClr val="4A4F5A"/>
                </a:solidFill>
                <a:latin typeface="Noto Sans JP" pitchFamily="34" charset="0"/>
                <a:ea typeface="Noto Sans JP" pitchFamily="34" charset="-122"/>
                <a:cs typeface="Noto Sans JP" pitchFamily="34" charset="-120"/>
              </a:rPr>
              <a:t>攻撃や悪いボットを手前で止める</a:t>
            </a:r>
            <a:endParaRPr lang="en-US" sz="1282" dirty="0"/>
          </a:p>
        </p:txBody>
      </p:sp>
      <p:sp>
        <p:nvSpPr>
          <p:cNvPr id="24" name="Shape 17"/>
          <p:cNvSpPr/>
          <p:nvPr/>
        </p:nvSpPr>
        <p:spPr>
          <a:xfrm>
            <a:off x="7992517" y="5130205"/>
            <a:ext cx="3386683" cy="0"/>
          </a:xfrm>
          <a:prstGeom prst="line">
            <a:avLst/>
          </a:prstGeom>
          <a:noFill/>
          <a:ln w="38100">
            <a:solidFill>
              <a:srgbClr val="2B59C3"/>
            </a:solidFill>
            <a:prstDash val="solid"/>
          </a:ln>
        </p:spPr>
      </p:sp>
      <p:sp>
        <p:nvSpPr>
          <p:cNvPr id="25" name="Text 18"/>
          <p:cNvSpPr/>
          <p:nvPr/>
        </p:nvSpPr>
        <p:spPr>
          <a:xfrm>
            <a:off x="7992517" y="5301655"/>
            <a:ext cx="3488284" cy="273596"/>
          </a:xfrm>
          <a:prstGeom prst="rect">
            <a:avLst/>
          </a:prstGeom>
          <a:noFill/>
          <a:ln/>
        </p:spPr>
        <p:txBody>
          <a:bodyPr wrap="square" lIns="0" tIns="0" rIns="0" bIns="0" rtlCol="0" anchor="t">
            <a:normAutofit/>
          </a:bodyPr>
          <a:lstStyle/>
          <a:p>
            <a:pPr algn="l" indent="0" marL="0">
              <a:lnSpc>
                <a:spcPts val="1971"/>
              </a:lnSpc>
              <a:buNone/>
            </a:pPr>
            <a:r>
              <a:rPr lang="en-US" sz="1643" b="1" dirty="0">
                <a:solidFill>
                  <a:srgbClr val="1C1F26"/>
                </a:solidFill>
                <a:latin typeface="Noto Sans JP" pitchFamily="34" charset="0"/>
                <a:ea typeface="Noto Sans JP" pitchFamily="34" charset="-122"/>
                <a:cs typeface="Noto Sans JP" pitchFamily="34" charset="-120"/>
              </a:rPr>
              <a:t>その場で動かす</a:t>
            </a:r>
            <a:endParaRPr lang="en-US" sz="1643" dirty="0"/>
          </a:p>
        </p:txBody>
      </p:sp>
      <p:sp>
        <p:nvSpPr>
          <p:cNvPr id="26" name="Text 19"/>
          <p:cNvSpPr/>
          <p:nvPr/>
        </p:nvSpPr>
        <p:spPr>
          <a:xfrm>
            <a:off x="7992517" y="5600650"/>
            <a:ext cx="3488284" cy="266750"/>
          </a:xfrm>
          <a:prstGeom prst="rect">
            <a:avLst/>
          </a:prstGeom>
          <a:noFill/>
          <a:ln/>
        </p:spPr>
        <p:txBody>
          <a:bodyPr wrap="square" lIns="0" tIns="0" rIns="0" bIns="0" rtlCol="0" anchor="t">
            <a:normAutofit/>
          </a:bodyPr>
          <a:lstStyle/>
          <a:p>
            <a:pPr algn="l" indent="0" marL="0">
              <a:lnSpc>
                <a:spcPts val="1923"/>
              </a:lnSpc>
              <a:buNone/>
            </a:pPr>
            <a:r>
              <a:rPr lang="en-US" sz="1282" dirty="0">
                <a:solidFill>
                  <a:srgbClr val="4A4F5A"/>
                </a:solidFill>
                <a:latin typeface="Noto Sans JP" pitchFamily="34" charset="0"/>
                <a:ea typeface="Noto Sans JP" pitchFamily="34" charset="-122"/>
                <a:cs typeface="Noto Sans JP" pitchFamily="34" charset="-120"/>
              </a:rPr>
              <a:t>プログラムや AI を近くで実行する</a:t>
            </a:r>
            <a:endParaRPr lang="en-US" sz="1282"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C1F26"/>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F38020"/>
                </a:solidFill>
                <a:latin typeface="Noto Sans JP" pitchFamily="34" charset="0"/>
                <a:ea typeface="Noto Sans JP" pitchFamily="34" charset="-122"/>
                <a:cs typeface="Noto Sans JP" pitchFamily="34" charset="-120"/>
              </a:rPr>
              <a:t>どれくらい大きいのか</a:t>
            </a:r>
            <a:endParaRPr lang="en-US" sz="1400" dirty="0"/>
          </a:p>
        </p:txBody>
      </p:sp>
      <p:sp>
        <p:nvSpPr>
          <p:cNvPr id="3" name="Text 1"/>
          <p:cNvSpPr/>
          <p:nvPr>
            <p:ph type="title"/>
          </p:nvPr>
        </p:nvSpPr>
        <p:spPr>
          <a:xfrm>
            <a:off x="812800" y="1468090"/>
            <a:ext cx="10883392" cy="533400"/>
          </a:xfrm>
          <a:prstGeom prst="rect">
            <a:avLst/>
          </a:prstGeom>
          <a:noFill/>
          <a:ln/>
        </p:spPr>
        <p:txBody>
          <a:bodyPr wrap="square" lIns="0" tIns="0" rIns="0" bIns="0" rtlCol="0" anchor="t">
            <a:normAutofit/>
          </a:bodyPr>
          <a:lstStyle/>
          <a:p>
            <a:pPr algn="l" indent="0" marL="0">
              <a:lnSpc>
                <a:spcPts val="4000"/>
              </a:lnSpc>
              <a:buNone/>
            </a:pPr>
            <a:r>
              <a:rPr lang="en-US" sz="3200" b="1" i="0" dirty="0">
                <a:solidFill>
                  <a:srgbClr val="F5F1EA"/>
                </a:solidFill>
                <a:latin typeface="Noto Sans JP" pitchFamily="34" charset="0"/>
                <a:ea typeface="Noto Sans JP" pitchFamily="34" charset="-122"/>
                <a:cs typeface="Noto Sans JP" pitchFamily="34" charset="-120"/>
              </a:rPr>
              <a:t>インターネットの「インフラ」と呼べる規模</a:t>
            </a:r>
            <a:endParaRPr lang="en-US" sz="3200" dirty="0"/>
          </a:p>
        </p:txBody>
      </p:sp>
      <p:sp>
        <p:nvSpPr>
          <p:cNvPr id="4" name="Shape 2"/>
          <p:cNvSpPr/>
          <p:nvPr/>
        </p:nvSpPr>
        <p:spPr>
          <a:xfrm>
            <a:off x="831850" y="2382490"/>
            <a:ext cx="0" cy="1778000"/>
          </a:xfrm>
          <a:prstGeom prst="line">
            <a:avLst/>
          </a:prstGeom>
          <a:noFill/>
          <a:ln w="38100">
            <a:solidFill>
              <a:srgbClr val="F38020"/>
            </a:solidFill>
            <a:prstDash val="solid"/>
          </a:ln>
        </p:spPr>
      </p:sp>
      <p:sp>
        <p:nvSpPr>
          <p:cNvPr id="5" name="Text 3"/>
          <p:cNvSpPr/>
          <p:nvPr/>
        </p:nvSpPr>
        <p:spPr>
          <a:xfrm>
            <a:off x="1054100" y="2382490"/>
            <a:ext cx="3169945"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F5F1EA"/>
                </a:solidFill>
                <a:latin typeface="Noto Sans JP" pitchFamily="34" charset="0"/>
                <a:ea typeface="Noto Sans JP" pitchFamily="34" charset="-122"/>
                <a:cs typeface="Noto Sans JP" pitchFamily="34" charset="-120"/>
              </a:rPr>
              <a:t>335</a:t>
            </a:r>
            <a:r>
              <a:rPr lang="en-US" sz="6000" b="1" dirty="0">
                <a:solidFill>
                  <a:srgbClr val="F38020"/>
                </a:solidFill>
                <a:latin typeface="Noto Sans JP" pitchFamily="34" charset="0"/>
                <a:ea typeface="Noto Sans JP" pitchFamily="34" charset="-122"/>
                <a:cs typeface="Noto Sans JP" pitchFamily="34" charset="-120"/>
              </a:rPr>
              <a:t>都市</a:t>
            </a:r>
            <a:endParaRPr lang="en-US" sz="6000" dirty="0"/>
          </a:p>
        </p:txBody>
      </p:sp>
      <p:sp>
        <p:nvSpPr>
          <p:cNvPr id="6" name="Text 4"/>
          <p:cNvSpPr/>
          <p:nvPr/>
        </p:nvSpPr>
        <p:spPr>
          <a:xfrm>
            <a:off x="1054100" y="3246090"/>
            <a:ext cx="3169945" cy="6350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C9C3B8"/>
                </a:solidFill>
                <a:latin typeface="Noto Sans JP" pitchFamily="34" charset="0"/>
                <a:ea typeface="Noto Sans JP" pitchFamily="34" charset="-122"/>
                <a:cs typeface="Noto Sans JP" pitchFamily="34" charset="-120"/>
              </a:rPr>
              <a:t>125 か国以上にデータセンター。利用者の近くで応答できる</a:t>
            </a:r>
            <a:endParaRPr lang="en-US" sz="1600" dirty="0"/>
          </a:p>
        </p:txBody>
      </p:sp>
      <p:sp>
        <p:nvSpPr>
          <p:cNvPr id="7" name="Shape 5"/>
          <p:cNvSpPr/>
          <p:nvPr/>
        </p:nvSpPr>
        <p:spPr>
          <a:xfrm>
            <a:off x="4455567" y="2382490"/>
            <a:ext cx="0" cy="1778000"/>
          </a:xfrm>
          <a:prstGeom prst="line">
            <a:avLst/>
          </a:prstGeom>
          <a:noFill/>
          <a:ln w="38100">
            <a:solidFill>
              <a:srgbClr val="F38020"/>
            </a:solidFill>
            <a:prstDash val="solid"/>
          </a:ln>
        </p:spPr>
      </p:sp>
      <p:sp>
        <p:nvSpPr>
          <p:cNvPr id="8" name="Text 6"/>
          <p:cNvSpPr/>
          <p:nvPr/>
        </p:nvSpPr>
        <p:spPr>
          <a:xfrm>
            <a:off x="4677817" y="2382490"/>
            <a:ext cx="3169945"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F5F1EA"/>
                </a:solidFill>
                <a:latin typeface="Noto Sans JP" pitchFamily="34" charset="0"/>
                <a:ea typeface="Noto Sans JP" pitchFamily="34" charset="-122"/>
                <a:cs typeface="Noto Sans JP" pitchFamily="34" charset="-120"/>
              </a:rPr>
              <a:t>約20</a:t>
            </a:r>
            <a:r>
              <a:rPr lang="en-US" sz="6000" b="1" dirty="0">
                <a:solidFill>
                  <a:srgbClr val="F38020"/>
                </a:solidFill>
                <a:latin typeface="Noto Sans JP" pitchFamily="34" charset="0"/>
                <a:ea typeface="Noto Sans JP" pitchFamily="34" charset="-122"/>
                <a:cs typeface="Noto Sans JP" pitchFamily="34" charset="-120"/>
              </a:rPr>
              <a:t>%</a:t>
            </a:r>
            <a:endParaRPr lang="en-US" sz="6000" dirty="0"/>
          </a:p>
        </p:txBody>
      </p:sp>
      <p:sp>
        <p:nvSpPr>
          <p:cNvPr id="9" name="Text 7"/>
          <p:cNvSpPr/>
          <p:nvPr/>
        </p:nvSpPr>
        <p:spPr>
          <a:xfrm>
            <a:off x="4677817" y="3246090"/>
            <a:ext cx="3169945" cy="6350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C9C3B8"/>
                </a:solidFill>
                <a:latin typeface="Noto Sans JP" pitchFamily="34" charset="0"/>
                <a:ea typeface="Noto Sans JP" pitchFamily="34" charset="-122"/>
                <a:cs typeface="Noto Sans JP" pitchFamily="34" charset="-120"/>
              </a:rPr>
              <a:t>世界の HTTP トラフィックのうち、Cloudflare を通るものの割合</a:t>
            </a:r>
            <a:endParaRPr lang="en-US" sz="1600" dirty="0"/>
          </a:p>
        </p:txBody>
      </p:sp>
      <p:sp>
        <p:nvSpPr>
          <p:cNvPr id="10" name="Shape 8"/>
          <p:cNvSpPr/>
          <p:nvPr/>
        </p:nvSpPr>
        <p:spPr>
          <a:xfrm>
            <a:off x="8079284" y="2382490"/>
            <a:ext cx="0" cy="1778000"/>
          </a:xfrm>
          <a:prstGeom prst="line">
            <a:avLst/>
          </a:prstGeom>
          <a:noFill/>
          <a:ln w="38100">
            <a:solidFill>
              <a:srgbClr val="F38020"/>
            </a:solidFill>
            <a:prstDash val="solid"/>
          </a:ln>
        </p:spPr>
      </p:sp>
      <p:sp>
        <p:nvSpPr>
          <p:cNvPr id="11" name="Text 9"/>
          <p:cNvSpPr/>
          <p:nvPr/>
        </p:nvSpPr>
        <p:spPr>
          <a:xfrm>
            <a:off x="8301534" y="2382490"/>
            <a:ext cx="3169996"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F5F1EA"/>
                </a:solidFill>
                <a:latin typeface="Noto Sans JP" pitchFamily="34" charset="0"/>
                <a:ea typeface="Noto Sans JP" pitchFamily="34" charset="-122"/>
                <a:cs typeface="Noto Sans JP" pitchFamily="34" charset="-120"/>
              </a:rPr>
              <a:t>+36</a:t>
            </a:r>
            <a:r>
              <a:rPr lang="en-US" sz="6000" b="1" dirty="0">
                <a:solidFill>
                  <a:srgbClr val="F38020"/>
                </a:solidFill>
                <a:latin typeface="Noto Sans JP" pitchFamily="34" charset="0"/>
                <a:ea typeface="Noto Sans JP" pitchFamily="34" charset="-122"/>
                <a:cs typeface="Noto Sans JP" pitchFamily="34" charset="-120"/>
              </a:rPr>
              <a:t>%</a:t>
            </a:r>
            <a:endParaRPr lang="en-US" sz="6000" dirty="0"/>
          </a:p>
        </p:txBody>
      </p:sp>
      <p:sp>
        <p:nvSpPr>
          <p:cNvPr id="12" name="Text 10"/>
          <p:cNvSpPr/>
          <p:nvPr/>
        </p:nvSpPr>
        <p:spPr>
          <a:xfrm>
            <a:off x="8301534" y="3246090"/>
            <a:ext cx="3169996" cy="9398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C9C3B8"/>
                </a:solidFill>
                <a:latin typeface="Noto Sans JP" pitchFamily="34" charset="0"/>
                <a:ea typeface="Noto Sans JP" pitchFamily="34" charset="-122"/>
                <a:cs typeface="Noto Sans JP" pitchFamily="34" charset="-120"/>
              </a:rPr>
              <a:t>2026年4〜6月期の売上は 6億9,610万ドル。前年同期比で 36% 増</a:t>
            </a:r>
            <a:endParaRPr lang="en-US" sz="1600" dirty="0"/>
          </a:p>
        </p:txBody>
      </p:sp>
      <p:sp>
        <p:nvSpPr>
          <p:cNvPr id="13" name="Text 1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C968B"/>
                </a:solidFill>
                <a:latin typeface="Noto Sans JP" pitchFamily="34" charset="0"/>
                <a:ea typeface="Noto Sans JP" pitchFamily="34" charset="-122"/>
                <a:cs typeface="Noto Sans JP" pitchFamily="34" charset="-120"/>
              </a:rPr>
              <a:t>出典：cloudflare.com/our-story（都市数・トラフィック割合）、Cloudflare 2026年第2四半期決算発表（2026年8月6日）</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B4560A"/>
                </a:solidFill>
                <a:latin typeface="Noto Sans JP" pitchFamily="34" charset="0"/>
                <a:ea typeface="Noto Sans JP" pitchFamily="34" charset="-122"/>
                <a:cs typeface="Noto Sans JP" pitchFamily="34" charset="-120"/>
              </a:rPr>
              <a:t>最低限の用語</a:t>
            </a:r>
            <a:endParaRPr lang="en-US" sz="1400" dirty="0"/>
          </a:p>
        </p:txBody>
      </p:sp>
      <p:sp>
        <p:nvSpPr>
          <p:cNvPr id="3" name="Text 1"/>
          <p:cNvSpPr/>
          <p:nvPr>
            <p:ph type="title"/>
          </p:nvPr>
        </p:nvSpPr>
        <p:spPr>
          <a:xfrm>
            <a:off x="812800" y="1366490"/>
            <a:ext cx="10883392" cy="533400"/>
          </a:xfrm>
          <a:prstGeom prst="rect">
            <a:avLst/>
          </a:prstGeom>
          <a:noFill/>
          <a:ln/>
        </p:spPr>
        <p:txBody>
          <a:bodyPr wrap="square" lIns="0" tIns="0" rIns="0" bIns="0" rtlCol="0" anchor="t">
            <a:normAutofit/>
          </a:bodyPr>
          <a:lstStyle/>
          <a:p>
            <a:pPr algn="l" indent="0" marL="0">
              <a:lnSpc>
                <a:spcPts val="4000"/>
              </a:lnSpc>
              <a:buNone/>
            </a:pPr>
            <a:r>
              <a:rPr lang="en-US" sz="3200" b="1" i="0" dirty="0">
                <a:solidFill>
                  <a:srgbClr val="1C1F26"/>
                </a:solidFill>
                <a:latin typeface="Noto Sans JP" pitchFamily="34" charset="0"/>
                <a:ea typeface="Noto Sans JP" pitchFamily="34" charset="-122"/>
                <a:cs typeface="Noto Sans JP" pitchFamily="34" charset="-120"/>
              </a:rPr>
              <a:t>この 4 語がわかれば、今日の話は追える</a:t>
            </a:r>
            <a:endParaRPr lang="en-US" sz="3200" dirty="0"/>
          </a:p>
        </p:txBody>
      </p:sp>
      <p:sp>
        <p:nvSpPr>
          <p:cNvPr id="4" name="Shape 2"/>
          <p:cNvSpPr/>
          <p:nvPr/>
        </p:nvSpPr>
        <p:spPr>
          <a:xfrm>
            <a:off x="815975" y="2182465"/>
            <a:ext cx="5175250" cy="1504950"/>
          </a:xfrm>
          <a:prstGeom prst="roundRect">
            <a:avLst>
              <a:gd name="adj" fmla="val 8228"/>
            </a:avLst>
          </a:prstGeom>
          <a:solidFill>
            <a:srgbClr val="FFFDF9"/>
          </a:solidFill>
          <a:ln w="6350">
            <a:solidFill>
              <a:srgbClr val="E4DDD1"/>
            </a:solidFill>
            <a:prstDash val="solid"/>
          </a:ln>
        </p:spPr>
      </p:sp>
      <p:sp>
        <p:nvSpPr>
          <p:cNvPr id="5" name="Text 3"/>
          <p:cNvSpPr/>
          <p:nvPr/>
        </p:nvSpPr>
        <p:spPr>
          <a:xfrm>
            <a:off x="1073150" y="2439640"/>
            <a:ext cx="480072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2B59C3"/>
                </a:solidFill>
                <a:latin typeface="Noto Sans JP" pitchFamily="34" charset="0"/>
                <a:ea typeface="Noto Sans JP" pitchFamily="34" charset="-122"/>
                <a:cs typeface="Noto Sans JP" pitchFamily="34" charset="-120"/>
              </a:rPr>
              <a:t>DNS</a:t>
            </a:r>
            <a:r>
              <a:rPr lang="en-US" sz="2000" b="1" dirty="0">
                <a:solidFill>
                  <a:srgbClr val="1C1F26"/>
                </a:solidFill>
                <a:latin typeface="Noto Sans JP" pitchFamily="34" charset="0"/>
                <a:ea typeface="Noto Sans JP" pitchFamily="34" charset="-122"/>
                <a:cs typeface="Noto Sans JP" pitchFamily="34" charset="-120"/>
              </a:rPr>
              <a:t>　ネットの住所録</a:t>
            </a:r>
            <a:endParaRPr lang="en-US" sz="2000" dirty="0"/>
          </a:p>
        </p:txBody>
      </p:sp>
      <p:sp>
        <p:nvSpPr>
          <p:cNvPr id="6" name="Text 4"/>
          <p:cNvSpPr/>
          <p:nvPr/>
        </p:nvSpPr>
        <p:spPr>
          <a:xfrm>
            <a:off x="1073150" y="2820640"/>
            <a:ext cx="4800727" cy="635000"/>
          </a:xfrm>
          <a:prstGeom prst="rect">
            <a:avLst/>
          </a:prstGeom>
          <a:noFill/>
          <a:ln/>
        </p:spPr>
        <p:txBody>
          <a:bodyPr wrap="square" lIns="0" tIns="0" rIns="0" bIns="0" rtlCol="0" anchor="t">
            <a:normAutofit/>
          </a:bodyPr>
          <a:lstStyle/>
          <a:p>
            <a:pPr algn="l" indent="0" marL="0">
              <a:lnSpc>
                <a:spcPts val="2400"/>
              </a:lnSpc>
              <a:buNone/>
            </a:pPr>
            <a:r>
              <a:rPr lang="en-US" sz="1500" dirty="0">
                <a:solidFill>
                  <a:srgbClr val="4A4F5A"/>
                </a:solidFill>
                <a:latin typeface="Noto Sans JP" pitchFamily="34" charset="0"/>
                <a:ea typeface="Noto Sans JP" pitchFamily="34" charset="-122"/>
                <a:cs typeface="Noto Sans JP" pitchFamily="34" charset="-120"/>
              </a:rPr>
              <a:t>「example.com」という名前を、機械が使う住所（IP アドレス）に変換する仕組み</a:t>
            </a:r>
            <a:endParaRPr lang="en-US" sz="1500" dirty="0"/>
          </a:p>
        </p:txBody>
      </p:sp>
      <p:sp>
        <p:nvSpPr>
          <p:cNvPr id="7" name="Shape 5"/>
          <p:cNvSpPr/>
          <p:nvPr/>
        </p:nvSpPr>
        <p:spPr>
          <a:xfrm>
            <a:off x="6200775" y="2182465"/>
            <a:ext cx="5175250" cy="1504950"/>
          </a:xfrm>
          <a:prstGeom prst="roundRect">
            <a:avLst>
              <a:gd name="adj" fmla="val 8228"/>
            </a:avLst>
          </a:prstGeom>
          <a:solidFill>
            <a:srgbClr val="FFFDF9"/>
          </a:solidFill>
          <a:ln w="6350">
            <a:solidFill>
              <a:srgbClr val="E4DDD1"/>
            </a:solidFill>
            <a:prstDash val="solid"/>
          </a:ln>
        </p:spPr>
      </p:sp>
      <p:sp>
        <p:nvSpPr>
          <p:cNvPr id="8" name="Text 6"/>
          <p:cNvSpPr/>
          <p:nvPr/>
        </p:nvSpPr>
        <p:spPr>
          <a:xfrm>
            <a:off x="6457950" y="2439640"/>
            <a:ext cx="480072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2B59C3"/>
                </a:solidFill>
                <a:latin typeface="Noto Sans JP" pitchFamily="34" charset="0"/>
                <a:ea typeface="Noto Sans JP" pitchFamily="34" charset="-122"/>
                <a:cs typeface="Noto Sans JP" pitchFamily="34" charset="-120"/>
              </a:rPr>
              <a:t>CDN</a:t>
            </a:r>
            <a:r>
              <a:rPr lang="en-US" sz="2000" b="1" dirty="0">
                <a:solidFill>
                  <a:srgbClr val="1C1F26"/>
                </a:solidFill>
                <a:latin typeface="Noto Sans JP" pitchFamily="34" charset="0"/>
                <a:ea typeface="Noto Sans JP" pitchFamily="34" charset="-122"/>
                <a:cs typeface="Noto Sans JP" pitchFamily="34" charset="-120"/>
              </a:rPr>
              <a:t>　コピーの配送網</a:t>
            </a:r>
            <a:endParaRPr lang="en-US" sz="2000" dirty="0"/>
          </a:p>
        </p:txBody>
      </p:sp>
      <p:sp>
        <p:nvSpPr>
          <p:cNvPr id="9" name="Text 7"/>
          <p:cNvSpPr/>
          <p:nvPr/>
        </p:nvSpPr>
        <p:spPr>
          <a:xfrm>
            <a:off x="6457950" y="2820640"/>
            <a:ext cx="4800727" cy="635000"/>
          </a:xfrm>
          <a:prstGeom prst="rect">
            <a:avLst/>
          </a:prstGeom>
          <a:noFill/>
          <a:ln/>
        </p:spPr>
        <p:txBody>
          <a:bodyPr wrap="square" lIns="0" tIns="0" rIns="0" bIns="0" rtlCol="0" anchor="t">
            <a:normAutofit/>
          </a:bodyPr>
          <a:lstStyle/>
          <a:p>
            <a:pPr algn="l" indent="0" marL="0">
              <a:lnSpc>
                <a:spcPts val="2400"/>
              </a:lnSpc>
              <a:buNone/>
            </a:pPr>
            <a:r>
              <a:rPr lang="en-US" sz="1500" dirty="0">
                <a:solidFill>
                  <a:srgbClr val="4A4F5A"/>
                </a:solidFill>
                <a:latin typeface="Noto Sans JP" pitchFamily="34" charset="0"/>
                <a:ea typeface="Noto Sans JP" pitchFamily="34" charset="-122"/>
                <a:cs typeface="Noto Sans JP" pitchFamily="34" charset="-120"/>
              </a:rPr>
              <a:t>画像やページのコピーを世界中に置き、利用者の近くから返して速くする</a:t>
            </a:r>
            <a:endParaRPr lang="en-US" sz="1500" dirty="0"/>
          </a:p>
        </p:txBody>
      </p:sp>
      <p:sp>
        <p:nvSpPr>
          <p:cNvPr id="10" name="Shape 8"/>
          <p:cNvSpPr/>
          <p:nvPr/>
        </p:nvSpPr>
        <p:spPr>
          <a:xfrm>
            <a:off x="815975" y="3896965"/>
            <a:ext cx="5175250" cy="1504950"/>
          </a:xfrm>
          <a:prstGeom prst="roundRect">
            <a:avLst>
              <a:gd name="adj" fmla="val 8228"/>
            </a:avLst>
          </a:prstGeom>
          <a:solidFill>
            <a:srgbClr val="FFFDF9"/>
          </a:solidFill>
          <a:ln w="6350">
            <a:solidFill>
              <a:srgbClr val="E4DDD1"/>
            </a:solidFill>
            <a:prstDash val="solid"/>
          </a:ln>
        </p:spPr>
      </p:sp>
      <p:sp>
        <p:nvSpPr>
          <p:cNvPr id="11" name="Text 9"/>
          <p:cNvSpPr/>
          <p:nvPr/>
        </p:nvSpPr>
        <p:spPr>
          <a:xfrm>
            <a:off x="1073150" y="4154140"/>
            <a:ext cx="480072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2B59C3"/>
                </a:solidFill>
                <a:latin typeface="Noto Sans JP" pitchFamily="34" charset="0"/>
                <a:ea typeface="Noto Sans JP" pitchFamily="34" charset="-122"/>
                <a:cs typeface="Noto Sans JP" pitchFamily="34" charset="-120"/>
              </a:rPr>
              <a:t>エッジ</a:t>
            </a:r>
            <a:r>
              <a:rPr lang="en-US" sz="2000" b="1" dirty="0">
                <a:solidFill>
                  <a:srgbClr val="1C1F26"/>
                </a:solidFill>
                <a:latin typeface="Noto Sans JP" pitchFamily="34" charset="0"/>
                <a:ea typeface="Noto Sans JP" pitchFamily="34" charset="-122"/>
                <a:cs typeface="Noto Sans JP" pitchFamily="34" charset="-120"/>
              </a:rPr>
              <a:t>　利用者に近い場所</a:t>
            </a:r>
            <a:endParaRPr lang="en-US" sz="2000" dirty="0"/>
          </a:p>
        </p:txBody>
      </p:sp>
      <p:sp>
        <p:nvSpPr>
          <p:cNvPr id="12" name="Text 10"/>
          <p:cNvSpPr/>
          <p:nvPr/>
        </p:nvSpPr>
        <p:spPr>
          <a:xfrm>
            <a:off x="1073150" y="4535140"/>
            <a:ext cx="4800727" cy="635000"/>
          </a:xfrm>
          <a:prstGeom prst="rect">
            <a:avLst/>
          </a:prstGeom>
          <a:noFill/>
          <a:ln/>
        </p:spPr>
        <p:txBody>
          <a:bodyPr wrap="square" lIns="0" tIns="0" rIns="0" bIns="0" rtlCol="0" anchor="t">
            <a:normAutofit/>
          </a:bodyPr>
          <a:lstStyle/>
          <a:p>
            <a:pPr algn="l" indent="0" marL="0">
              <a:lnSpc>
                <a:spcPts val="2400"/>
              </a:lnSpc>
              <a:buNone/>
            </a:pPr>
            <a:r>
              <a:rPr lang="en-US" sz="1500" dirty="0">
                <a:solidFill>
                  <a:srgbClr val="4A4F5A"/>
                </a:solidFill>
                <a:latin typeface="Noto Sans JP" pitchFamily="34" charset="0"/>
                <a:ea typeface="Noto Sans JP" pitchFamily="34" charset="-122"/>
                <a:cs typeface="Noto Sans JP" pitchFamily="34" charset="-120"/>
              </a:rPr>
              <a:t>ネットワークの「端」。遠くの中央サーバーではなく、近くのデータセンターのこと</a:t>
            </a:r>
            <a:endParaRPr lang="en-US" sz="1500" dirty="0"/>
          </a:p>
        </p:txBody>
      </p:sp>
      <p:sp>
        <p:nvSpPr>
          <p:cNvPr id="13" name="Shape 11"/>
          <p:cNvSpPr/>
          <p:nvPr/>
        </p:nvSpPr>
        <p:spPr>
          <a:xfrm>
            <a:off x="6200775" y="3896965"/>
            <a:ext cx="5175250" cy="1504950"/>
          </a:xfrm>
          <a:prstGeom prst="roundRect">
            <a:avLst>
              <a:gd name="adj" fmla="val 8228"/>
            </a:avLst>
          </a:prstGeom>
          <a:solidFill>
            <a:srgbClr val="FFFDF9"/>
          </a:solidFill>
          <a:ln w="6350">
            <a:solidFill>
              <a:srgbClr val="E4DDD1"/>
            </a:solidFill>
            <a:prstDash val="solid"/>
          </a:ln>
        </p:spPr>
      </p:sp>
      <p:sp>
        <p:nvSpPr>
          <p:cNvPr id="14" name="Text 12"/>
          <p:cNvSpPr/>
          <p:nvPr/>
        </p:nvSpPr>
        <p:spPr>
          <a:xfrm>
            <a:off x="6457950" y="4154140"/>
            <a:ext cx="480072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2B59C3"/>
                </a:solidFill>
                <a:latin typeface="Noto Sans JP" pitchFamily="34" charset="0"/>
                <a:ea typeface="Noto Sans JP" pitchFamily="34" charset="-122"/>
                <a:cs typeface="Noto Sans JP" pitchFamily="34" charset="-120"/>
              </a:rPr>
              <a:t>サーバーレス</a:t>
            </a:r>
            <a:r>
              <a:rPr lang="en-US" sz="2000" b="1" dirty="0">
                <a:solidFill>
                  <a:srgbClr val="1C1F26"/>
                </a:solidFill>
                <a:latin typeface="Noto Sans JP" pitchFamily="34" charset="0"/>
                <a:ea typeface="Noto Sans JP" pitchFamily="34" charset="-122"/>
                <a:cs typeface="Noto Sans JP" pitchFamily="34" charset="-120"/>
              </a:rPr>
              <a:t>　サーバー管理不要</a:t>
            </a:r>
            <a:endParaRPr lang="en-US" sz="2000" dirty="0"/>
          </a:p>
        </p:txBody>
      </p:sp>
      <p:sp>
        <p:nvSpPr>
          <p:cNvPr id="15" name="Text 13"/>
          <p:cNvSpPr/>
          <p:nvPr/>
        </p:nvSpPr>
        <p:spPr>
          <a:xfrm>
            <a:off x="6457950" y="4535140"/>
            <a:ext cx="4800727" cy="635000"/>
          </a:xfrm>
          <a:prstGeom prst="rect">
            <a:avLst/>
          </a:prstGeom>
          <a:noFill/>
          <a:ln/>
        </p:spPr>
        <p:txBody>
          <a:bodyPr wrap="square" lIns="0" tIns="0" rIns="0" bIns="0" rtlCol="0" anchor="t">
            <a:normAutofit/>
          </a:bodyPr>
          <a:lstStyle/>
          <a:p>
            <a:pPr algn="l" indent="0" marL="0">
              <a:lnSpc>
                <a:spcPts val="2400"/>
              </a:lnSpc>
              <a:buNone/>
            </a:pPr>
            <a:r>
              <a:rPr lang="en-US" sz="1500" dirty="0">
                <a:solidFill>
                  <a:srgbClr val="4A4F5A"/>
                </a:solidFill>
                <a:latin typeface="Noto Sans JP" pitchFamily="34" charset="0"/>
                <a:ea typeface="Noto Sans JP" pitchFamily="34" charset="-122"/>
                <a:cs typeface="Noto Sans JP" pitchFamily="34" charset="-120"/>
              </a:rPr>
              <a:t>コードだけ渡せば、サーバーの用意・更新・増減はすべてクラウド側がやる</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B4560A"/>
                </a:solidFill>
                <a:latin typeface="Noto Sans JP" pitchFamily="34" charset="0"/>
                <a:ea typeface="Noto Sans JP" pitchFamily="34" charset="-122"/>
                <a:cs typeface="Noto Sans JP" pitchFamily="34" charset="-120"/>
              </a:rPr>
              <a:t>サービスの全体像</a:t>
            </a:r>
            <a:endParaRPr lang="en-US" sz="1400" dirty="0"/>
          </a:p>
        </p:txBody>
      </p:sp>
      <p:sp>
        <p:nvSpPr>
          <p:cNvPr id="3" name="Text 1"/>
          <p:cNvSpPr/>
          <p:nvPr>
            <p:ph type="title"/>
          </p:nvPr>
        </p:nvSpPr>
        <p:spPr>
          <a:xfrm>
            <a:off x="812800" y="1315690"/>
            <a:ext cx="11379200" cy="533400"/>
          </a:xfrm>
          <a:prstGeom prst="rect">
            <a:avLst/>
          </a:prstGeom>
          <a:noFill/>
          <a:ln/>
        </p:spPr>
        <p:txBody>
          <a:bodyPr wrap="square" lIns="0" tIns="0" rIns="0" bIns="0" rtlCol="0" anchor="t">
            <a:normAutofit/>
          </a:bodyPr>
          <a:lstStyle/>
          <a:p>
            <a:pPr algn="l" indent="0" marL="0">
              <a:lnSpc>
                <a:spcPts val="4000"/>
              </a:lnSpc>
              <a:buNone/>
            </a:pPr>
            <a:r>
              <a:rPr lang="en-US" sz="3200" b="1" i="0" dirty="0">
                <a:solidFill>
                  <a:srgbClr val="1C1F26"/>
                </a:solidFill>
                <a:latin typeface="Noto Sans JP" pitchFamily="34" charset="0"/>
                <a:ea typeface="Noto Sans JP" pitchFamily="34" charset="-122"/>
                <a:cs typeface="Noto Sans JP" pitchFamily="34" charset="-120"/>
              </a:rPr>
              <a:t>同じネットワークの上に、4 つの領域が積み重なっている</a:t>
            </a:r>
            <a:endParaRPr lang="en-US" sz="3200" dirty="0"/>
          </a:p>
        </p:txBody>
      </p:sp>
      <p:sp>
        <p:nvSpPr>
          <p:cNvPr id="4" name="Shape 2"/>
          <p:cNvSpPr/>
          <p:nvPr/>
        </p:nvSpPr>
        <p:spPr>
          <a:xfrm>
            <a:off x="815975" y="2080865"/>
            <a:ext cx="2520950" cy="3237260"/>
          </a:xfrm>
          <a:prstGeom prst="roundRect">
            <a:avLst>
              <a:gd name="adj" fmla="val 3904"/>
            </a:avLst>
          </a:prstGeom>
          <a:solidFill>
            <a:srgbClr val="FFFDF9"/>
          </a:solidFill>
          <a:ln w="6350">
            <a:solidFill>
              <a:srgbClr val="E4DDD1"/>
            </a:solidFill>
            <a:prstDash val="solid"/>
          </a:ln>
        </p:spPr>
      </p:sp>
      <p:pic>
        <p:nvPicPr>
          <p:cNvPr id="5" name="Image 0" descr="Globe">    </p:cNvPr>
          <p:cNvPicPr>
            <a:picLocks noChangeAspect="1"/>
          </p:cNvPicPr>
          <p:nvPr/>
        </p:nvPicPr>
        <p:blipFill>
          <a:blip r:embed="rId1"/>
          <a:srcRect l="0" r="0" t="0" b="0"/>
          <a:stretch/>
        </p:blipFill>
        <p:spPr>
          <a:xfrm>
            <a:off x="1022350" y="2287240"/>
            <a:ext cx="406400" cy="406400"/>
          </a:xfrm>
          <a:prstGeom prst="rect">
            <a:avLst/>
          </a:prstGeom>
        </p:spPr>
      </p:pic>
      <p:sp>
        <p:nvSpPr>
          <p:cNvPr id="6" name="Text 3"/>
          <p:cNvSpPr/>
          <p:nvPr/>
        </p:nvSpPr>
        <p:spPr>
          <a:xfrm>
            <a:off x="1022350" y="2795240"/>
            <a:ext cx="2171446" cy="306040"/>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1C1F26"/>
                </a:solidFill>
                <a:latin typeface="Noto Sans JP" pitchFamily="34" charset="0"/>
                <a:ea typeface="Noto Sans JP" pitchFamily="34" charset="-122"/>
                <a:cs typeface="Noto Sans JP" pitchFamily="34" charset="-120"/>
              </a:rPr>
              <a:t>Web を速く・安全に</a:t>
            </a:r>
            <a:endParaRPr lang="en-US" sz="1700" dirty="0"/>
          </a:p>
        </p:txBody>
      </p:sp>
      <p:sp>
        <p:nvSpPr>
          <p:cNvPr id="7" name="Text 4"/>
          <p:cNvSpPr/>
          <p:nvPr/>
        </p:nvSpPr>
        <p:spPr>
          <a:xfrm>
            <a:off x="1022350" y="3177480"/>
            <a:ext cx="2171446" cy="1346002"/>
          </a:xfrm>
          <a:prstGeom prst="rect">
            <a:avLst/>
          </a:prstGeom>
          <a:noFill/>
          <a:ln/>
        </p:spPr>
        <p:txBody>
          <a:bodyPr wrap="square" lIns="0" tIns="0" rIns="0" bIns="0" rtlCol="0" anchor="t">
            <a:normAutofit/>
          </a:bodyPr>
          <a:lstStyle/>
          <a:p>
            <a:pPr algn="l" indent="0" marL="0">
              <a:lnSpc>
                <a:spcPts val="2080"/>
              </a:lnSpc>
              <a:buNone/>
            </a:pPr>
            <a:r>
              <a:rPr lang="en-US" sz="1300" dirty="0">
                <a:solidFill>
                  <a:srgbClr val="4A4F5A"/>
                </a:solidFill>
                <a:latin typeface="Noto Sans JP" pitchFamily="34" charset="0"/>
                <a:ea typeface="Noto Sans JP" pitchFamily="34" charset="-122"/>
                <a:cs typeface="Noto Sans JP" pitchFamily="34" charset="-120"/>
              </a:rPr>
              <a:t>CDN</a:t>
            </a:r>
            <a:endParaRPr lang="en-US" sz="1300" dirty="0"/>
          </a:p>
          <a:p>
            <a:pPr algn="l" indent="0" marL="0">
              <a:lnSpc>
                <a:spcPts val="2080"/>
              </a:lnSpc>
              <a:buNone/>
            </a:pPr>
            <a:r>
              <a:rPr lang="en-US" sz="1300" dirty="0">
                <a:solidFill>
                  <a:srgbClr val="4A4F5A"/>
                </a:solidFill>
                <a:latin typeface="Noto Sans JP" pitchFamily="34" charset="0"/>
                <a:ea typeface="Noto Sans JP" pitchFamily="34" charset="-122"/>
                <a:cs typeface="Noto Sans JP" pitchFamily="34" charset="-120"/>
              </a:rPr>
              <a:t>DNS</a:t>
            </a:r>
            <a:endParaRPr lang="en-US" sz="1300" dirty="0"/>
          </a:p>
          <a:p>
            <a:pPr algn="l" indent="0" marL="0">
              <a:lnSpc>
                <a:spcPts val="2080"/>
              </a:lnSpc>
              <a:buNone/>
            </a:pPr>
            <a:r>
              <a:rPr lang="en-US" sz="1300" dirty="0">
                <a:solidFill>
                  <a:srgbClr val="4A4F5A"/>
                </a:solidFill>
                <a:latin typeface="Noto Sans JP" pitchFamily="34" charset="0"/>
                <a:ea typeface="Noto Sans JP" pitchFamily="34" charset="-122"/>
                <a:cs typeface="Noto Sans JP" pitchFamily="34" charset="-120"/>
              </a:rPr>
              <a:t>DDoS 対策</a:t>
            </a:r>
            <a:endParaRPr lang="en-US" sz="1300" dirty="0"/>
          </a:p>
          <a:p>
            <a:pPr algn="l" indent="0" marL="0">
              <a:lnSpc>
                <a:spcPts val="2080"/>
              </a:lnSpc>
              <a:buNone/>
            </a:pPr>
            <a:r>
              <a:rPr lang="en-US" sz="1300" dirty="0">
                <a:solidFill>
                  <a:srgbClr val="4A4F5A"/>
                </a:solidFill>
                <a:latin typeface="Noto Sans JP" pitchFamily="34" charset="0"/>
                <a:ea typeface="Noto Sans JP" pitchFamily="34" charset="-122"/>
                <a:cs typeface="Noto Sans JP" pitchFamily="34" charset="-120"/>
              </a:rPr>
              <a:t>WAF（攻撃の遮断）</a:t>
            </a:r>
            <a:endParaRPr lang="en-US" sz="1300" dirty="0"/>
          </a:p>
          <a:p>
            <a:pPr algn="l" indent="0" marL="0">
              <a:lnSpc>
                <a:spcPts val="2080"/>
              </a:lnSpc>
              <a:buNone/>
            </a:pPr>
            <a:r>
              <a:rPr lang="en-US" sz="1300" dirty="0">
                <a:solidFill>
                  <a:srgbClr val="4A4F5A"/>
                </a:solidFill>
                <a:latin typeface="Noto Sans JP" pitchFamily="34" charset="0"/>
                <a:ea typeface="Noto Sans JP" pitchFamily="34" charset="-122"/>
                <a:cs typeface="Noto Sans JP" pitchFamily="34" charset="-120"/>
              </a:rPr>
              <a:t>ボット対策</a:t>
            </a:r>
            <a:endParaRPr lang="en-US" sz="1300" dirty="0"/>
          </a:p>
        </p:txBody>
      </p:sp>
      <p:sp>
        <p:nvSpPr>
          <p:cNvPr id="8" name="Shape 5"/>
          <p:cNvSpPr/>
          <p:nvPr/>
        </p:nvSpPr>
        <p:spPr>
          <a:xfrm>
            <a:off x="3495675" y="2080865"/>
            <a:ext cx="2520950" cy="3237260"/>
          </a:xfrm>
          <a:prstGeom prst="roundRect">
            <a:avLst>
              <a:gd name="adj" fmla="val 3904"/>
            </a:avLst>
          </a:prstGeom>
          <a:solidFill>
            <a:srgbClr val="FFFDF9"/>
          </a:solidFill>
          <a:ln w="6350">
            <a:solidFill>
              <a:srgbClr val="E4DDD1"/>
            </a:solidFill>
            <a:prstDash val="solid"/>
          </a:ln>
        </p:spPr>
      </p:sp>
      <p:pic>
        <p:nvPicPr>
          <p:cNvPr id="9" name="Image 1" descr="Lock">    </p:cNvPr>
          <p:cNvPicPr>
            <a:picLocks noChangeAspect="1"/>
          </p:cNvPicPr>
          <p:nvPr/>
        </p:nvPicPr>
        <p:blipFill>
          <a:blip r:embed="rId2"/>
          <a:srcRect l="0" r="0" t="0" b="0"/>
          <a:stretch/>
        </p:blipFill>
        <p:spPr>
          <a:xfrm>
            <a:off x="3702050" y="2287240"/>
            <a:ext cx="406400" cy="406400"/>
          </a:xfrm>
          <a:prstGeom prst="rect">
            <a:avLst/>
          </a:prstGeom>
        </p:spPr>
      </p:pic>
      <p:sp>
        <p:nvSpPr>
          <p:cNvPr id="10" name="Text 6"/>
          <p:cNvSpPr/>
          <p:nvPr/>
        </p:nvSpPr>
        <p:spPr>
          <a:xfrm>
            <a:off x="3702050" y="2795240"/>
            <a:ext cx="2171446" cy="586680"/>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1C1F26"/>
                </a:solidFill>
                <a:latin typeface="Noto Sans JP" pitchFamily="34" charset="0"/>
                <a:ea typeface="Noto Sans JP" pitchFamily="34" charset="-122"/>
                <a:cs typeface="Noto Sans JP" pitchFamily="34" charset="-120"/>
              </a:rPr>
              <a:t>社内ネットワークを守る</a:t>
            </a:r>
            <a:endParaRPr lang="en-US" sz="1700" dirty="0"/>
          </a:p>
        </p:txBody>
      </p:sp>
      <p:sp>
        <p:nvSpPr>
          <p:cNvPr id="11" name="Text 7"/>
          <p:cNvSpPr/>
          <p:nvPr/>
        </p:nvSpPr>
        <p:spPr>
          <a:xfrm>
            <a:off x="3702050" y="3458121"/>
            <a:ext cx="2171446" cy="1081881"/>
          </a:xfrm>
          <a:prstGeom prst="rect">
            <a:avLst/>
          </a:prstGeom>
          <a:noFill/>
          <a:ln/>
        </p:spPr>
        <p:txBody>
          <a:bodyPr wrap="square" lIns="0" tIns="0" rIns="0" bIns="0" rtlCol="0" anchor="t">
            <a:normAutofit/>
          </a:bodyPr>
          <a:lstStyle/>
          <a:p>
            <a:pPr algn="l" indent="0" marL="0">
              <a:lnSpc>
                <a:spcPts val="2080"/>
              </a:lnSpc>
              <a:buNone/>
            </a:pPr>
            <a:r>
              <a:rPr lang="en-US" sz="1300" dirty="0">
                <a:solidFill>
                  <a:srgbClr val="4A4F5A"/>
                </a:solidFill>
                <a:latin typeface="Noto Sans JP" pitchFamily="34" charset="0"/>
                <a:ea typeface="Noto Sans JP" pitchFamily="34" charset="-122"/>
                <a:cs typeface="Noto Sans JP" pitchFamily="34" charset="-120"/>
              </a:rPr>
              <a:t>Cloudflare One</a:t>
            </a:r>
            <a:endParaRPr lang="en-US" sz="1300" dirty="0"/>
          </a:p>
          <a:p>
            <a:pPr algn="l" indent="0" marL="0">
              <a:lnSpc>
                <a:spcPts val="2080"/>
              </a:lnSpc>
              <a:buNone/>
            </a:pPr>
            <a:r>
              <a:rPr lang="en-US" sz="1300" dirty="0">
                <a:solidFill>
                  <a:srgbClr val="4A4F5A"/>
                </a:solidFill>
                <a:latin typeface="Noto Sans JP" pitchFamily="34" charset="0"/>
                <a:ea typeface="Noto Sans JP" pitchFamily="34" charset="-122"/>
                <a:cs typeface="Noto Sans JP" pitchFamily="34" charset="-120"/>
              </a:rPr>
              <a:t>Zero Trust</a:t>
            </a:r>
            <a:endParaRPr lang="en-US" sz="1300" dirty="0"/>
          </a:p>
          <a:p>
            <a:pPr algn="l" indent="0" marL="0">
              <a:lnSpc>
                <a:spcPts val="2080"/>
              </a:lnSpc>
              <a:buNone/>
            </a:pPr>
            <a:r>
              <a:rPr lang="en-US" sz="1300" dirty="0">
                <a:solidFill>
                  <a:srgbClr val="4A4F5A"/>
                </a:solidFill>
                <a:latin typeface="Noto Sans JP" pitchFamily="34" charset="0"/>
                <a:ea typeface="Noto Sans JP" pitchFamily="34" charset="-122"/>
                <a:cs typeface="Noto Sans JP" pitchFamily="34" charset="-120"/>
              </a:rPr>
              <a:t>（VPN の置き換え）</a:t>
            </a:r>
            <a:endParaRPr lang="en-US" sz="1300" dirty="0"/>
          </a:p>
          <a:p>
            <a:pPr algn="l" indent="0" marL="0">
              <a:lnSpc>
                <a:spcPts val="2080"/>
              </a:lnSpc>
              <a:buNone/>
            </a:pPr>
            <a:r>
              <a:rPr lang="en-US" sz="1300" dirty="0">
                <a:solidFill>
                  <a:srgbClr val="4A4F5A"/>
                </a:solidFill>
                <a:latin typeface="Noto Sans JP" pitchFamily="34" charset="0"/>
                <a:ea typeface="Noto Sans JP" pitchFamily="34" charset="-122"/>
                <a:cs typeface="Noto Sans JP" pitchFamily="34" charset="-120"/>
              </a:rPr>
              <a:t>Tunnel</a:t>
            </a:r>
            <a:endParaRPr lang="en-US" sz="1300" dirty="0"/>
          </a:p>
        </p:txBody>
      </p:sp>
      <p:sp>
        <p:nvSpPr>
          <p:cNvPr id="12" name="Shape 8"/>
          <p:cNvSpPr/>
          <p:nvPr/>
        </p:nvSpPr>
        <p:spPr>
          <a:xfrm>
            <a:off x="6175375" y="2080865"/>
            <a:ext cx="2520950" cy="3237260"/>
          </a:xfrm>
          <a:prstGeom prst="roundRect">
            <a:avLst>
              <a:gd name="adj" fmla="val 3904"/>
            </a:avLst>
          </a:prstGeom>
          <a:solidFill>
            <a:srgbClr val="FFFDF9"/>
          </a:solidFill>
          <a:ln w="6350">
            <a:solidFill>
              <a:srgbClr val="E4DDD1"/>
            </a:solidFill>
            <a:prstDash val="solid"/>
          </a:ln>
        </p:spPr>
      </p:sp>
      <p:pic>
        <p:nvPicPr>
          <p:cNvPr id="13" name="Image 2" descr="Code">    </p:cNvPr>
          <p:cNvPicPr>
            <a:picLocks noChangeAspect="1"/>
          </p:cNvPicPr>
          <p:nvPr/>
        </p:nvPicPr>
        <p:blipFill>
          <a:blip r:embed="rId3"/>
          <a:srcRect l="0" r="0" t="0" b="0"/>
          <a:stretch/>
        </p:blipFill>
        <p:spPr>
          <a:xfrm>
            <a:off x="6381750" y="2287240"/>
            <a:ext cx="406400" cy="406400"/>
          </a:xfrm>
          <a:prstGeom prst="rect">
            <a:avLst/>
          </a:prstGeom>
        </p:spPr>
      </p:pic>
      <p:sp>
        <p:nvSpPr>
          <p:cNvPr id="14" name="Text 9"/>
          <p:cNvSpPr/>
          <p:nvPr/>
        </p:nvSpPr>
        <p:spPr>
          <a:xfrm>
            <a:off x="6381750" y="2795240"/>
            <a:ext cx="2171446" cy="586680"/>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1C1F26"/>
                </a:solidFill>
                <a:latin typeface="Noto Sans JP" pitchFamily="34" charset="0"/>
                <a:ea typeface="Noto Sans JP" pitchFamily="34" charset="-122"/>
                <a:cs typeface="Noto Sans JP" pitchFamily="34" charset="-120"/>
              </a:rPr>
              <a:t>開発者プラットフォーム</a:t>
            </a:r>
            <a:endParaRPr lang="en-US" sz="1700" dirty="0"/>
          </a:p>
        </p:txBody>
      </p:sp>
      <p:sp>
        <p:nvSpPr>
          <p:cNvPr id="15" name="Text 10"/>
          <p:cNvSpPr/>
          <p:nvPr/>
        </p:nvSpPr>
        <p:spPr>
          <a:xfrm>
            <a:off x="6381750" y="3458121"/>
            <a:ext cx="2171446" cy="1346002"/>
          </a:xfrm>
          <a:prstGeom prst="rect">
            <a:avLst/>
          </a:prstGeom>
          <a:noFill/>
          <a:ln/>
        </p:spPr>
        <p:txBody>
          <a:bodyPr wrap="square" lIns="0" tIns="0" rIns="0" bIns="0" rtlCol="0" anchor="t">
            <a:normAutofit/>
          </a:bodyPr>
          <a:lstStyle/>
          <a:p>
            <a:pPr algn="l" indent="0" marL="0">
              <a:lnSpc>
                <a:spcPts val="2080"/>
              </a:lnSpc>
              <a:buNone/>
            </a:pPr>
            <a:r>
              <a:rPr lang="en-US" sz="1300" dirty="0">
                <a:solidFill>
                  <a:srgbClr val="4A4F5A"/>
                </a:solidFill>
                <a:latin typeface="Noto Sans JP" pitchFamily="34" charset="0"/>
                <a:ea typeface="Noto Sans JP" pitchFamily="34" charset="-122"/>
                <a:cs typeface="Noto Sans JP" pitchFamily="34" charset="-120"/>
              </a:rPr>
              <a:t>Workers（実行）</a:t>
            </a:r>
            <a:endParaRPr lang="en-US" sz="1300" dirty="0"/>
          </a:p>
          <a:p>
            <a:pPr algn="l" indent="0" marL="0">
              <a:lnSpc>
                <a:spcPts val="2080"/>
              </a:lnSpc>
              <a:buNone/>
            </a:pPr>
            <a:r>
              <a:rPr lang="en-US" sz="1300" dirty="0">
                <a:solidFill>
                  <a:srgbClr val="4A4F5A"/>
                </a:solidFill>
                <a:latin typeface="Noto Sans JP" pitchFamily="34" charset="0"/>
                <a:ea typeface="Noto Sans JP" pitchFamily="34" charset="-122"/>
                <a:cs typeface="Noto Sans JP" pitchFamily="34" charset="-120"/>
              </a:rPr>
              <a:t>R2（ファイル保存）</a:t>
            </a:r>
            <a:endParaRPr lang="en-US" sz="1300" dirty="0"/>
          </a:p>
          <a:p>
            <a:pPr algn="l" indent="0" marL="0">
              <a:lnSpc>
                <a:spcPts val="2080"/>
              </a:lnSpc>
              <a:buNone/>
            </a:pPr>
            <a:r>
              <a:rPr lang="en-US" sz="1300" dirty="0">
                <a:solidFill>
                  <a:srgbClr val="4A4F5A"/>
                </a:solidFill>
                <a:latin typeface="Noto Sans JP" pitchFamily="34" charset="0"/>
                <a:ea typeface="Noto Sans JP" pitchFamily="34" charset="-122"/>
                <a:cs typeface="Noto Sans JP" pitchFamily="34" charset="-120"/>
              </a:rPr>
              <a:t>D1・KV（データベース）</a:t>
            </a:r>
            <a:endParaRPr lang="en-US" sz="1300" dirty="0"/>
          </a:p>
          <a:p>
            <a:pPr algn="l" indent="0" marL="0">
              <a:lnSpc>
                <a:spcPts val="2080"/>
              </a:lnSpc>
              <a:buNone/>
            </a:pPr>
            <a:r>
              <a:rPr lang="en-US" sz="1300" dirty="0">
                <a:solidFill>
                  <a:srgbClr val="4A4F5A"/>
                </a:solidFill>
                <a:latin typeface="Noto Sans JP" pitchFamily="34" charset="0"/>
                <a:ea typeface="Noto Sans JP" pitchFamily="34" charset="-122"/>
                <a:cs typeface="Noto Sans JP" pitchFamily="34" charset="-120"/>
              </a:rPr>
              <a:t>Durable Objects</a:t>
            </a:r>
            <a:endParaRPr lang="en-US" sz="1300" dirty="0"/>
          </a:p>
          <a:p>
            <a:pPr algn="l" indent="0" marL="0">
              <a:lnSpc>
                <a:spcPts val="2080"/>
              </a:lnSpc>
              <a:buNone/>
            </a:pPr>
            <a:r>
              <a:rPr lang="en-US" sz="1300" dirty="0">
                <a:solidFill>
                  <a:srgbClr val="4A4F5A"/>
                </a:solidFill>
                <a:latin typeface="Noto Sans JP" pitchFamily="34" charset="0"/>
                <a:ea typeface="Noto Sans JP" pitchFamily="34" charset="-122"/>
                <a:cs typeface="Noto Sans JP" pitchFamily="34" charset="-120"/>
              </a:rPr>
              <a:t>Containers</a:t>
            </a:r>
            <a:endParaRPr lang="en-US" sz="1300" dirty="0"/>
          </a:p>
        </p:txBody>
      </p:sp>
      <p:sp>
        <p:nvSpPr>
          <p:cNvPr id="16" name="Shape 11"/>
          <p:cNvSpPr/>
          <p:nvPr/>
        </p:nvSpPr>
        <p:spPr>
          <a:xfrm>
            <a:off x="8855075" y="2080865"/>
            <a:ext cx="2520950" cy="3237260"/>
          </a:xfrm>
          <a:prstGeom prst="roundRect">
            <a:avLst>
              <a:gd name="adj" fmla="val 3904"/>
            </a:avLst>
          </a:prstGeom>
          <a:solidFill>
            <a:srgbClr val="FFFDF9"/>
          </a:solidFill>
          <a:ln w="6350">
            <a:solidFill>
              <a:srgbClr val="E4DDD1"/>
            </a:solidFill>
            <a:prstDash val="solid"/>
          </a:ln>
        </p:spPr>
      </p:sp>
      <p:pic>
        <p:nvPicPr>
          <p:cNvPr id="17" name="Image 3" descr="Lightbulb">    </p:cNvPr>
          <p:cNvPicPr>
            <a:picLocks noChangeAspect="1"/>
          </p:cNvPicPr>
          <p:nvPr/>
        </p:nvPicPr>
        <p:blipFill>
          <a:blip r:embed="rId4"/>
          <a:srcRect l="0" r="0" t="0" b="0"/>
          <a:stretch/>
        </p:blipFill>
        <p:spPr>
          <a:xfrm>
            <a:off x="9061450" y="2287240"/>
            <a:ext cx="406400" cy="406400"/>
          </a:xfrm>
          <a:prstGeom prst="rect">
            <a:avLst/>
          </a:prstGeom>
        </p:spPr>
      </p:pic>
      <p:sp>
        <p:nvSpPr>
          <p:cNvPr id="18" name="Text 12"/>
          <p:cNvSpPr/>
          <p:nvPr/>
        </p:nvSpPr>
        <p:spPr>
          <a:xfrm>
            <a:off x="9061450" y="2795240"/>
            <a:ext cx="2171446" cy="306040"/>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1C1F26"/>
                </a:solidFill>
                <a:latin typeface="Noto Sans JP" pitchFamily="34" charset="0"/>
                <a:ea typeface="Noto Sans JP" pitchFamily="34" charset="-122"/>
                <a:cs typeface="Noto Sans JP" pitchFamily="34" charset="-120"/>
              </a:rPr>
              <a:t>AI</a:t>
            </a:r>
            <a:endParaRPr lang="en-US" sz="1700" dirty="0"/>
          </a:p>
        </p:txBody>
      </p:sp>
      <p:sp>
        <p:nvSpPr>
          <p:cNvPr id="19" name="Text 13"/>
          <p:cNvSpPr/>
          <p:nvPr/>
        </p:nvSpPr>
        <p:spPr>
          <a:xfrm>
            <a:off x="9061450" y="3177480"/>
            <a:ext cx="2171446" cy="1346002"/>
          </a:xfrm>
          <a:prstGeom prst="rect">
            <a:avLst/>
          </a:prstGeom>
          <a:noFill/>
          <a:ln/>
        </p:spPr>
        <p:txBody>
          <a:bodyPr wrap="square" lIns="0" tIns="0" rIns="0" bIns="0" rtlCol="0" anchor="t">
            <a:normAutofit/>
          </a:bodyPr>
          <a:lstStyle/>
          <a:p>
            <a:pPr algn="l" indent="0" marL="0">
              <a:lnSpc>
                <a:spcPts val="2080"/>
              </a:lnSpc>
              <a:buNone/>
            </a:pPr>
            <a:r>
              <a:rPr lang="en-US" sz="1300" dirty="0">
                <a:solidFill>
                  <a:srgbClr val="4A4F5A"/>
                </a:solidFill>
                <a:latin typeface="Noto Sans JP" pitchFamily="34" charset="0"/>
                <a:ea typeface="Noto Sans JP" pitchFamily="34" charset="-122"/>
                <a:cs typeface="Noto Sans JP" pitchFamily="34" charset="-120"/>
              </a:rPr>
              <a:t>Workers AI</a:t>
            </a:r>
            <a:endParaRPr lang="en-US" sz="1300" dirty="0"/>
          </a:p>
          <a:p>
            <a:pPr algn="l" indent="0" marL="0">
              <a:lnSpc>
                <a:spcPts val="2080"/>
              </a:lnSpc>
              <a:buNone/>
            </a:pPr>
            <a:r>
              <a:rPr lang="en-US" sz="1300" dirty="0">
                <a:solidFill>
                  <a:srgbClr val="4A4F5A"/>
                </a:solidFill>
                <a:latin typeface="Noto Sans JP" pitchFamily="34" charset="0"/>
                <a:ea typeface="Noto Sans JP" pitchFamily="34" charset="-122"/>
                <a:cs typeface="Noto Sans JP" pitchFamily="34" charset="-120"/>
              </a:rPr>
              <a:t>AI Gateway</a:t>
            </a:r>
            <a:endParaRPr lang="en-US" sz="1300" dirty="0"/>
          </a:p>
          <a:p>
            <a:pPr algn="l" indent="0" marL="0">
              <a:lnSpc>
                <a:spcPts val="2080"/>
              </a:lnSpc>
              <a:buNone/>
            </a:pPr>
            <a:r>
              <a:rPr lang="en-US" sz="1300" dirty="0">
                <a:solidFill>
                  <a:srgbClr val="4A4F5A"/>
                </a:solidFill>
                <a:latin typeface="Noto Sans JP" pitchFamily="34" charset="0"/>
                <a:ea typeface="Noto Sans JP" pitchFamily="34" charset="-122"/>
                <a:cs typeface="Noto Sans JP" pitchFamily="34" charset="-120"/>
              </a:rPr>
              <a:t>Agents SDK・MCP</a:t>
            </a:r>
            <a:endParaRPr lang="en-US" sz="1300" dirty="0"/>
          </a:p>
          <a:p>
            <a:pPr algn="l" indent="0" marL="0">
              <a:lnSpc>
                <a:spcPts val="2080"/>
              </a:lnSpc>
              <a:buNone/>
            </a:pPr>
            <a:r>
              <a:rPr lang="en-US" sz="1300" dirty="0">
                <a:solidFill>
                  <a:srgbClr val="4A4F5A"/>
                </a:solidFill>
                <a:latin typeface="Noto Sans JP" pitchFamily="34" charset="0"/>
                <a:ea typeface="Noto Sans JP" pitchFamily="34" charset="-122"/>
                <a:cs typeface="Noto Sans JP" pitchFamily="34" charset="-120"/>
              </a:rPr>
              <a:t>AI Search</a:t>
            </a:r>
            <a:endParaRPr lang="en-US" sz="1300" dirty="0"/>
          </a:p>
          <a:p>
            <a:pPr algn="l" indent="0" marL="0">
              <a:lnSpc>
                <a:spcPts val="2080"/>
              </a:lnSpc>
              <a:buNone/>
            </a:pPr>
            <a:r>
              <a:rPr lang="en-US" sz="1300" dirty="0">
                <a:solidFill>
                  <a:srgbClr val="4A4F5A"/>
                </a:solidFill>
                <a:latin typeface="Noto Sans JP" pitchFamily="34" charset="0"/>
                <a:ea typeface="Noto Sans JP" pitchFamily="34" charset="-122"/>
                <a:cs typeface="Noto Sans JP" pitchFamily="34" charset="-120"/>
              </a:rPr>
              <a:t>AI クローラー制御</a:t>
            </a:r>
            <a:endParaRPr lang="en-US" sz="1300" dirty="0"/>
          </a:p>
        </p:txBody>
      </p:sp>
      <p:sp>
        <p:nvSpPr>
          <p:cNvPr id="20" name="Text 14"/>
          <p:cNvSpPr/>
          <p:nvPr/>
        </p:nvSpPr>
        <p:spPr>
          <a:xfrm>
            <a:off x="812800" y="557530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4F5A"/>
                </a:solidFill>
                <a:latin typeface="Noto Sans JP" pitchFamily="34" charset="0"/>
                <a:ea typeface="Noto Sans JP" pitchFamily="34" charset="-122"/>
                <a:cs typeface="Noto Sans JP" pitchFamily="34" charset="-120"/>
              </a:rPr>
              <a:t>オレンジの 2 つが「AI の文脈」で話題になっている領域。今日のハンズオンもここを触る</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1ECE4"/>
        </a:solidFill>
      </p:bgPr>
    </p:bg>
    <p:spTree>
      <p:nvGrpSpPr>
        <p:cNvPr id="1" name=""/>
        <p:cNvGrpSpPr/>
        <p:nvPr/>
      </p:nvGrpSpPr>
      <p:grpSpPr>
        <a:xfrm>
          <a:off x="0" y="0"/>
          <a:ext cx="0" cy="0"/>
          <a:chOff x="0" y="0"/>
          <a:chExt cx="0" cy="0"/>
        </a:xfrm>
      </p:grpSpPr>
      <p:sp>
        <p:nvSpPr>
          <p:cNvPr id="2" name="Text 0"/>
          <p:cNvSpPr/>
          <p:nvPr/>
        </p:nvSpPr>
        <p:spPr>
          <a:xfrm>
            <a:off x="812800" y="1290340"/>
            <a:ext cx="3662680" cy="274290"/>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B4560A"/>
                </a:solidFill>
                <a:latin typeface="Noto Sans JP" pitchFamily="34" charset="0"/>
                <a:ea typeface="Noto Sans JP" pitchFamily="34" charset="-122"/>
                <a:cs typeface="Noto Sans JP" pitchFamily="34" charset="-120"/>
              </a:rPr>
              <a:t>実際の管理画面</a:t>
            </a:r>
            <a:endParaRPr lang="en-US" sz="1400" dirty="0"/>
          </a:p>
        </p:txBody>
      </p:sp>
      <p:sp>
        <p:nvSpPr>
          <p:cNvPr id="3" name="Text 1"/>
          <p:cNvSpPr/>
          <p:nvPr>
            <p:ph type="title"/>
          </p:nvPr>
        </p:nvSpPr>
        <p:spPr>
          <a:xfrm>
            <a:off x="812800" y="1742430"/>
            <a:ext cx="3662680" cy="1412180"/>
          </a:xfrm>
          <a:prstGeom prst="rect">
            <a:avLst/>
          </a:prstGeom>
          <a:noFill/>
          <a:ln/>
        </p:spPr>
        <p:txBody>
          <a:bodyPr wrap="square" lIns="0" tIns="0" rIns="0" bIns="0" rtlCol="0" anchor="t">
            <a:normAutofit/>
          </a:bodyPr>
          <a:lstStyle/>
          <a:p>
            <a:pPr algn="l" indent="0" marL="0">
              <a:lnSpc>
                <a:spcPts val="3640"/>
              </a:lnSpc>
              <a:buNone/>
            </a:pPr>
            <a:r>
              <a:rPr lang="en-US" sz="2800" b="1" i="0" dirty="0">
                <a:solidFill>
                  <a:srgbClr val="1C1F26"/>
                </a:solidFill>
                <a:latin typeface="Noto Sans JP" pitchFamily="34" charset="0"/>
                <a:ea typeface="Noto Sans JP" pitchFamily="34" charset="-122"/>
                <a:cs typeface="Noto Sans JP" pitchFamily="34" charset="-120"/>
              </a:rPr>
              <a:t>左のメニューが、そのままサービスの地図になっている</a:t>
            </a:r>
            <a:endParaRPr lang="en-US" sz="2800" dirty="0"/>
          </a:p>
        </p:txBody>
      </p:sp>
      <p:sp>
        <p:nvSpPr>
          <p:cNvPr id="4" name="Text 2"/>
          <p:cNvSpPr/>
          <p:nvPr/>
        </p:nvSpPr>
        <p:spPr>
          <a:xfrm>
            <a:off x="812800" y="3332411"/>
            <a:ext cx="3662680" cy="939800"/>
          </a:xfrm>
          <a:prstGeom prst="rect">
            <a:avLst/>
          </a:prstGeom>
          <a:noFill/>
          <a:ln/>
        </p:spPr>
        <p:txBody>
          <a:bodyPr wrap="square" lIns="0" tIns="0" rIns="0" bIns="0" rtlCol="0" anchor="t">
            <a:normAutofit/>
          </a:bodyPr>
          <a:lstStyle/>
          <a:p>
            <a:pPr algn="l" indent="0" marL="0">
              <a:lnSpc>
                <a:spcPts val="2400"/>
              </a:lnSpc>
              <a:buNone/>
            </a:pPr>
            <a:r>
              <a:rPr lang="en-US" sz="1500" dirty="0">
                <a:solidFill>
                  <a:srgbClr val="4A4F5A"/>
                </a:solidFill>
                <a:latin typeface="Noto Sans JP" pitchFamily="34" charset="0"/>
                <a:ea typeface="Noto Sans JP" pitchFamily="34" charset="-122"/>
                <a:cs typeface="Noto Sans JP" pitchFamily="34" charset="-120"/>
              </a:rPr>
              <a:t>「ビルド」の下に</a:t>
            </a:r>
            <a:r>
              <a:rPr lang="en-US" sz="1500" b="1" dirty="0">
                <a:solidFill>
                  <a:srgbClr val="4A4F5A"/>
                </a:solidFill>
                <a:latin typeface="Noto Sans JP" pitchFamily="34" charset="0"/>
                <a:ea typeface="Noto Sans JP" pitchFamily="34" charset="-122"/>
                <a:cs typeface="Noto Sans JP" pitchFamily="34" charset="-120"/>
              </a:rPr>
              <a:t>コンピュート・AI・ストレージ</a:t>
            </a:r>
            <a:r>
              <a:rPr lang="en-US" sz="1500" dirty="0">
                <a:solidFill>
                  <a:srgbClr val="4A4F5A"/>
                </a:solidFill>
                <a:latin typeface="Noto Sans JP" pitchFamily="34" charset="0"/>
                <a:ea typeface="Noto Sans JP" pitchFamily="34" charset="-122"/>
                <a:cs typeface="Noto Sans JP" pitchFamily="34" charset="-120"/>
              </a:rPr>
              <a:t>、「保護と接続」の下に</a:t>
            </a:r>
            <a:r>
              <a:rPr lang="en-US" sz="1500" b="1" dirty="0">
                <a:solidFill>
                  <a:srgbClr val="4A4F5A"/>
                </a:solidFill>
                <a:latin typeface="Noto Sans JP" pitchFamily="34" charset="0"/>
                <a:ea typeface="Noto Sans JP" pitchFamily="34" charset="-122"/>
                <a:cs typeface="Noto Sans JP" pitchFamily="34" charset="-120"/>
              </a:rPr>
              <a:t>セキュリティ・Zero Trust・ネットワーク</a:t>
            </a:r>
            <a:r>
              <a:rPr lang="en-US" sz="1500" dirty="0">
                <a:solidFill>
                  <a:srgbClr val="4A4F5A"/>
                </a:solidFill>
                <a:latin typeface="Noto Sans JP" pitchFamily="34" charset="0"/>
                <a:ea typeface="Noto Sans JP" pitchFamily="34" charset="-122"/>
                <a:cs typeface="Noto Sans JP" pitchFamily="34" charset="-120"/>
              </a:rPr>
              <a:t>が並ぶ</a:t>
            </a:r>
            <a:endParaRPr lang="en-US" sz="1500" dirty="0"/>
          </a:p>
        </p:txBody>
      </p:sp>
      <p:sp>
        <p:nvSpPr>
          <p:cNvPr id="5" name="Text 3"/>
          <p:cNvSpPr/>
          <p:nvPr/>
        </p:nvSpPr>
        <p:spPr>
          <a:xfrm>
            <a:off x="812800" y="4450011"/>
            <a:ext cx="3662680" cy="939800"/>
          </a:xfrm>
          <a:prstGeom prst="rect">
            <a:avLst/>
          </a:prstGeom>
          <a:noFill/>
          <a:ln/>
        </p:spPr>
        <p:txBody>
          <a:bodyPr wrap="square" lIns="0" tIns="0" rIns="0" bIns="0" rtlCol="0" anchor="t">
            <a:normAutofit/>
          </a:bodyPr>
          <a:lstStyle/>
          <a:p>
            <a:pPr algn="l" indent="0" marL="0">
              <a:lnSpc>
                <a:spcPts val="2400"/>
              </a:lnSpc>
              <a:buNone/>
            </a:pPr>
            <a:r>
              <a:rPr lang="en-US" sz="1500" dirty="0">
                <a:solidFill>
                  <a:srgbClr val="4A4F5A"/>
                </a:solidFill>
                <a:latin typeface="Noto Sans JP" pitchFamily="34" charset="0"/>
                <a:ea typeface="Noto Sans JP" pitchFamily="34" charset="-122"/>
                <a:cs typeface="Noto Sans JP" pitchFamily="34" charset="-120"/>
              </a:rPr>
              <a:t>トップの見出しは「Onboard your agent to Cloudflare」。AI エージェントを前面に出している</a:t>
            </a:r>
            <a:endParaRPr lang="en-US" sz="1500" dirty="0"/>
          </a:p>
        </p:txBody>
      </p:sp>
      <p:pic>
        <p:nvPicPr>
          <p:cNvPr id="6" name="Image 0" descr="Cloudflare ダッシュボードのホーム画面。左にサービスのメニュー、中央に検索窓と分析グラフ">    </p:cNvPr>
          <p:cNvPicPr>
            <a:picLocks noChangeAspect="1"/>
          </p:cNvPicPr>
          <p:nvPr/>
        </p:nvPicPr>
        <p:blipFill>
          <a:blip r:embed="rId1"/>
          <a:stretch>
            <a:fillRect/>
          </a:stretch>
        </p:blipFill>
        <p:spPr>
          <a:xfrm>
            <a:off x="4730750" y="1517767"/>
            <a:ext cx="6642100" cy="3619267"/>
          </a:xfrm>
          <a:prstGeom prst="rect">
            <a:avLst/>
          </a:prstGeom>
          <a:effectLst>
            <a:outerShdw sx="100000" sy="100000" kx="0" ky="0" algn="bl" rotWithShape="0" blurRad="254000" dist="76200" dir="5400000">
              <a:srgbClr val="1C1F26">
                <a:alpha val="15000"/>
              </a:srgbClr>
            </a:outerShdw>
          </a:effectLst>
        </p:spPr>
      </p:pic>
      <p:sp>
        <p:nvSpPr>
          <p:cNvPr id="7" name="Shape 4"/>
          <p:cNvSpPr/>
          <p:nvPr/>
        </p:nvSpPr>
        <p:spPr>
          <a:xfrm>
            <a:off x="4727575" y="1298575"/>
            <a:ext cx="6648450" cy="4057650"/>
          </a:xfrm>
          <a:prstGeom prst="roundRect">
            <a:avLst>
              <a:gd name="adj" fmla="val 2426"/>
            </a:avLst>
          </a:prstGeom>
          <a:noFill/>
          <a:ln w="6350">
            <a:solidFill>
              <a:srgbClr val="D8D0C2"/>
            </a:solidFill>
            <a:prstDash val="solid"/>
          </a:ln>
        </p:spPr>
      </p:sp>
      <p:sp>
        <p:nvSpPr>
          <p:cNvPr id="8" name="Text 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080"/>
                </a:solidFill>
                <a:latin typeface="Noto Sans JP" pitchFamily="34" charset="0"/>
                <a:ea typeface="Noto Sans JP" pitchFamily="34" charset="-122"/>
                <a:cs typeface="Noto Sans JP" pitchFamily="34" charset="-120"/>
              </a:rPr>
              <a:t>2026年10月時点のダッシュボード（日本語表示）。アカウント名などは伏せている</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C1F26"/>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F38020"/>
                </a:solidFill>
                <a:latin typeface="Noto Sans JP" pitchFamily="34" charset="0"/>
                <a:ea typeface="Noto Sans JP" pitchFamily="34" charset="-122"/>
                <a:cs typeface="Noto Sans JP" pitchFamily="34" charset="-120"/>
              </a:rPr>
              <a:t>発展の歴史</a:t>
            </a:r>
            <a:endParaRPr lang="en-US" sz="1400" dirty="0"/>
          </a:p>
        </p:txBody>
      </p:sp>
      <p:sp>
        <p:nvSpPr>
          <p:cNvPr id="3" name="Text 1"/>
          <p:cNvSpPr/>
          <p:nvPr>
            <p:ph type="title"/>
          </p:nvPr>
        </p:nvSpPr>
        <p:spPr>
          <a:xfrm>
            <a:off x="812800" y="1366490"/>
            <a:ext cx="10883392" cy="533400"/>
          </a:xfrm>
          <a:prstGeom prst="rect">
            <a:avLst/>
          </a:prstGeom>
          <a:noFill/>
          <a:ln/>
        </p:spPr>
        <p:txBody>
          <a:bodyPr wrap="square" lIns="0" tIns="0" rIns="0" bIns="0" rtlCol="0" anchor="t">
            <a:normAutofit/>
          </a:bodyPr>
          <a:lstStyle/>
          <a:p>
            <a:pPr algn="l" indent="0" marL="0">
              <a:lnSpc>
                <a:spcPts val="4000"/>
              </a:lnSpc>
              <a:buNone/>
            </a:pPr>
            <a:r>
              <a:rPr lang="en-US" sz="3200" b="1" i="0" dirty="0">
                <a:solidFill>
                  <a:srgbClr val="F5F1EA"/>
                </a:solidFill>
                <a:latin typeface="Noto Sans JP" pitchFamily="34" charset="0"/>
                <a:ea typeface="Noto Sans JP" pitchFamily="34" charset="-122"/>
                <a:cs typeface="Noto Sans JP" pitchFamily="34" charset="-120"/>
              </a:rPr>
              <a:t>「守る」→「動かす」→「AI」と、層を積み上げてきた</a:t>
            </a:r>
            <a:endParaRPr lang="en-US" sz="3200" dirty="0"/>
          </a:p>
        </p:txBody>
      </p:sp>
      <p:sp>
        <p:nvSpPr>
          <p:cNvPr id="4" name="Shape 2"/>
          <p:cNvSpPr/>
          <p:nvPr/>
        </p:nvSpPr>
        <p:spPr>
          <a:xfrm>
            <a:off x="812800" y="2179290"/>
            <a:ext cx="3556000" cy="457200"/>
          </a:xfrm>
          <a:prstGeom prst="roundRect">
            <a:avLst>
              <a:gd name="adj" fmla="val 16667"/>
            </a:avLst>
          </a:prstGeom>
          <a:solidFill>
            <a:srgbClr val="2B59C3"/>
          </a:solidFill>
          <a:ln/>
        </p:spPr>
      </p:sp>
      <p:sp>
        <p:nvSpPr>
          <p:cNvPr id="5" name="Text 3"/>
          <p:cNvSpPr/>
          <p:nvPr/>
        </p:nvSpPr>
        <p:spPr>
          <a:xfrm>
            <a:off x="965200" y="2268190"/>
            <a:ext cx="340106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5F1EA"/>
                </a:solidFill>
                <a:latin typeface="Noto Sans JP" pitchFamily="34" charset="0"/>
                <a:ea typeface="Noto Sans JP" pitchFamily="34" charset="-122"/>
                <a:cs typeface="Noto Sans JP" pitchFamily="34" charset="-120"/>
              </a:rPr>
              <a:t>守る・速くする</a:t>
            </a:r>
            <a:endParaRPr lang="en-US" sz="1500" dirty="0"/>
          </a:p>
        </p:txBody>
      </p:sp>
      <p:sp>
        <p:nvSpPr>
          <p:cNvPr id="6" name="Shape 4"/>
          <p:cNvSpPr/>
          <p:nvPr/>
        </p:nvSpPr>
        <p:spPr>
          <a:xfrm>
            <a:off x="4521200" y="2179290"/>
            <a:ext cx="3556000" cy="457200"/>
          </a:xfrm>
          <a:prstGeom prst="roundRect">
            <a:avLst>
              <a:gd name="adj" fmla="val 16667"/>
            </a:avLst>
          </a:prstGeom>
          <a:solidFill>
            <a:srgbClr val="4A7BE0"/>
          </a:solidFill>
          <a:ln/>
        </p:spPr>
      </p:sp>
      <p:sp>
        <p:nvSpPr>
          <p:cNvPr id="7" name="Text 5"/>
          <p:cNvSpPr/>
          <p:nvPr/>
        </p:nvSpPr>
        <p:spPr>
          <a:xfrm>
            <a:off x="4673600" y="2268190"/>
            <a:ext cx="340106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C1F26"/>
                </a:solidFill>
                <a:latin typeface="Noto Sans JP" pitchFamily="34" charset="0"/>
                <a:ea typeface="Noto Sans JP" pitchFamily="34" charset="-122"/>
                <a:cs typeface="Noto Sans JP" pitchFamily="34" charset="-120"/>
              </a:rPr>
              <a:t>ネットワークでコードを動かす</a:t>
            </a:r>
            <a:endParaRPr lang="en-US" sz="1500" dirty="0"/>
          </a:p>
        </p:txBody>
      </p:sp>
      <p:sp>
        <p:nvSpPr>
          <p:cNvPr id="8" name="Shape 6"/>
          <p:cNvSpPr/>
          <p:nvPr/>
        </p:nvSpPr>
        <p:spPr>
          <a:xfrm>
            <a:off x="8229600" y="2179290"/>
            <a:ext cx="3149600" cy="457200"/>
          </a:xfrm>
          <a:prstGeom prst="roundRect">
            <a:avLst>
              <a:gd name="adj" fmla="val 16667"/>
            </a:avLst>
          </a:prstGeom>
          <a:solidFill>
            <a:srgbClr val="F38020"/>
          </a:solidFill>
          <a:ln/>
        </p:spPr>
      </p:sp>
      <p:sp>
        <p:nvSpPr>
          <p:cNvPr id="9" name="Text 7"/>
          <p:cNvSpPr/>
          <p:nvPr/>
        </p:nvSpPr>
        <p:spPr>
          <a:xfrm>
            <a:off x="8382000" y="2268190"/>
            <a:ext cx="300863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C1F26"/>
                </a:solidFill>
                <a:latin typeface="Noto Sans JP" pitchFamily="34" charset="0"/>
                <a:ea typeface="Noto Sans JP" pitchFamily="34" charset="-122"/>
                <a:cs typeface="Noto Sans JP" pitchFamily="34" charset="-120"/>
              </a:rPr>
              <a:t>AI とエージェント</a:t>
            </a:r>
            <a:endParaRPr lang="en-US" sz="1500" dirty="0"/>
          </a:p>
        </p:txBody>
      </p:sp>
      <p:sp>
        <p:nvSpPr>
          <p:cNvPr id="10" name="Shape 8"/>
          <p:cNvSpPr/>
          <p:nvPr/>
        </p:nvSpPr>
        <p:spPr>
          <a:xfrm>
            <a:off x="812800" y="2788890"/>
            <a:ext cx="10566400" cy="50800"/>
          </a:xfrm>
          <a:prstGeom prst="rect">
            <a:avLst/>
          </a:prstGeom>
          <a:solidFill>
            <a:srgbClr val="4A4F5A"/>
          </a:solidFill>
          <a:ln/>
        </p:spPr>
      </p:sp>
      <p:pic>
        <p:nvPicPr>
          <p:cNvPr id="11" name="Image 0" descr="ellipse">    </p:cNvPr>
          <p:cNvPicPr>
            <a:picLocks noChangeAspect="1"/>
          </p:cNvPicPr>
          <p:nvPr/>
        </p:nvPicPr>
        <p:blipFill>
          <a:blip r:embed="rId1"/>
          <a:srcRect l="0" r="0" t="0" b="0"/>
          <a:stretch/>
        </p:blipFill>
        <p:spPr>
          <a:xfrm>
            <a:off x="1066800" y="2712690"/>
            <a:ext cx="203200" cy="203200"/>
          </a:xfrm>
          <a:prstGeom prst="rect">
            <a:avLst/>
          </a:prstGeom>
        </p:spPr>
      </p:pic>
      <p:sp>
        <p:nvSpPr>
          <p:cNvPr id="12" name="Text 9"/>
          <p:cNvSpPr/>
          <p:nvPr/>
        </p:nvSpPr>
        <p:spPr>
          <a:xfrm>
            <a:off x="812800" y="3042890"/>
            <a:ext cx="17018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F5F1EA"/>
                </a:solidFill>
                <a:latin typeface="Noto Sans JP" pitchFamily="34" charset="0"/>
                <a:ea typeface="Noto Sans JP" pitchFamily="34" charset="-122"/>
                <a:cs typeface="Noto Sans JP" pitchFamily="34" charset="-120"/>
              </a:rPr>
              <a:t>2010</a:t>
            </a:r>
            <a:endParaRPr lang="en-US" sz="2000" dirty="0"/>
          </a:p>
        </p:txBody>
      </p:sp>
      <p:sp>
        <p:nvSpPr>
          <p:cNvPr id="13" name="Text 10"/>
          <p:cNvSpPr/>
          <p:nvPr/>
        </p:nvSpPr>
        <p:spPr>
          <a:xfrm>
            <a:off x="812800" y="3423890"/>
            <a:ext cx="1701800"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C9C3B8"/>
                </a:solidFill>
                <a:latin typeface="Noto Sans JP" pitchFamily="34" charset="0"/>
                <a:ea typeface="Noto Sans JP" pitchFamily="34" charset="-122"/>
                <a:cs typeface="Noto Sans JP" pitchFamily="34" charset="-120"/>
              </a:rPr>
              <a:t>サービス公開</a:t>
            </a:r>
            <a:endParaRPr lang="en-US" sz="1300" dirty="0"/>
          </a:p>
          <a:p>
            <a:pPr algn="l" indent="0" marL="0">
              <a:lnSpc>
                <a:spcPts val="1950"/>
              </a:lnSpc>
              <a:buNone/>
            </a:pPr>
            <a:r>
              <a:rPr lang="en-US" sz="1300" dirty="0">
                <a:solidFill>
                  <a:srgbClr val="C9C3B8"/>
                </a:solidFill>
                <a:latin typeface="Noto Sans JP" pitchFamily="34" charset="0"/>
                <a:ea typeface="Noto Sans JP" pitchFamily="34" charset="-122"/>
                <a:cs typeface="Noto Sans JP" pitchFamily="34" charset="-120"/>
              </a:rPr>
              <a:t>（スパム対策が起点）</a:t>
            </a:r>
            <a:endParaRPr lang="en-US" sz="1300" dirty="0"/>
          </a:p>
        </p:txBody>
      </p:sp>
      <p:pic>
        <p:nvPicPr>
          <p:cNvPr id="14" name="Image 1" descr="ellipse">    </p:cNvPr>
          <p:cNvPicPr>
            <a:picLocks noChangeAspect="1"/>
          </p:cNvPicPr>
          <p:nvPr/>
        </p:nvPicPr>
        <p:blipFill>
          <a:blip r:embed="rId2"/>
          <a:srcRect l="0" r="0" t="0" b="0"/>
          <a:stretch/>
        </p:blipFill>
        <p:spPr>
          <a:xfrm>
            <a:off x="2781300" y="2712690"/>
            <a:ext cx="203200" cy="203200"/>
          </a:xfrm>
          <a:prstGeom prst="rect">
            <a:avLst/>
          </a:prstGeom>
        </p:spPr>
      </p:pic>
      <p:sp>
        <p:nvSpPr>
          <p:cNvPr id="15" name="Text 11"/>
          <p:cNvSpPr/>
          <p:nvPr/>
        </p:nvSpPr>
        <p:spPr>
          <a:xfrm>
            <a:off x="2527300" y="3042890"/>
            <a:ext cx="17018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F5F1EA"/>
                </a:solidFill>
                <a:latin typeface="Noto Sans JP" pitchFamily="34" charset="0"/>
                <a:ea typeface="Noto Sans JP" pitchFamily="34" charset="-122"/>
                <a:cs typeface="Noto Sans JP" pitchFamily="34" charset="-120"/>
              </a:rPr>
              <a:t>2014</a:t>
            </a:r>
            <a:endParaRPr lang="en-US" sz="2000" dirty="0"/>
          </a:p>
        </p:txBody>
      </p:sp>
      <p:sp>
        <p:nvSpPr>
          <p:cNvPr id="16" name="Text 12"/>
          <p:cNvSpPr/>
          <p:nvPr/>
        </p:nvSpPr>
        <p:spPr>
          <a:xfrm>
            <a:off x="2527300" y="3423890"/>
            <a:ext cx="1701800"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C9C3B8"/>
                </a:solidFill>
                <a:latin typeface="Noto Sans JP" pitchFamily="34" charset="0"/>
                <a:ea typeface="Noto Sans JP" pitchFamily="34" charset="-122"/>
                <a:cs typeface="Noto Sans JP" pitchFamily="34" charset="-120"/>
              </a:rPr>
              <a:t>HTTPS を</a:t>
            </a:r>
            <a:endParaRPr lang="en-US" sz="1300" dirty="0"/>
          </a:p>
          <a:p>
            <a:pPr algn="l" indent="0" marL="0">
              <a:lnSpc>
                <a:spcPts val="1950"/>
              </a:lnSpc>
              <a:buNone/>
            </a:pPr>
            <a:r>
              <a:rPr lang="en-US" sz="1300" dirty="0">
                <a:solidFill>
                  <a:srgbClr val="C9C3B8"/>
                </a:solidFill>
                <a:latin typeface="Noto Sans JP" pitchFamily="34" charset="0"/>
                <a:ea typeface="Noto Sans JP" pitchFamily="34" charset="-122"/>
                <a:cs typeface="Noto Sans JP" pitchFamily="34" charset="-120"/>
              </a:rPr>
              <a:t>全員に無料で</a:t>
            </a:r>
            <a:endParaRPr lang="en-US" sz="1300" dirty="0"/>
          </a:p>
        </p:txBody>
      </p:sp>
      <p:pic>
        <p:nvPicPr>
          <p:cNvPr id="17" name="Image 2" descr="ellipse">    </p:cNvPr>
          <p:cNvPicPr>
            <a:picLocks noChangeAspect="1"/>
          </p:cNvPicPr>
          <p:nvPr/>
        </p:nvPicPr>
        <p:blipFill>
          <a:blip r:embed="rId3"/>
          <a:srcRect l="0" r="0" t="0" b="0"/>
          <a:stretch/>
        </p:blipFill>
        <p:spPr>
          <a:xfrm>
            <a:off x="4775200" y="2712690"/>
            <a:ext cx="203200" cy="203200"/>
          </a:xfrm>
          <a:prstGeom prst="rect">
            <a:avLst/>
          </a:prstGeom>
        </p:spPr>
      </p:pic>
      <p:sp>
        <p:nvSpPr>
          <p:cNvPr id="18" name="Text 13"/>
          <p:cNvSpPr/>
          <p:nvPr/>
        </p:nvSpPr>
        <p:spPr>
          <a:xfrm>
            <a:off x="4521200" y="3042890"/>
            <a:ext cx="17018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F5F1EA"/>
                </a:solidFill>
                <a:latin typeface="Noto Sans JP" pitchFamily="34" charset="0"/>
                <a:ea typeface="Noto Sans JP" pitchFamily="34" charset="-122"/>
                <a:cs typeface="Noto Sans JP" pitchFamily="34" charset="-120"/>
              </a:rPr>
              <a:t>2017</a:t>
            </a:r>
            <a:endParaRPr lang="en-US" sz="2000" dirty="0"/>
          </a:p>
        </p:txBody>
      </p:sp>
      <p:sp>
        <p:nvSpPr>
          <p:cNvPr id="19" name="Text 14"/>
          <p:cNvSpPr/>
          <p:nvPr/>
        </p:nvSpPr>
        <p:spPr>
          <a:xfrm>
            <a:off x="4521200" y="3423890"/>
            <a:ext cx="1701800"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C9C3B8"/>
                </a:solidFill>
                <a:latin typeface="Noto Sans JP" pitchFamily="34" charset="0"/>
                <a:ea typeface="Noto Sans JP" pitchFamily="34" charset="-122"/>
                <a:cs typeface="Noto Sans JP" pitchFamily="34" charset="-120"/>
              </a:rPr>
              <a:t>Workers</a:t>
            </a:r>
            <a:endParaRPr lang="en-US" sz="1300" dirty="0"/>
          </a:p>
          <a:p>
            <a:pPr algn="l" indent="0" marL="0">
              <a:lnSpc>
                <a:spcPts val="1950"/>
              </a:lnSpc>
              <a:buNone/>
            </a:pPr>
            <a:r>
              <a:rPr lang="en-US" sz="1300" dirty="0">
                <a:solidFill>
                  <a:srgbClr val="C9C3B8"/>
                </a:solidFill>
                <a:latin typeface="Noto Sans JP" pitchFamily="34" charset="0"/>
                <a:ea typeface="Noto Sans JP" pitchFamily="34" charset="-122"/>
                <a:cs typeface="Noto Sans JP" pitchFamily="34" charset="-120"/>
              </a:rPr>
              <a:t>（エッジで実行）</a:t>
            </a:r>
            <a:endParaRPr lang="en-US" sz="1300" dirty="0"/>
          </a:p>
        </p:txBody>
      </p:sp>
      <p:pic>
        <p:nvPicPr>
          <p:cNvPr id="20" name="Image 3" descr="ellipse">    </p:cNvPr>
          <p:cNvPicPr>
            <a:picLocks noChangeAspect="1"/>
          </p:cNvPicPr>
          <p:nvPr/>
        </p:nvPicPr>
        <p:blipFill>
          <a:blip r:embed="rId4"/>
          <a:srcRect l="0" r="0" t="0" b="0"/>
          <a:stretch/>
        </p:blipFill>
        <p:spPr>
          <a:xfrm>
            <a:off x="6553200" y="2712690"/>
            <a:ext cx="203200" cy="203200"/>
          </a:xfrm>
          <a:prstGeom prst="rect">
            <a:avLst/>
          </a:prstGeom>
        </p:spPr>
      </p:pic>
      <p:sp>
        <p:nvSpPr>
          <p:cNvPr id="21" name="Text 15"/>
          <p:cNvSpPr/>
          <p:nvPr/>
        </p:nvSpPr>
        <p:spPr>
          <a:xfrm>
            <a:off x="6299200" y="3042890"/>
            <a:ext cx="183134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F5F1EA"/>
                </a:solidFill>
                <a:latin typeface="Noto Sans JP" pitchFamily="34" charset="0"/>
                <a:ea typeface="Noto Sans JP" pitchFamily="34" charset="-122"/>
                <a:cs typeface="Noto Sans JP" pitchFamily="34" charset="-120"/>
              </a:rPr>
              <a:t>2018–21</a:t>
            </a:r>
            <a:endParaRPr lang="en-US" sz="2000" dirty="0"/>
          </a:p>
        </p:txBody>
      </p:sp>
      <p:sp>
        <p:nvSpPr>
          <p:cNvPr id="22" name="Text 16"/>
          <p:cNvSpPr/>
          <p:nvPr/>
        </p:nvSpPr>
        <p:spPr>
          <a:xfrm>
            <a:off x="6299200" y="3423890"/>
            <a:ext cx="1831340" cy="7683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C9C3B8"/>
                </a:solidFill>
                <a:latin typeface="Noto Sans JP" pitchFamily="34" charset="0"/>
                <a:ea typeface="Noto Sans JP" pitchFamily="34" charset="-122"/>
                <a:cs typeface="Noto Sans JP" pitchFamily="34" charset="-120"/>
              </a:rPr>
              <a:t>データもエッジへ</a:t>
            </a:r>
            <a:endParaRPr lang="en-US" sz="1300" dirty="0"/>
          </a:p>
          <a:p>
            <a:pPr algn="l" indent="0" marL="0">
              <a:lnSpc>
                <a:spcPts val="1950"/>
              </a:lnSpc>
              <a:buNone/>
            </a:pPr>
            <a:r>
              <a:rPr lang="en-US" sz="1300" dirty="0">
                <a:solidFill>
                  <a:srgbClr val="C9C3B8"/>
                </a:solidFill>
                <a:latin typeface="Noto Sans JP" pitchFamily="34" charset="0"/>
                <a:ea typeface="Noto Sans JP" pitchFamily="34" charset="-122"/>
                <a:cs typeface="Noto Sans JP" pitchFamily="34" charset="-120"/>
              </a:rPr>
              <a:t>KV・R2 など</a:t>
            </a:r>
            <a:endParaRPr lang="en-US" sz="1300" dirty="0"/>
          </a:p>
          <a:p>
            <a:pPr algn="l" indent="0" marL="0">
              <a:lnSpc>
                <a:spcPts val="1950"/>
              </a:lnSpc>
              <a:buNone/>
            </a:pPr>
            <a:r>
              <a:rPr lang="en-US" sz="1300" dirty="0">
                <a:solidFill>
                  <a:srgbClr val="C9C3B8"/>
                </a:solidFill>
                <a:latin typeface="Noto Sans JP" pitchFamily="34" charset="0"/>
                <a:ea typeface="Noto Sans JP" pitchFamily="34" charset="-122"/>
                <a:cs typeface="Noto Sans JP" pitchFamily="34" charset="-120"/>
              </a:rPr>
              <a:t>2020 Zero Trust</a:t>
            </a:r>
            <a:endParaRPr lang="en-US" sz="1300" dirty="0"/>
          </a:p>
        </p:txBody>
      </p:sp>
      <p:pic>
        <p:nvPicPr>
          <p:cNvPr id="23" name="Image 4" descr="ellipse">    </p:cNvPr>
          <p:cNvPicPr>
            <a:picLocks noChangeAspect="1"/>
          </p:cNvPicPr>
          <p:nvPr/>
        </p:nvPicPr>
        <p:blipFill>
          <a:blip r:embed="rId5"/>
          <a:srcRect l="0" r="0" t="0" b="0"/>
          <a:stretch/>
        </p:blipFill>
        <p:spPr>
          <a:xfrm>
            <a:off x="8483600" y="2712690"/>
            <a:ext cx="203200" cy="203200"/>
          </a:xfrm>
          <a:prstGeom prst="rect">
            <a:avLst/>
          </a:prstGeom>
        </p:spPr>
      </p:pic>
      <p:sp>
        <p:nvSpPr>
          <p:cNvPr id="24" name="Text 17"/>
          <p:cNvSpPr/>
          <p:nvPr/>
        </p:nvSpPr>
        <p:spPr>
          <a:xfrm>
            <a:off x="8229600" y="3042890"/>
            <a:ext cx="15748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F38020"/>
                </a:solidFill>
                <a:latin typeface="Noto Sans JP" pitchFamily="34" charset="0"/>
                <a:ea typeface="Noto Sans JP" pitchFamily="34" charset="-122"/>
                <a:cs typeface="Noto Sans JP" pitchFamily="34" charset="-120"/>
              </a:rPr>
              <a:t>2023</a:t>
            </a:r>
            <a:endParaRPr lang="en-US" sz="2000" dirty="0"/>
          </a:p>
        </p:txBody>
      </p:sp>
      <p:sp>
        <p:nvSpPr>
          <p:cNvPr id="25" name="Text 18"/>
          <p:cNvSpPr/>
          <p:nvPr/>
        </p:nvSpPr>
        <p:spPr>
          <a:xfrm>
            <a:off x="8229600" y="3423890"/>
            <a:ext cx="1574800"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C9C3B8"/>
                </a:solidFill>
                <a:latin typeface="Noto Sans JP" pitchFamily="34" charset="0"/>
                <a:ea typeface="Noto Sans JP" pitchFamily="34" charset="-122"/>
                <a:cs typeface="Noto Sans JP" pitchFamily="34" charset="-120"/>
              </a:rPr>
              <a:t>Workers AI</a:t>
            </a:r>
            <a:endParaRPr lang="en-US" sz="1300" dirty="0"/>
          </a:p>
          <a:p>
            <a:pPr algn="l" indent="0" marL="0">
              <a:lnSpc>
                <a:spcPts val="1950"/>
              </a:lnSpc>
              <a:buNone/>
            </a:pPr>
            <a:r>
              <a:rPr lang="en-US" sz="1300" dirty="0">
                <a:solidFill>
                  <a:srgbClr val="C9C3B8"/>
                </a:solidFill>
                <a:latin typeface="Noto Sans JP" pitchFamily="34" charset="0"/>
                <a:ea typeface="Noto Sans JP" pitchFamily="34" charset="-122"/>
                <a:cs typeface="Noto Sans JP" pitchFamily="34" charset="-120"/>
              </a:rPr>
              <a:t>（GPU を全世界に）</a:t>
            </a:r>
            <a:endParaRPr lang="en-US" sz="1300" dirty="0"/>
          </a:p>
        </p:txBody>
      </p:sp>
      <p:pic>
        <p:nvPicPr>
          <p:cNvPr id="26" name="Image 5" descr="ellipse">    </p:cNvPr>
          <p:cNvPicPr>
            <a:picLocks noChangeAspect="1"/>
          </p:cNvPicPr>
          <p:nvPr/>
        </p:nvPicPr>
        <p:blipFill>
          <a:blip r:embed="rId6"/>
          <a:srcRect l="0" r="0" t="0" b="0"/>
          <a:stretch/>
        </p:blipFill>
        <p:spPr>
          <a:xfrm>
            <a:off x="10033000" y="2712690"/>
            <a:ext cx="203200" cy="203200"/>
          </a:xfrm>
          <a:prstGeom prst="rect">
            <a:avLst/>
          </a:prstGeom>
        </p:spPr>
      </p:pic>
      <p:sp>
        <p:nvSpPr>
          <p:cNvPr id="27" name="Text 19"/>
          <p:cNvSpPr/>
          <p:nvPr/>
        </p:nvSpPr>
        <p:spPr>
          <a:xfrm>
            <a:off x="9779000" y="3042890"/>
            <a:ext cx="16510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F38020"/>
                </a:solidFill>
                <a:latin typeface="Noto Sans JP" pitchFamily="34" charset="0"/>
                <a:ea typeface="Noto Sans JP" pitchFamily="34" charset="-122"/>
                <a:cs typeface="Noto Sans JP" pitchFamily="34" charset="-120"/>
              </a:rPr>
              <a:t>2025–26</a:t>
            </a:r>
            <a:endParaRPr lang="en-US" sz="2000" dirty="0"/>
          </a:p>
        </p:txBody>
      </p:sp>
      <p:sp>
        <p:nvSpPr>
          <p:cNvPr id="28" name="Text 20"/>
          <p:cNvSpPr/>
          <p:nvPr/>
        </p:nvSpPr>
        <p:spPr>
          <a:xfrm>
            <a:off x="9779000" y="3423890"/>
            <a:ext cx="1651000" cy="7683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C9C3B8"/>
                </a:solidFill>
                <a:latin typeface="Noto Sans JP" pitchFamily="34" charset="0"/>
                <a:ea typeface="Noto Sans JP" pitchFamily="34" charset="-122"/>
                <a:cs typeface="Noto Sans JP" pitchFamily="34" charset="-120"/>
              </a:rPr>
              <a:t>MCP・エージェント</a:t>
            </a:r>
            <a:endParaRPr lang="en-US" sz="1300" dirty="0"/>
          </a:p>
          <a:p>
            <a:pPr algn="l" indent="0" marL="0">
              <a:lnSpc>
                <a:spcPts val="1950"/>
              </a:lnSpc>
              <a:buNone/>
            </a:pPr>
            <a:r>
              <a:rPr lang="en-US" sz="1300" dirty="0">
                <a:solidFill>
                  <a:srgbClr val="C9C3B8"/>
                </a:solidFill>
                <a:latin typeface="Noto Sans JP" pitchFamily="34" charset="0"/>
                <a:ea typeface="Noto Sans JP" pitchFamily="34" charset="-122"/>
                <a:cs typeface="Noto Sans JP" pitchFamily="34" charset="-120"/>
              </a:rPr>
              <a:t>AI クローラーへの課金</a:t>
            </a:r>
            <a:endParaRPr lang="en-US" sz="1300" dirty="0"/>
          </a:p>
        </p:txBody>
      </p:sp>
      <p:sp>
        <p:nvSpPr>
          <p:cNvPr id="29" name="Text 21"/>
          <p:cNvSpPr/>
          <p:nvPr/>
        </p:nvSpPr>
        <p:spPr>
          <a:xfrm>
            <a:off x="812800" y="4922490"/>
            <a:ext cx="10883392" cy="716260"/>
          </a:xfrm>
          <a:prstGeom prst="rect">
            <a:avLst/>
          </a:prstGeom>
          <a:noFill/>
          <a:ln/>
        </p:spPr>
        <p:txBody>
          <a:bodyPr wrap="square" lIns="0" tIns="0" rIns="0" bIns="0" rtlCol="0" anchor="t">
            <a:normAutofit/>
          </a:bodyPr>
          <a:lstStyle/>
          <a:p>
            <a:pPr algn="l" indent="0" marL="0">
              <a:lnSpc>
                <a:spcPts val="2720"/>
              </a:lnSpc>
              <a:buNone/>
            </a:pPr>
            <a:r>
              <a:rPr lang="en-US" sz="1700" dirty="0">
                <a:solidFill>
                  <a:srgbClr val="F5F1EA"/>
                </a:solidFill>
                <a:latin typeface="Noto Sans JP" pitchFamily="34" charset="0"/>
                <a:ea typeface="Noto Sans JP" pitchFamily="34" charset="-122"/>
                <a:cs typeface="Noto Sans JP" pitchFamily="34" charset="-120"/>
              </a:rPr>
              <a:t>新しい層は、前の層で集まった</a:t>
            </a:r>
            <a:r>
              <a:rPr lang="en-US" sz="1700" b="1" dirty="0">
                <a:solidFill>
                  <a:srgbClr val="F5F1EA"/>
                </a:solidFill>
                <a:latin typeface="Noto Sans JP" pitchFamily="34" charset="0"/>
                <a:ea typeface="Noto Sans JP" pitchFamily="34" charset="-122"/>
                <a:cs typeface="Noto Sans JP" pitchFamily="34" charset="-120"/>
              </a:rPr>
              <a:t>利用者・トラフィック・世界中の拠点</a:t>
            </a:r>
            <a:r>
              <a:rPr lang="en-US" sz="1700" dirty="0">
                <a:solidFill>
                  <a:srgbClr val="F5F1EA"/>
                </a:solidFill>
                <a:latin typeface="Noto Sans JP" pitchFamily="34" charset="0"/>
                <a:ea typeface="Noto Sans JP" pitchFamily="34" charset="-122"/>
                <a:cs typeface="Noto Sans JP" pitchFamily="34" charset="-120"/>
              </a:rPr>
              <a:t>を土台にしている。以降のスライドで、それぞれの「なぜ」を見ていく</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B4560A"/>
                </a:solidFill>
                <a:latin typeface="Noto Sans JP" pitchFamily="34" charset="0"/>
                <a:ea typeface="Noto Sans JP" pitchFamily="34" charset="-122"/>
                <a:cs typeface="Noto Sans JP" pitchFamily="34" charset="-120"/>
              </a:rPr>
              <a:t>歴史 1　2004–2010</a:t>
            </a:r>
            <a:endParaRPr lang="en-US" sz="1400" dirty="0"/>
          </a:p>
        </p:txBody>
      </p:sp>
      <p:sp>
        <p:nvSpPr>
          <p:cNvPr id="3" name="Text 1"/>
          <p:cNvSpPr/>
          <p:nvPr>
            <p:ph type="title"/>
          </p:nvPr>
        </p:nvSpPr>
        <p:spPr>
          <a:xfrm>
            <a:off x="812800" y="1315690"/>
            <a:ext cx="10883392" cy="533400"/>
          </a:xfrm>
          <a:prstGeom prst="rect">
            <a:avLst/>
          </a:prstGeom>
          <a:noFill/>
          <a:ln/>
        </p:spPr>
        <p:txBody>
          <a:bodyPr wrap="square" lIns="0" tIns="0" rIns="0" bIns="0" rtlCol="0" anchor="t">
            <a:normAutofit/>
          </a:bodyPr>
          <a:lstStyle/>
          <a:p>
            <a:pPr algn="l" indent="0" marL="0">
              <a:lnSpc>
                <a:spcPts val="4000"/>
              </a:lnSpc>
              <a:buNone/>
            </a:pPr>
            <a:r>
              <a:rPr lang="en-US" sz="3200" b="1" i="0" dirty="0">
                <a:solidFill>
                  <a:srgbClr val="1C1F26"/>
                </a:solidFill>
                <a:latin typeface="Noto Sans JP" pitchFamily="34" charset="0"/>
                <a:ea typeface="Noto Sans JP" pitchFamily="34" charset="-122"/>
                <a:cs typeface="Noto Sans JP" pitchFamily="34" charset="-120"/>
              </a:rPr>
              <a:t>スパムを「追跡する」研究から、「止める」会社へ</a:t>
            </a:r>
            <a:endParaRPr lang="en-US" sz="3200" dirty="0"/>
          </a:p>
        </p:txBody>
      </p:sp>
      <p:sp>
        <p:nvSpPr>
          <p:cNvPr id="4" name="Shape 2"/>
          <p:cNvSpPr/>
          <p:nvPr/>
        </p:nvSpPr>
        <p:spPr>
          <a:xfrm>
            <a:off x="815975" y="2080865"/>
            <a:ext cx="6242050" cy="3757960"/>
          </a:xfrm>
          <a:prstGeom prst="roundRect">
            <a:avLst>
              <a:gd name="adj" fmla="val 3295"/>
            </a:avLst>
          </a:prstGeom>
          <a:solidFill>
            <a:srgbClr val="FFFDF9"/>
          </a:solidFill>
          <a:ln w="6350">
            <a:solidFill>
              <a:srgbClr val="E4DDD1"/>
            </a:solidFill>
            <a:prstDash val="solid"/>
          </a:ln>
        </p:spPr>
      </p:sp>
      <p:sp>
        <p:nvSpPr>
          <p:cNvPr id="5" name="Text 3"/>
          <p:cNvSpPr/>
          <p:nvPr/>
        </p:nvSpPr>
        <p:spPr>
          <a:xfrm>
            <a:off x="1123950" y="2388840"/>
            <a:ext cx="5794883"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B59C3"/>
                </a:solidFill>
                <a:latin typeface="Noto Sans JP" pitchFamily="34" charset="0"/>
                <a:ea typeface="Noto Sans JP" pitchFamily="34" charset="-122"/>
                <a:cs typeface="Noto Sans JP" pitchFamily="34" charset="-120"/>
              </a:rPr>
              <a:t>何をしたか</a:t>
            </a:r>
            <a:endParaRPr lang="en-US" sz="1800" dirty="0"/>
          </a:p>
        </p:txBody>
      </p:sp>
      <p:sp>
        <p:nvSpPr>
          <p:cNvPr id="6" name="Text 4"/>
          <p:cNvSpPr/>
          <p:nvPr/>
        </p:nvSpPr>
        <p:spPr>
          <a:xfrm>
            <a:off x="1176020" y="2790130"/>
            <a:ext cx="5735193" cy="1644650"/>
          </a:xfrm>
          <a:prstGeom prst="rect">
            <a:avLst/>
          </a:prstGeom>
          <a:noFill/>
          <a:ln/>
        </p:spPr>
        <p:txBody>
          <a:bodyPr wrap="square" lIns="0" tIns="0" rIns="0" bIns="0" rtlCol="0" anchor="t">
            <a:normAutofit/>
          </a:bodyPr>
          <a:lstStyle/>
          <a:p>
            <a:pPr algn="l" marL="201930" indent="-201930">
              <a:lnSpc>
                <a:spcPts val="2550"/>
              </a:lnSpc>
              <a:buSzPct val="100000"/>
              <a:buChar char="•"/>
            </a:pPr>
            <a:r>
              <a:rPr lang="en-US" sz="1500" dirty="0">
                <a:solidFill>
                  <a:srgbClr val="1C1F26"/>
                </a:solidFill>
                <a:latin typeface="Noto Sans JP" pitchFamily="34" charset="0"/>
                <a:ea typeface="Noto Sans JP" pitchFamily="34" charset="-122"/>
                <a:cs typeface="Noto Sans JP" pitchFamily="34" charset="-120"/>
              </a:rPr>
              <a:t>2004年：創業者の Matthew Prince と Lee Holloway が、スパムの出どころを追う「Project Honey Pot」を開始</a:t>
            </a:r>
            <a:endParaRPr lang="en-US" sz="1500" dirty="0"/>
          </a:p>
          <a:p>
            <a:pPr algn="l" marL="201930" indent="-201930">
              <a:lnSpc>
                <a:spcPts val="2550"/>
              </a:lnSpc>
              <a:buSzPct val="100000"/>
              <a:buChar char="•"/>
            </a:pPr>
            <a:r>
              <a:rPr lang="en-US" sz="1500" dirty="0">
                <a:solidFill>
                  <a:srgbClr val="1C1F26"/>
                </a:solidFill>
                <a:latin typeface="Noto Sans JP" pitchFamily="34" charset="0"/>
                <a:ea typeface="Noto Sans JP" pitchFamily="34" charset="-122"/>
                <a:cs typeface="Noto Sans JP" pitchFamily="34" charset="-120"/>
              </a:rPr>
              <a:t>2009年：Michelle Zatlyn と事業化。名前は「クラウドの中のファイアウォール」から</a:t>
            </a:r>
            <a:endParaRPr lang="en-US" sz="1500" dirty="0"/>
          </a:p>
          <a:p>
            <a:pPr algn="l" marL="201930" indent="-201930">
              <a:lnSpc>
                <a:spcPts val="2550"/>
              </a:lnSpc>
              <a:buSzPct val="100000"/>
              <a:buChar char="•"/>
            </a:pPr>
            <a:r>
              <a:rPr lang="en-US" sz="1500" dirty="0">
                <a:solidFill>
                  <a:srgbClr val="1C1F26"/>
                </a:solidFill>
                <a:latin typeface="Noto Sans JP" pitchFamily="34" charset="0"/>
                <a:ea typeface="Noto Sans JP" pitchFamily="34" charset="-122"/>
                <a:cs typeface="Noto Sans JP" pitchFamily="34" charset="-120"/>
              </a:rPr>
              <a:t>2010年9月：TechCrunch Disrupt で一般公開</a:t>
            </a:r>
            <a:endParaRPr lang="en-US" sz="1500" dirty="0"/>
          </a:p>
        </p:txBody>
      </p:sp>
      <p:sp>
        <p:nvSpPr>
          <p:cNvPr id="7" name="Shape 5"/>
          <p:cNvSpPr/>
          <p:nvPr/>
        </p:nvSpPr>
        <p:spPr>
          <a:xfrm>
            <a:off x="7315200" y="2077690"/>
            <a:ext cx="4064000" cy="3764310"/>
          </a:xfrm>
          <a:prstGeom prst="roundRect">
            <a:avLst>
              <a:gd name="adj" fmla="val 3374"/>
            </a:avLst>
          </a:prstGeom>
          <a:solidFill>
            <a:srgbClr val="1C1F26"/>
          </a:solidFill>
          <a:ln/>
        </p:spPr>
      </p:sp>
      <p:sp>
        <p:nvSpPr>
          <p:cNvPr id="8" name="Text 6"/>
          <p:cNvSpPr/>
          <p:nvPr/>
        </p:nvSpPr>
        <p:spPr>
          <a:xfrm>
            <a:off x="7620000" y="2382490"/>
            <a:ext cx="3558032"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38020"/>
                </a:solidFill>
                <a:latin typeface="Noto Sans JP" pitchFamily="34" charset="0"/>
                <a:ea typeface="Noto Sans JP" pitchFamily="34" charset="-122"/>
                <a:cs typeface="Noto Sans JP" pitchFamily="34" charset="-120"/>
              </a:rPr>
              <a:t>なぜ</a:t>
            </a:r>
            <a:endParaRPr lang="en-US" sz="1800" dirty="0"/>
          </a:p>
        </p:txBody>
      </p:sp>
      <p:sp>
        <p:nvSpPr>
          <p:cNvPr id="9" name="Text 7"/>
          <p:cNvSpPr/>
          <p:nvPr/>
        </p:nvSpPr>
        <p:spPr>
          <a:xfrm>
            <a:off x="7620000" y="2783780"/>
            <a:ext cx="3558032" cy="1407120"/>
          </a:xfrm>
          <a:prstGeom prst="rect">
            <a:avLst/>
          </a:prstGeom>
          <a:noFill/>
          <a:ln/>
        </p:spPr>
        <p:txBody>
          <a:bodyPr wrap="square" lIns="0" tIns="0" rIns="0" bIns="0" rtlCol="0" anchor="t">
            <a:normAutofit/>
          </a:bodyPr>
          <a:lstStyle/>
          <a:p>
            <a:pPr algn="l" indent="0" marL="0">
              <a:lnSpc>
                <a:spcPts val="2720"/>
              </a:lnSpc>
              <a:buNone/>
            </a:pPr>
            <a:r>
              <a:rPr lang="en-US" sz="1600" dirty="0">
                <a:solidFill>
                  <a:srgbClr val="F5F1EA"/>
                </a:solidFill>
                <a:latin typeface="Noto Sans JP" pitchFamily="34" charset="0"/>
                <a:ea typeface="Noto Sans JP" pitchFamily="34" charset="-122"/>
                <a:cs typeface="Noto Sans JP" pitchFamily="34" charset="-120"/>
              </a:rPr>
              <a:t>誰が悪さをしているかは追跡でわかった。次は</a:t>
            </a:r>
            <a:r>
              <a:rPr lang="en-US" sz="1600" b="1" dirty="0">
                <a:solidFill>
                  <a:srgbClr val="F5F1EA"/>
                </a:solidFill>
                <a:latin typeface="Noto Sans JP" pitchFamily="34" charset="0"/>
                <a:ea typeface="Noto Sans JP" pitchFamily="34" charset="-122"/>
                <a:cs typeface="Noto Sans JP" pitchFamily="34" charset="-120"/>
              </a:rPr>
              <a:t>実際に止めたい</a:t>
            </a:r>
            <a:r>
              <a:rPr lang="en-US" sz="1600" dirty="0">
                <a:solidFill>
                  <a:srgbClr val="F5F1EA"/>
                </a:solidFill>
                <a:latin typeface="Noto Sans JP" pitchFamily="34" charset="0"/>
                <a:ea typeface="Noto Sans JP" pitchFamily="34" charset="-122"/>
                <a:cs typeface="Noto Sans JP" pitchFamily="34" charset="-120"/>
              </a:rPr>
              <a:t>。それには、サイトの手前に立ってすべての通信を通す必要があった</a:t>
            </a:r>
            <a:endParaRPr lang="en-US" sz="1600" dirty="0"/>
          </a:p>
        </p:txBody>
      </p:sp>
      <p:sp>
        <p:nvSpPr>
          <p:cNvPr id="10" name="Text 8"/>
          <p:cNvSpPr/>
          <p:nvPr/>
        </p:nvSpPr>
        <p:spPr>
          <a:xfrm>
            <a:off x="7620000" y="4292501"/>
            <a:ext cx="3558032" cy="878780"/>
          </a:xfrm>
          <a:prstGeom prst="rect">
            <a:avLst/>
          </a:prstGeom>
          <a:noFill/>
          <a:ln/>
        </p:spPr>
        <p:txBody>
          <a:bodyPr wrap="square" lIns="0" tIns="0" rIns="0" bIns="0" rtlCol="0" anchor="t">
            <a:normAutofit/>
          </a:bodyPr>
          <a:lstStyle/>
          <a:p>
            <a:pPr algn="l" indent="0" marL="0">
              <a:lnSpc>
                <a:spcPts val="2240"/>
              </a:lnSpc>
              <a:buNone/>
            </a:pPr>
            <a:r>
              <a:rPr lang="en-US" sz="1400" dirty="0">
                <a:solidFill>
                  <a:srgbClr val="C9C3B8"/>
                </a:solidFill>
                <a:latin typeface="Noto Sans JP" pitchFamily="34" charset="0"/>
                <a:ea typeface="Noto Sans JP" pitchFamily="34" charset="-122"/>
                <a:cs typeface="Noto Sans JP" pitchFamily="34" charset="-120"/>
              </a:rPr>
              <a:t>ベータ版の時点で「サイトの表示が平均 30% 速くなった」と報告され、守ると同時に速くもなる構造が見えた</a:t>
            </a:r>
            <a:endParaRPr lang="en-US" sz="1400" dirty="0"/>
          </a:p>
        </p:txBody>
      </p:sp>
      <p:sp>
        <p:nvSpPr>
          <p:cNvPr id="11" name="Text 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080"/>
                </a:solidFill>
                <a:latin typeface="Noto Sans JP" pitchFamily="34" charset="0"/>
                <a:ea typeface="Noto Sans JP" pitchFamily="34" charset="-122"/>
                <a:cs typeface="Noto Sans JP" pitchFamily="34" charset="-120"/>
              </a:rPr>
              <a:t>出典：cloudflare.com/our-story</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B4560A"/>
                </a:solidFill>
                <a:latin typeface="Noto Sans JP" pitchFamily="34" charset="0"/>
                <a:ea typeface="Noto Sans JP" pitchFamily="34" charset="-122"/>
                <a:cs typeface="Noto Sans JP" pitchFamily="34" charset="-120"/>
              </a:rPr>
              <a:t>歴史 2　2014</a:t>
            </a:r>
            <a:endParaRPr lang="en-US" sz="1400" dirty="0"/>
          </a:p>
        </p:txBody>
      </p:sp>
      <p:sp>
        <p:nvSpPr>
          <p:cNvPr id="3" name="Text 1"/>
          <p:cNvSpPr/>
          <p:nvPr>
            <p:ph type="title"/>
          </p:nvPr>
        </p:nvSpPr>
        <p:spPr>
          <a:xfrm>
            <a:off x="812800" y="1315690"/>
            <a:ext cx="10883392" cy="533400"/>
          </a:xfrm>
          <a:prstGeom prst="rect">
            <a:avLst/>
          </a:prstGeom>
          <a:noFill/>
          <a:ln/>
        </p:spPr>
        <p:txBody>
          <a:bodyPr wrap="square" lIns="0" tIns="0" rIns="0" bIns="0" rtlCol="0" anchor="t">
            <a:normAutofit/>
          </a:bodyPr>
          <a:lstStyle/>
          <a:p>
            <a:pPr algn="l" indent="0" marL="0">
              <a:lnSpc>
                <a:spcPts val="4000"/>
              </a:lnSpc>
              <a:buNone/>
            </a:pPr>
            <a:r>
              <a:rPr lang="en-US" sz="3200" b="1" i="0" dirty="0">
                <a:solidFill>
                  <a:srgbClr val="1C1F26"/>
                </a:solidFill>
                <a:latin typeface="Noto Sans JP" pitchFamily="34" charset="0"/>
                <a:ea typeface="Noto Sans JP" pitchFamily="34" charset="-122"/>
                <a:cs typeface="Noto Sans JP" pitchFamily="34" charset="-120"/>
              </a:rPr>
              <a:t>HTTPS を、お金を払わない利用者にも無料で配った</a:t>
            </a:r>
            <a:endParaRPr lang="en-US" sz="3200" dirty="0"/>
          </a:p>
        </p:txBody>
      </p:sp>
      <p:sp>
        <p:nvSpPr>
          <p:cNvPr id="4" name="Shape 2"/>
          <p:cNvSpPr/>
          <p:nvPr/>
        </p:nvSpPr>
        <p:spPr>
          <a:xfrm>
            <a:off x="815975" y="2080865"/>
            <a:ext cx="6242050" cy="3757960"/>
          </a:xfrm>
          <a:prstGeom prst="roundRect">
            <a:avLst>
              <a:gd name="adj" fmla="val 3295"/>
            </a:avLst>
          </a:prstGeom>
          <a:solidFill>
            <a:srgbClr val="FFFDF9"/>
          </a:solidFill>
          <a:ln w="6350">
            <a:solidFill>
              <a:srgbClr val="E4DDD1"/>
            </a:solidFill>
            <a:prstDash val="solid"/>
          </a:ln>
        </p:spPr>
      </p:sp>
      <p:sp>
        <p:nvSpPr>
          <p:cNvPr id="5" name="Text 3"/>
          <p:cNvSpPr/>
          <p:nvPr/>
        </p:nvSpPr>
        <p:spPr>
          <a:xfrm>
            <a:off x="1123950" y="2388840"/>
            <a:ext cx="5794883"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B59C3"/>
                </a:solidFill>
                <a:latin typeface="Noto Sans JP" pitchFamily="34" charset="0"/>
                <a:ea typeface="Noto Sans JP" pitchFamily="34" charset="-122"/>
                <a:cs typeface="Noto Sans JP" pitchFamily="34" charset="-120"/>
              </a:rPr>
              <a:t>何をしたか</a:t>
            </a:r>
            <a:endParaRPr lang="en-US" sz="1800" dirty="0"/>
          </a:p>
        </p:txBody>
      </p:sp>
      <p:sp>
        <p:nvSpPr>
          <p:cNvPr id="6" name="Text 4"/>
          <p:cNvSpPr/>
          <p:nvPr/>
        </p:nvSpPr>
        <p:spPr>
          <a:xfrm>
            <a:off x="1176020" y="2790130"/>
            <a:ext cx="5735193" cy="1644650"/>
          </a:xfrm>
          <a:prstGeom prst="rect">
            <a:avLst/>
          </a:prstGeom>
          <a:noFill/>
          <a:ln/>
        </p:spPr>
        <p:txBody>
          <a:bodyPr wrap="square" lIns="0" tIns="0" rIns="0" bIns="0" rtlCol="0" anchor="t">
            <a:normAutofit/>
          </a:bodyPr>
          <a:lstStyle/>
          <a:p>
            <a:pPr algn="l" marL="201930" indent="-201930">
              <a:lnSpc>
                <a:spcPts val="2550"/>
              </a:lnSpc>
              <a:buSzPct val="100000"/>
              <a:buChar char="•"/>
            </a:pPr>
            <a:r>
              <a:rPr lang="en-US" sz="1500" dirty="0">
                <a:solidFill>
                  <a:srgbClr val="1C1F26"/>
                </a:solidFill>
                <a:latin typeface="Noto Sans JP" pitchFamily="34" charset="0"/>
                <a:ea typeface="Noto Sans JP" pitchFamily="34" charset="-122"/>
                <a:cs typeface="Noto Sans JP" pitchFamily="34" charset="-120"/>
              </a:rPr>
              <a:t>2014年9月「Universal SSL」：無料プランを含む全利用者のサイトを HTTPS（暗号化通信）に</a:t>
            </a:r>
            <a:endParaRPr lang="en-US" sz="1500" dirty="0"/>
          </a:p>
          <a:p>
            <a:pPr algn="l" marL="201930" indent="-201930">
              <a:lnSpc>
                <a:spcPts val="2550"/>
              </a:lnSpc>
              <a:buSzPct val="100000"/>
              <a:buChar char="•"/>
            </a:pPr>
            <a:r>
              <a:rPr lang="en-US" sz="1500" dirty="0">
                <a:solidFill>
                  <a:srgbClr val="1C1F26"/>
                </a:solidFill>
                <a:latin typeface="Noto Sans JP" pitchFamily="34" charset="0"/>
                <a:ea typeface="Noto Sans JP" pitchFamily="34" charset="-122"/>
                <a:cs typeface="Noto Sans JP" pitchFamily="34" charset="-120"/>
              </a:rPr>
              <a:t>同年、人権団体や報道機関を無料で守る「Project Galileo」も開始</a:t>
            </a:r>
            <a:endParaRPr lang="en-US" sz="1500" dirty="0"/>
          </a:p>
          <a:p>
            <a:pPr algn="l" marL="201930" indent="-201930">
              <a:lnSpc>
                <a:spcPts val="2550"/>
              </a:lnSpc>
              <a:buSzPct val="100000"/>
              <a:buChar char="•"/>
            </a:pPr>
            <a:r>
              <a:rPr lang="en-US" sz="1500" dirty="0">
                <a:solidFill>
                  <a:srgbClr val="1C1F26"/>
                </a:solidFill>
                <a:latin typeface="Noto Sans JP" pitchFamily="34" charset="0"/>
                <a:ea typeface="Noto Sans JP" pitchFamily="34" charset="-122"/>
                <a:cs typeface="Noto Sans JP" pitchFamily="34" charset="-120"/>
              </a:rPr>
              <a:t>無料プランは今も続き、利用者の裾野を広げている</a:t>
            </a:r>
            <a:endParaRPr lang="en-US" sz="1500" dirty="0"/>
          </a:p>
        </p:txBody>
      </p:sp>
      <p:sp>
        <p:nvSpPr>
          <p:cNvPr id="7" name="Shape 5"/>
          <p:cNvSpPr/>
          <p:nvPr/>
        </p:nvSpPr>
        <p:spPr>
          <a:xfrm>
            <a:off x="7315200" y="2077690"/>
            <a:ext cx="4064000" cy="3764310"/>
          </a:xfrm>
          <a:prstGeom prst="roundRect">
            <a:avLst>
              <a:gd name="adj" fmla="val 3374"/>
            </a:avLst>
          </a:prstGeom>
          <a:solidFill>
            <a:srgbClr val="1C1F26"/>
          </a:solidFill>
          <a:ln/>
        </p:spPr>
      </p:sp>
      <p:sp>
        <p:nvSpPr>
          <p:cNvPr id="8" name="Text 6"/>
          <p:cNvSpPr/>
          <p:nvPr/>
        </p:nvSpPr>
        <p:spPr>
          <a:xfrm>
            <a:off x="7620000" y="2382490"/>
            <a:ext cx="3558032"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38020"/>
                </a:solidFill>
                <a:latin typeface="Noto Sans JP" pitchFamily="34" charset="0"/>
                <a:ea typeface="Noto Sans JP" pitchFamily="34" charset="-122"/>
                <a:cs typeface="Noto Sans JP" pitchFamily="34" charset="-120"/>
              </a:rPr>
              <a:t>なぜ</a:t>
            </a:r>
            <a:endParaRPr lang="en-US" sz="1800" dirty="0"/>
          </a:p>
        </p:txBody>
      </p:sp>
      <p:sp>
        <p:nvSpPr>
          <p:cNvPr id="9" name="Text 7"/>
          <p:cNvSpPr/>
          <p:nvPr/>
        </p:nvSpPr>
        <p:spPr>
          <a:xfrm>
            <a:off x="7620000" y="2783780"/>
            <a:ext cx="3558032" cy="1407120"/>
          </a:xfrm>
          <a:prstGeom prst="rect">
            <a:avLst/>
          </a:prstGeom>
          <a:noFill/>
          <a:ln/>
        </p:spPr>
        <p:txBody>
          <a:bodyPr wrap="square" lIns="0" tIns="0" rIns="0" bIns="0" rtlCol="0" anchor="t">
            <a:normAutofit/>
          </a:bodyPr>
          <a:lstStyle/>
          <a:p>
            <a:pPr algn="l" indent="0" marL="0">
              <a:lnSpc>
                <a:spcPts val="2720"/>
              </a:lnSpc>
              <a:buNone/>
            </a:pPr>
            <a:r>
              <a:rPr lang="en-US" sz="1600" dirty="0">
                <a:solidFill>
                  <a:srgbClr val="F5F1EA"/>
                </a:solidFill>
                <a:latin typeface="Noto Sans JP" pitchFamily="34" charset="0"/>
                <a:ea typeface="Noto Sans JP" pitchFamily="34" charset="-122"/>
                <a:cs typeface="Noto Sans JP" pitchFamily="34" charset="-120"/>
              </a:rPr>
              <a:t>掲げるミッションは</a:t>
            </a:r>
            <a:r>
              <a:rPr lang="en-US" sz="1600" b="1" dirty="0">
                <a:solidFill>
                  <a:srgbClr val="F5F1EA"/>
                </a:solidFill>
                <a:latin typeface="Noto Sans JP" pitchFamily="34" charset="0"/>
                <a:ea typeface="Noto Sans JP" pitchFamily="34" charset="-122"/>
                <a:cs typeface="Noto Sans JP" pitchFamily="34" charset="-120"/>
              </a:rPr>
              <a:t>「より良いインターネットを作る」</a:t>
            </a:r>
            <a:r>
              <a:rPr lang="en-US" sz="1600" dirty="0">
                <a:solidFill>
                  <a:srgbClr val="F5F1EA"/>
                </a:solidFill>
                <a:latin typeface="Noto Sans JP" pitchFamily="34" charset="0"/>
                <a:ea typeface="Noto Sans JP" pitchFamily="34" charset="-122"/>
                <a:cs typeface="Noto Sans JP" pitchFamily="34" charset="-120"/>
              </a:rPr>
              <a:t>。暗号化されていない通信は、盗み見・検閲・改ざんに弱い</a:t>
            </a:r>
            <a:endParaRPr lang="en-US" sz="1600" dirty="0"/>
          </a:p>
        </p:txBody>
      </p:sp>
      <p:sp>
        <p:nvSpPr>
          <p:cNvPr id="10" name="Text 8"/>
          <p:cNvSpPr/>
          <p:nvPr/>
        </p:nvSpPr>
        <p:spPr>
          <a:xfrm>
            <a:off x="7620000" y="4292501"/>
            <a:ext cx="3558032" cy="878780"/>
          </a:xfrm>
          <a:prstGeom prst="rect">
            <a:avLst/>
          </a:prstGeom>
          <a:noFill/>
          <a:ln/>
        </p:spPr>
        <p:txBody>
          <a:bodyPr wrap="square" lIns="0" tIns="0" rIns="0" bIns="0" rtlCol="0" anchor="t">
            <a:normAutofit/>
          </a:bodyPr>
          <a:lstStyle/>
          <a:p>
            <a:pPr algn="l" indent="0" marL="0">
              <a:lnSpc>
                <a:spcPts val="2240"/>
              </a:lnSpc>
              <a:buNone/>
            </a:pPr>
            <a:r>
              <a:rPr lang="en-US" sz="1400" dirty="0">
                <a:solidFill>
                  <a:srgbClr val="C9C3B8"/>
                </a:solidFill>
                <a:latin typeface="Noto Sans JP" pitchFamily="34" charset="0"/>
                <a:ea typeface="Noto Sans JP" pitchFamily="34" charset="-122"/>
                <a:cs typeface="Noto Sans JP" pitchFamily="34" charset="-120"/>
              </a:rPr>
              <a:t>結果として無料の利用者が大量に集まり、ネットワークに流れるデータが増えるほど、攻撃の検知も賢くなる</a:t>
            </a:r>
            <a:endParaRPr lang="en-US" sz="1400" dirty="0"/>
          </a:p>
        </p:txBody>
      </p:sp>
      <p:sp>
        <p:nvSpPr>
          <p:cNvPr id="11" name="Text 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080"/>
                </a:solidFill>
                <a:latin typeface="Noto Sans JP" pitchFamily="34" charset="0"/>
                <a:ea typeface="Noto Sans JP" pitchFamily="34" charset="-122"/>
                <a:cs typeface="Noto Sans JP" pitchFamily="34" charset="-120"/>
              </a:rPr>
              <a:t>出典：blog.cloudflare.com「Introducing Universal SSL」（2014年9月29日）</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B4560A"/>
                </a:solidFill>
                <a:latin typeface="Noto Sans JP" pitchFamily="34" charset="0"/>
                <a:ea typeface="Noto Sans JP" pitchFamily="34" charset="-122"/>
                <a:cs typeface="Noto Sans JP" pitchFamily="34" charset="-120"/>
              </a:rPr>
              <a:t>歴史 3　2017</a:t>
            </a:r>
            <a:endParaRPr lang="en-US" sz="1400" dirty="0"/>
          </a:p>
        </p:txBody>
      </p:sp>
      <p:sp>
        <p:nvSpPr>
          <p:cNvPr id="3" name="Text 1"/>
          <p:cNvSpPr/>
          <p:nvPr>
            <p:ph type="title"/>
          </p:nvPr>
        </p:nvSpPr>
        <p:spPr>
          <a:xfrm>
            <a:off x="812800" y="1315690"/>
            <a:ext cx="10883392" cy="1041400"/>
          </a:xfrm>
          <a:prstGeom prst="rect">
            <a:avLst/>
          </a:prstGeom>
          <a:noFill/>
          <a:ln/>
        </p:spPr>
        <p:txBody>
          <a:bodyPr wrap="square" lIns="0" tIns="0" rIns="0" bIns="0" rtlCol="0" anchor="t">
            <a:normAutofit/>
          </a:bodyPr>
          <a:lstStyle/>
          <a:p>
            <a:pPr algn="l" indent="0" marL="0">
              <a:lnSpc>
                <a:spcPts val="4000"/>
              </a:lnSpc>
              <a:buNone/>
            </a:pPr>
            <a:r>
              <a:rPr lang="en-US" sz="3200" b="1" i="0" dirty="0">
                <a:solidFill>
                  <a:srgbClr val="1C1F26"/>
                </a:solidFill>
                <a:latin typeface="Noto Sans JP" pitchFamily="34" charset="0"/>
                <a:ea typeface="Noto Sans JP" pitchFamily="34" charset="-122"/>
                <a:cs typeface="Noto Sans JP" pitchFamily="34" charset="-120"/>
              </a:rPr>
              <a:t>Workers：ネットワークそのものを「プログラムできる」ようにした</a:t>
            </a:r>
            <a:endParaRPr lang="en-US" sz="3200" dirty="0"/>
          </a:p>
        </p:txBody>
      </p:sp>
      <p:sp>
        <p:nvSpPr>
          <p:cNvPr id="4" name="Shape 2"/>
          <p:cNvSpPr/>
          <p:nvPr/>
        </p:nvSpPr>
        <p:spPr>
          <a:xfrm>
            <a:off x="815975" y="2588865"/>
            <a:ext cx="6242050" cy="3249960"/>
          </a:xfrm>
          <a:prstGeom prst="roundRect">
            <a:avLst>
              <a:gd name="adj" fmla="val 3810"/>
            </a:avLst>
          </a:prstGeom>
          <a:solidFill>
            <a:srgbClr val="FFFDF9"/>
          </a:solidFill>
          <a:ln w="6350">
            <a:solidFill>
              <a:srgbClr val="E4DDD1"/>
            </a:solidFill>
            <a:prstDash val="solid"/>
          </a:ln>
        </p:spPr>
      </p:sp>
      <p:sp>
        <p:nvSpPr>
          <p:cNvPr id="5" name="Text 3"/>
          <p:cNvSpPr/>
          <p:nvPr/>
        </p:nvSpPr>
        <p:spPr>
          <a:xfrm>
            <a:off x="1123950" y="2896840"/>
            <a:ext cx="5794883"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B59C3"/>
                </a:solidFill>
                <a:latin typeface="Noto Sans JP" pitchFamily="34" charset="0"/>
                <a:ea typeface="Noto Sans JP" pitchFamily="34" charset="-122"/>
                <a:cs typeface="Noto Sans JP" pitchFamily="34" charset="-120"/>
              </a:rPr>
              <a:t>何をしたか</a:t>
            </a:r>
            <a:endParaRPr lang="en-US" sz="1800" dirty="0"/>
          </a:p>
        </p:txBody>
      </p:sp>
      <p:sp>
        <p:nvSpPr>
          <p:cNvPr id="6" name="Text 4"/>
          <p:cNvSpPr/>
          <p:nvPr/>
        </p:nvSpPr>
        <p:spPr>
          <a:xfrm>
            <a:off x="1176020" y="3298130"/>
            <a:ext cx="5735193" cy="1320800"/>
          </a:xfrm>
          <a:prstGeom prst="rect">
            <a:avLst/>
          </a:prstGeom>
          <a:noFill/>
          <a:ln/>
        </p:spPr>
        <p:txBody>
          <a:bodyPr wrap="square" lIns="0" tIns="0" rIns="0" bIns="0" rtlCol="0" anchor="t">
            <a:normAutofit/>
          </a:bodyPr>
          <a:lstStyle/>
          <a:p>
            <a:pPr algn="l" marL="201930" indent="-201930">
              <a:lnSpc>
                <a:spcPts val="2550"/>
              </a:lnSpc>
              <a:buSzPct val="100000"/>
              <a:buChar char="•"/>
            </a:pPr>
            <a:r>
              <a:rPr lang="en-US" sz="1500" dirty="0">
                <a:solidFill>
                  <a:srgbClr val="1C1F26"/>
                </a:solidFill>
                <a:latin typeface="Noto Sans JP" pitchFamily="34" charset="0"/>
                <a:ea typeface="Noto Sans JP" pitchFamily="34" charset="-122"/>
                <a:cs typeface="Noto Sans JP" pitchFamily="34" charset="-120"/>
              </a:rPr>
              <a:t>2017年9月発表、2018年3月に誰でも使えるように</a:t>
            </a:r>
            <a:endParaRPr lang="en-US" sz="1500" dirty="0"/>
          </a:p>
          <a:p>
            <a:pPr algn="l" marL="201930" indent="-201930">
              <a:lnSpc>
                <a:spcPts val="2550"/>
              </a:lnSpc>
              <a:buSzPct val="100000"/>
              <a:buChar char="•"/>
            </a:pPr>
            <a:r>
              <a:rPr lang="en-US" sz="1500" dirty="0">
                <a:solidFill>
                  <a:srgbClr val="1C1F26"/>
                </a:solidFill>
                <a:latin typeface="Noto Sans JP" pitchFamily="34" charset="0"/>
                <a:ea typeface="Noto Sans JP" pitchFamily="34" charset="-122"/>
                <a:cs typeface="Noto Sans JP" pitchFamily="34" charset="-120"/>
              </a:rPr>
              <a:t>世界中のデータセンターで、利用者の JavaScript を直接実行</a:t>
            </a:r>
            <a:endParaRPr lang="en-US" sz="1500" dirty="0"/>
          </a:p>
          <a:p>
            <a:pPr algn="l" marL="201930" indent="-201930">
              <a:lnSpc>
                <a:spcPts val="2550"/>
              </a:lnSpc>
              <a:buSzPct val="100000"/>
              <a:buChar char="•"/>
            </a:pPr>
            <a:r>
              <a:rPr lang="en-US" sz="1500" dirty="0">
                <a:solidFill>
                  <a:srgbClr val="1C1F26"/>
                </a:solidFill>
                <a:latin typeface="Noto Sans JP" pitchFamily="34" charset="0"/>
                <a:ea typeface="Noto Sans JP" pitchFamily="34" charset="-122"/>
                <a:cs typeface="Noto Sans JP" pitchFamily="34" charset="-120"/>
              </a:rPr>
              <a:t>VM やコンテナではなく、Chrome と同じ V8 エンジンの軽い仕組み（isolate）を採用。起動が速く、メモリも少ない</a:t>
            </a:r>
            <a:endParaRPr lang="en-US" sz="1500" dirty="0"/>
          </a:p>
        </p:txBody>
      </p:sp>
      <p:sp>
        <p:nvSpPr>
          <p:cNvPr id="7" name="Shape 5"/>
          <p:cNvSpPr/>
          <p:nvPr/>
        </p:nvSpPr>
        <p:spPr>
          <a:xfrm>
            <a:off x="7315200" y="2585690"/>
            <a:ext cx="4064000" cy="3256310"/>
          </a:xfrm>
          <a:prstGeom prst="roundRect">
            <a:avLst>
              <a:gd name="adj" fmla="val 3900"/>
            </a:avLst>
          </a:prstGeom>
          <a:solidFill>
            <a:srgbClr val="1C1F26"/>
          </a:solidFill>
          <a:ln/>
        </p:spPr>
      </p:sp>
      <p:sp>
        <p:nvSpPr>
          <p:cNvPr id="8" name="Text 6"/>
          <p:cNvSpPr/>
          <p:nvPr/>
        </p:nvSpPr>
        <p:spPr>
          <a:xfrm>
            <a:off x="7620000" y="2890490"/>
            <a:ext cx="3558032" cy="286891"/>
          </a:xfrm>
          <a:prstGeom prst="rect">
            <a:avLst/>
          </a:prstGeom>
          <a:noFill/>
          <a:ln/>
        </p:spPr>
        <p:txBody>
          <a:bodyPr wrap="square" lIns="0" tIns="0" rIns="0" bIns="0" rtlCol="0" anchor="t">
            <a:normAutofit/>
          </a:bodyPr>
          <a:lstStyle/>
          <a:p>
            <a:pPr algn="l" indent="0" marL="0">
              <a:lnSpc>
                <a:spcPts val="2072"/>
              </a:lnSpc>
              <a:buNone/>
            </a:pPr>
            <a:r>
              <a:rPr lang="en-US" sz="1727" b="1" dirty="0">
                <a:solidFill>
                  <a:srgbClr val="F38020"/>
                </a:solidFill>
                <a:latin typeface="Noto Sans JP" pitchFamily="34" charset="0"/>
                <a:ea typeface="Noto Sans JP" pitchFamily="34" charset="-122"/>
                <a:cs typeface="Noto Sans JP" pitchFamily="34" charset="-120"/>
              </a:rPr>
              <a:t>なぜ</a:t>
            </a:r>
            <a:endParaRPr lang="en-US" sz="1727" dirty="0"/>
          </a:p>
        </p:txBody>
      </p:sp>
      <p:sp>
        <p:nvSpPr>
          <p:cNvPr id="9" name="Text 7"/>
          <p:cNvSpPr/>
          <p:nvPr/>
        </p:nvSpPr>
        <p:spPr>
          <a:xfrm>
            <a:off x="7620000" y="3278981"/>
            <a:ext cx="3558032" cy="1342926"/>
          </a:xfrm>
          <a:prstGeom prst="rect">
            <a:avLst/>
          </a:prstGeom>
          <a:noFill/>
          <a:ln/>
        </p:spPr>
        <p:txBody>
          <a:bodyPr wrap="square" lIns="0" tIns="0" rIns="0" bIns="0" rtlCol="0" anchor="t">
            <a:normAutofit/>
          </a:bodyPr>
          <a:lstStyle/>
          <a:p>
            <a:pPr algn="l" indent="0" marL="0">
              <a:lnSpc>
                <a:spcPts val="2593"/>
              </a:lnSpc>
              <a:buNone/>
            </a:pPr>
            <a:r>
              <a:rPr lang="en-US" sz="1525" dirty="0">
                <a:solidFill>
                  <a:srgbClr val="F5F1EA"/>
                </a:solidFill>
                <a:latin typeface="Noto Sans JP" pitchFamily="34" charset="0"/>
                <a:ea typeface="Noto Sans JP" pitchFamily="34" charset="-122"/>
                <a:cs typeface="Noto Sans JP" pitchFamily="34" charset="-120"/>
              </a:rPr>
              <a:t>顧客の要望（独自のキャッシュや振り分けのルールなど）は多様すぎて、</a:t>
            </a:r>
            <a:r>
              <a:rPr lang="en-US" sz="1525" b="1" dirty="0">
                <a:solidFill>
                  <a:srgbClr val="F5F1EA"/>
                </a:solidFill>
                <a:latin typeface="Noto Sans JP" pitchFamily="34" charset="0"/>
                <a:ea typeface="Noto Sans JP" pitchFamily="34" charset="-122"/>
                <a:cs typeface="Noto Sans JP" pitchFamily="34" charset="-120"/>
              </a:rPr>
              <a:t>決まった機能を増やすだけでは追いつかなかった</a:t>
            </a:r>
            <a:endParaRPr lang="en-US" sz="1525" dirty="0"/>
          </a:p>
        </p:txBody>
      </p:sp>
      <p:sp>
        <p:nvSpPr>
          <p:cNvPr id="10" name="Text 8"/>
          <p:cNvSpPr/>
          <p:nvPr/>
        </p:nvSpPr>
        <p:spPr>
          <a:xfrm>
            <a:off x="7620000" y="4723507"/>
            <a:ext cx="3558032" cy="839093"/>
          </a:xfrm>
          <a:prstGeom prst="rect">
            <a:avLst/>
          </a:prstGeom>
          <a:noFill/>
          <a:ln/>
        </p:spPr>
        <p:txBody>
          <a:bodyPr wrap="square" lIns="0" tIns="0" rIns="0" bIns="0" rtlCol="0" anchor="t">
            <a:normAutofit/>
          </a:bodyPr>
          <a:lstStyle/>
          <a:p>
            <a:pPr algn="l" indent="0" marL="0">
              <a:lnSpc>
                <a:spcPts val="2219"/>
              </a:lnSpc>
              <a:buNone/>
            </a:pPr>
            <a:r>
              <a:rPr lang="en-US" sz="1387" dirty="0">
                <a:solidFill>
                  <a:srgbClr val="C9C3B8"/>
                </a:solidFill>
                <a:latin typeface="Noto Sans JP" pitchFamily="34" charset="0"/>
                <a:ea typeface="Noto Sans JP" pitchFamily="34" charset="-122"/>
                <a:cs typeface="Noto Sans JP" pitchFamily="34" charset="-120"/>
              </a:rPr>
              <a:t>なら顧客に自分でコードを書いてもらえばいい。全拠点で動かすには、VM は重すぎた</a:t>
            </a:r>
            <a:endParaRPr lang="en-US" sz="1387" dirty="0"/>
          </a:p>
        </p:txBody>
      </p:sp>
      <p:sp>
        <p:nvSpPr>
          <p:cNvPr id="11" name="Text 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080"/>
                </a:solidFill>
                <a:latin typeface="Noto Sans JP" pitchFamily="34" charset="0"/>
                <a:ea typeface="Noto Sans JP" pitchFamily="34" charset="-122"/>
                <a:cs typeface="Noto Sans JP" pitchFamily="34" charset="-120"/>
              </a:rPr>
              <a:t>出典：blog.cloudflare.com「Introducing Cloudflare Workers」（2017年9月29日）</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B4560A"/>
                </a:solidFill>
                <a:latin typeface="Noto Sans JP" pitchFamily="34" charset="0"/>
                <a:ea typeface="Noto Sans JP" pitchFamily="34" charset="-122"/>
                <a:cs typeface="Noto Sans JP" pitchFamily="34" charset="-120"/>
              </a:rPr>
              <a:t>歴史 4　2018–2021</a:t>
            </a:r>
            <a:endParaRPr lang="en-US" sz="1400" dirty="0"/>
          </a:p>
        </p:txBody>
      </p:sp>
      <p:sp>
        <p:nvSpPr>
          <p:cNvPr id="3" name="Text 1"/>
          <p:cNvSpPr/>
          <p:nvPr>
            <p:ph type="title"/>
          </p:nvPr>
        </p:nvSpPr>
        <p:spPr>
          <a:xfrm>
            <a:off x="812800" y="1315690"/>
            <a:ext cx="10883392" cy="533400"/>
          </a:xfrm>
          <a:prstGeom prst="rect">
            <a:avLst/>
          </a:prstGeom>
          <a:noFill/>
          <a:ln/>
        </p:spPr>
        <p:txBody>
          <a:bodyPr wrap="square" lIns="0" tIns="0" rIns="0" bIns="0" rtlCol="0" anchor="t">
            <a:normAutofit/>
          </a:bodyPr>
          <a:lstStyle/>
          <a:p>
            <a:pPr algn="l" indent="0" marL="0">
              <a:lnSpc>
                <a:spcPts val="4000"/>
              </a:lnSpc>
              <a:buNone/>
            </a:pPr>
            <a:r>
              <a:rPr lang="en-US" sz="3200" b="1" i="0" dirty="0">
                <a:solidFill>
                  <a:srgbClr val="1C1F26"/>
                </a:solidFill>
                <a:latin typeface="Noto Sans JP" pitchFamily="34" charset="0"/>
                <a:ea typeface="Noto Sans JP" pitchFamily="34" charset="-122"/>
                <a:cs typeface="Noto Sans JP" pitchFamily="34" charset="-120"/>
              </a:rPr>
              <a:t>コードの次は、データもエッジに置けるようにした</a:t>
            </a:r>
            <a:endParaRPr lang="en-US" sz="3200" dirty="0"/>
          </a:p>
        </p:txBody>
      </p:sp>
      <p:sp>
        <p:nvSpPr>
          <p:cNvPr id="4" name="Shape 2"/>
          <p:cNvSpPr/>
          <p:nvPr/>
        </p:nvSpPr>
        <p:spPr>
          <a:xfrm>
            <a:off x="815975" y="2080865"/>
            <a:ext cx="6242050" cy="3757960"/>
          </a:xfrm>
          <a:prstGeom prst="roundRect">
            <a:avLst>
              <a:gd name="adj" fmla="val 3295"/>
            </a:avLst>
          </a:prstGeom>
          <a:solidFill>
            <a:srgbClr val="FFFDF9"/>
          </a:solidFill>
          <a:ln w="6350">
            <a:solidFill>
              <a:srgbClr val="E4DDD1"/>
            </a:solidFill>
            <a:prstDash val="solid"/>
          </a:ln>
        </p:spPr>
      </p:sp>
      <p:sp>
        <p:nvSpPr>
          <p:cNvPr id="5" name="Text 3"/>
          <p:cNvSpPr/>
          <p:nvPr/>
        </p:nvSpPr>
        <p:spPr>
          <a:xfrm>
            <a:off x="1123950" y="2388840"/>
            <a:ext cx="5794883"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B59C3"/>
                </a:solidFill>
                <a:latin typeface="Noto Sans JP" pitchFamily="34" charset="0"/>
                <a:ea typeface="Noto Sans JP" pitchFamily="34" charset="-122"/>
                <a:cs typeface="Noto Sans JP" pitchFamily="34" charset="-120"/>
              </a:rPr>
              <a:t>何をしたか</a:t>
            </a:r>
            <a:endParaRPr lang="en-US" sz="1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1136650" y="2802830"/>
          <a:ext cx="5613400" cy="1544042"/>
        </p:xfrm>
        <a:graphic>
          <a:graphicData uri="http://schemas.openxmlformats.org/drawingml/2006/table">
            <a:tbl>
              <a:tblPr/>
              <a:tblGrid>
                <a:gridCol w="1234948"/>
                <a:gridCol w="4378452"/>
              </a:tblGrid>
              <a:tr h="386011">
                <a:tc>
                  <a:txBody>
                    <a:bodyPr/>
                    <a:lstStyle/>
                    <a:p>
                      <a:pPr indent="0" marL="0">
                        <a:lnSpc>
                          <a:spcPts val="1960"/>
                        </a:lnSpc>
                        <a:buNone/>
                      </a:pPr>
                      <a:r>
                        <a:rPr lang="en-US" sz="1400" b="1" dirty="0">
                          <a:solidFill>
                            <a:srgbClr val="1C1F26"/>
                          </a:solidFill>
                          <a:latin typeface="Noto Sans JP" pitchFamily="34" charset="0"/>
                          <a:ea typeface="Noto Sans JP" pitchFamily="34" charset="-122"/>
                          <a:cs typeface="Noto Sans JP" pitchFamily="34" charset="-120"/>
                        </a:rPr>
                        <a:t>年</a:t>
                      </a:r>
                      <a:endParaRPr lang="en-US" sz="1400" dirty="0">
                        <a:latin typeface="Noto Sans JP" charset="0"/>
                        <a:ea typeface="Noto Sans JP" charset="0"/>
                        <a:cs typeface="Noto Sans JP"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BCBBB8"/>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CBBB8"/>
                      </a:solidFill>
                      <a:prstDash val="solid"/>
                      <a:round/>
                      <a:headEnd type="none" w="med" len="med"/>
                      <a:tailEnd type="none" w="med" len="med"/>
                    </a:lnB>
                    <a:solidFill>
                      <a:srgbClr val="ECEAE7"/>
                    </a:solidFill>
                  </a:tcPr>
                </a:tc>
                <a:tc>
                  <a:txBody>
                    <a:bodyPr/>
                    <a:lstStyle/>
                    <a:p>
                      <a:pPr indent="0" marL="0">
                        <a:lnSpc>
                          <a:spcPts val="1960"/>
                        </a:lnSpc>
                        <a:buNone/>
                      </a:pPr>
                      <a:r>
                        <a:rPr lang="en-US" sz="1400" b="1" dirty="0">
                          <a:solidFill>
                            <a:srgbClr val="1C1F26"/>
                          </a:solidFill>
                          <a:latin typeface="Noto Sans JP" pitchFamily="34" charset="0"/>
                          <a:ea typeface="Noto Sans JP" pitchFamily="34" charset="-122"/>
                          <a:cs typeface="Noto Sans JP" pitchFamily="34" charset="-120"/>
                        </a:rPr>
                        <a:t>サービス</a:t>
                      </a:r>
                      <a:endParaRPr lang="en-US" sz="1400" dirty="0">
                        <a:latin typeface="Noto Sans JP" charset="0"/>
                        <a:ea typeface="Noto Sans JP" charset="0"/>
                        <a:cs typeface="Noto Sans JP" charset="0"/>
                      </a:endParaRPr>
                    </a:p>
                  </a:txBody>
                  <a:tcPr marL="62230" marR="62230" marT="62230" marB="62230" anchor="t">
                    <a:lnL w="12700" cap="flat" cmpd="sng" algn="ctr">
                      <a:solidFill>
                        <a:srgbClr val="BCBBB8"/>
                      </a:solidFill>
                      <a:prstDash val="solid"/>
                      <a:round/>
                      <a:headEnd type="none" w="med" len="med"/>
                      <a:tailEnd type="none" w="med" len="med"/>
                    </a:lnL>
                    <a:lnR w="12700" cap="flat" cmpd="sng" algn="ctr">
                      <a:solidFill>
                        <a:srgbClr val="BCBBB8"/>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CBBB8"/>
                      </a:solidFill>
                      <a:prstDash val="solid"/>
                      <a:round/>
                      <a:headEnd type="none" w="med" len="med"/>
                      <a:tailEnd type="none" w="med" len="med"/>
                    </a:lnB>
                    <a:solidFill>
                      <a:srgbClr val="ECEAE7"/>
                    </a:solidFill>
                  </a:tcPr>
                </a:tc>
              </a:tr>
              <a:tr h="386011">
                <a:tc>
                  <a:txBody>
                    <a:bodyPr/>
                    <a:lstStyle/>
                    <a:p>
                      <a:pPr indent="0" marL="0">
                        <a:lnSpc>
                          <a:spcPts val="1960"/>
                        </a:lnSpc>
                        <a:buNone/>
                      </a:pPr>
                      <a:r>
                        <a:rPr lang="en-US" sz="1400" dirty="0">
                          <a:solidFill>
                            <a:srgbClr val="1C1F26"/>
                          </a:solidFill>
                          <a:latin typeface="Noto Sans JP" pitchFamily="34" charset="0"/>
                          <a:ea typeface="Noto Sans JP" pitchFamily="34" charset="-122"/>
                          <a:cs typeface="Noto Sans JP" pitchFamily="34" charset="-120"/>
                        </a:rPr>
                        <a:t>2018</a:t>
                      </a:r>
                      <a:endParaRPr lang="en-US" sz="1400" dirty="0">
                        <a:latin typeface="Noto Sans JP" charset="0"/>
                        <a:ea typeface="Noto Sans JP" charset="0"/>
                        <a:cs typeface="Noto Sans JP"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CBBB8"/>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960"/>
                        </a:lnSpc>
                        <a:buNone/>
                      </a:pPr>
                      <a:r>
                        <a:rPr lang="en-US" sz="1400" dirty="0">
                          <a:solidFill>
                            <a:srgbClr val="1C1F26"/>
                          </a:solidFill>
                          <a:latin typeface="Noto Sans JP" pitchFamily="34" charset="0"/>
                          <a:ea typeface="Noto Sans JP" pitchFamily="34" charset="-122"/>
                          <a:cs typeface="Noto Sans JP" pitchFamily="34" charset="-120"/>
                        </a:rPr>
                        <a:t>1.1.1.1（速くて記録を残さない DNS）、Workers KV</a:t>
                      </a:r>
                      <a:endParaRPr lang="en-US" sz="1400" dirty="0">
                        <a:latin typeface="Noto Sans JP" charset="0"/>
                        <a:ea typeface="Noto Sans JP" charset="0"/>
                        <a:cs typeface="Noto Sans JP"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CBBB8"/>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386011">
                <a:tc>
                  <a:txBody>
                    <a:bodyPr/>
                    <a:lstStyle/>
                    <a:p>
                      <a:pPr indent="0" marL="0">
                        <a:lnSpc>
                          <a:spcPts val="1960"/>
                        </a:lnSpc>
                        <a:buNone/>
                      </a:pPr>
                      <a:r>
                        <a:rPr lang="en-US" sz="1400" dirty="0">
                          <a:solidFill>
                            <a:srgbClr val="1C1F26"/>
                          </a:solidFill>
                          <a:latin typeface="Noto Sans JP" pitchFamily="34" charset="0"/>
                          <a:ea typeface="Noto Sans JP" pitchFamily="34" charset="-122"/>
                          <a:cs typeface="Noto Sans JP" pitchFamily="34" charset="-120"/>
                        </a:rPr>
                        <a:t>2020</a:t>
                      </a:r>
                      <a:endParaRPr lang="en-US" sz="1400" dirty="0">
                        <a:latin typeface="Noto Sans JP" charset="0"/>
                        <a:ea typeface="Noto Sans JP" charset="0"/>
                        <a:cs typeface="Noto Sans JP"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960"/>
                        </a:lnSpc>
                        <a:buNone/>
                      </a:pPr>
                      <a:r>
                        <a:rPr lang="en-US" sz="1400" dirty="0">
                          <a:solidFill>
                            <a:srgbClr val="1C1F26"/>
                          </a:solidFill>
                          <a:latin typeface="Noto Sans JP" pitchFamily="34" charset="0"/>
                          <a:ea typeface="Noto Sans JP" pitchFamily="34" charset="-122"/>
                          <a:cs typeface="Noto Sans JP" pitchFamily="34" charset="-120"/>
                        </a:rPr>
                        <a:t>Durable Objects（状態を持てる Workers）</a:t>
                      </a:r>
                      <a:endParaRPr lang="en-US" sz="1400" dirty="0">
                        <a:latin typeface="Noto Sans JP" charset="0"/>
                        <a:ea typeface="Noto Sans JP" charset="0"/>
                        <a:cs typeface="Noto Sans JP"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386011">
                <a:tc>
                  <a:txBody>
                    <a:bodyPr/>
                    <a:lstStyle/>
                    <a:p>
                      <a:pPr indent="0" marL="0">
                        <a:lnSpc>
                          <a:spcPts val="1960"/>
                        </a:lnSpc>
                        <a:buNone/>
                      </a:pPr>
                      <a:r>
                        <a:rPr lang="en-US" sz="1400" dirty="0">
                          <a:solidFill>
                            <a:srgbClr val="1C1F26"/>
                          </a:solidFill>
                          <a:latin typeface="Noto Sans JP" pitchFamily="34" charset="0"/>
                          <a:ea typeface="Noto Sans JP" pitchFamily="34" charset="-122"/>
                          <a:cs typeface="Noto Sans JP" pitchFamily="34" charset="-120"/>
                        </a:rPr>
                        <a:t>2021</a:t>
                      </a:r>
                      <a:endParaRPr lang="en-US" sz="1400" dirty="0">
                        <a:latin typeface="Noto Sans JP" charset="0"/>
                        <a:ea typeface="Noto Sans JP" charset="0"/>
                        <a:cs typeface="Noto Sans JP"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960"/>
                        </a:lnSpc>
                        <a:buNone/>
                      </a:pPr>
                      <a:r>
                        <a:rPr lang="en-US" sz="1400" dirty="0">
                          <a:solidFill>
                            <a:srgbClr val="1C1F26"/>
                          </a:solidFill>
                          <a:latin typeface="Noto Sans JP" pitchFamily="34" charset="0"/>
                          <a:ea typeface="Noto Sans JP" pitchFamily="34" charset="-122"/>
                          <a:cs typeface="Noto Sans JP" pitchFamily="34" charset="-120"/>
                        </a:rPr>
                        <a:t>Pages（Web サイト公開）、R2（ファイル保存）</a:t>
                      </a:r>
                      <a:endParaRPr lang="en-US" sz="1400" dirty="0">
                        <a:latin typeface="Noto Sans JP" charset="0"/>
                        <a:ea typeface="Noto Sans JP" charset="0"/>
                        <a:cs typeface="Noto Sans JP"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bl>
          </a:graphicData>
        </a:graphic>
      </p:graphicFrame>
      <p:sp>
        <p:nvSpPr>
          <p:cNvPr id="7" name="Shape 4"/>
          <p:cNvSpPr/>
          <p:nvPr/>
        </p:nvSpPr>
        <p:spPr>
          <a:xfrm>
            <a:off x="7315200" y="2077690"/>
            <a:ext cx="4064000" cy="3764310"/>
          </a:xfrm>
          <a:prstGeom prst="roundRect">
            <a:avLst>
              <a:gd name="adj" fmla="val 3374"/>
            </a:avLst>
          </a:prstGeom>
          <a:solidFill>
            <a:srgbClr val="1C1F26"/>
          </a:solidFill>
          <a:ln/>
        </p:spPr>
      </p:sp>
      <p:sp>
        <p:nvSpPr>
          <p:cNvPr id="8" name="Text 5"/>
          <p:cNvSpPr/>
          <p:nvPr/>
        </p:nvSpPr>
        <p:spPr>
          <a:xfrm>
            <a:off x="7620000" y="2382490"/>
            <a:ext cx="3558032"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38020"/>
                </a:solidFill>
                <a:latin typeface="Noto Sans JP" pitchFamily="34" charset="0"/>
                <a:ea typeface="Noto Sans JP" pitchFamily="34" charset="-122"/>
                <a:cs typeface="Noto Sans JP" pitchFamily="34" charset="-120"/>
              </a:rPr>
              <a:t>なぜ</a:t>
            </a:r>
            <a:endParaRPr lang="en-US" sz="1800" dirty="0"/>
          </a:p>
        </p:txBody>
      </p:sp>
      <p:sp>
        <p:nvSpPr>
          <p:cNvPr id="9" name="Text 6"/>
          <p:cNvSpPr/>
          <p:nvPr/>
        </p:nvSpPr>
        <p:spPr>
          <a:xfrm>
            <a:off x="7620000" y="2783780"/>
            <a:ext cx="3558032" cy="1061690"/>
          </a:xfrm>
          <a:prstGeom prst="rect">
            <a:avLst/>
          </a:prstGeom>
          <a:noFill/>
          <a:ln/>
        </p:spPr>
        <p:txBody>
          <a:bodyPr wrap="square" lIns="0" tIns="0" rIns="0" bIns="0" rtlCol="0" anchor="t">
            <a:normAutofit/>
          </a:bodyPr>
          <a:lstStyle/>
          <a:p>
            <a:pPr algn="l" indent="0" marL="0">
              <a:lnSpc>
                <a:spcPts val="2720"/>
              </a:lnSpc>
              <a:buNone/>
            </a:pPr>
            <a:r>
              <a:rPr lang="en-US" sz="1600" dirty="0">
                <a:solidFill>
                  <a:srgbClr val="F5F1EA"/>
                </a:solidFill>
                <a:latin typeface="Noto Sans JP" pitchFamily="34" charset="0"/>
                <a:ea typeface="Noto Sans JP" pitchFamily="34" charset="-122"/>
                <a:cs typeface="Noto Sans JP" pitchFamily="34" charset="-120"/>
              </a:rPr>
              <a:t>アプリはコードだけでは作れない。</a:t>
            </a:r>
            <a:r>
              <a:rPr lang="en-US" sz="1600" b="1" dirty="0">
                <a:solidFill>
                  <a:srgbClr val="F5F1EA"/>
                </a:solidFill>
                <a:latin typeface="Noto Sans JP" pitchFamily="34" charset="0"/>
                <a:ea typeface="Noto Sans JP" pitchFamily="34" charset="-122"/>
                <a:cs typeface="Noto Sans JP" pitchFamily="34" charset="-120"/>
              </a:rPr>
              <a:t>データが遠くにあると、エッジで動かしても速くならない</a:t>
            </a:r>
            <a:endParaRPr lang="en-US" sz="1600" dirty="0"/>
          </a:p>
        </p:txBody>
      </p:sp>
      <p:sp>
        <p:nvSpPr>
          <p:cNvPr id="10" name="Text 7"/>
          <p:cNvSpPr/>
          <p:nvPr/>
        </p:nvSpPr>
        <p:spPr>
          <a:xfrm>
            <a:off x="7620000" y="3947071"/>
            <a:ext cx="3558032" cy="878780"/>
          </a:xfrm>
          <a:prstGeom prst="rect">
            <a:avLst/>
          </a:prstGeom>
          <a:noFill/>
          <a:ln/>
        </p:spPr>
        <p:txBody>
          <a:bodyPr wrap="square" lIns="0" tIns="0" rIns="0" bIns="0" rtlCol="0" anchor="t">
            <a:normAutofit/>
          </a:bodyPr>
          <a:lstStyle/>
          <a:p>
            <a:pPr algn="l" indent="0" marL="0">
              <a:lnSpc>
                <a:spcPts val="2240"/>
              </a:lnSpc>
              <a:buNone/>
            </a:pPr>
            <a:r>
              <a:rPr lang="en-US" sz="1400" dirty="0">
                <a:solidFill>
                  <a:srgbClr val="C9C3B8"/>
                </a:solidFill>
                <a:latin typeface="Noto Sans JP" pitchFamily="34" charset="0"/>
                <a:ea typeface="Noto Sans JP" pitchFamily="34" charset="-122"/>
                <a:cs typeface="Noto Sans JP" pitchFamily="34" charset="-120"/>
              </a:rPr>
              <a:t>R2 は他社クラウドの「データを取り出すたびにかかる料金（エグレス料金）」をなくすことを売りにした</a:t>
            </a:r>
            <a:endParaRPr lang="en-US" sz="1400" dirty="0"/>
          </a:p>
        </p:txBody>
      </p:sp>
      <p:sp>
        <p:nvSpPr>
          <p:cNvPr id="11" name="Text 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080"/>
                </a:solidFill>
                <a:latin typeface="Noto Sans JP" pitchFamily="34" charset="0"/>
                <a:ea typeface="Noto Sans JP" pitchFamily="34" charset="-122"/>
                <a:cs typeface="Noto Sans JP" pitchFamily="34" charset="-120"/>
              </a:rPr>
              <a:t>出典：blog.cloudflare.com「Announcing 1.1.1.1」（2018年4月1日）、「Introducing R2」（2021年9月28日）</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B4560A"/>
                </a:solidFill>
                <a:latin typeface="Noto Sans JP" pitchFamily="34" charset="0"/>
                <a:ea typeface="Noto Sans JP" pitchFamily="34" charset="-122"/>
                <a:cs typeface="Noto Sans JP" pitchFamily="34" charset="-120"/>
              </a:rPr>
              <a:t>歴史 5　2020</a:t>
            </a:r>
            <a:endParaRPr lang="en-US" sz="1400" dirty="0"/>
          </a:p>
        </p:txBody>
      </p:sp>
      <p:sp>
        <p:nvSpPr>
          <p:cNvPr id="3" name="Text 1"/>
          <p:cNvSpPr/>
          <p:nvPr>
            <p:ph type="title"/>
          </p:nvPr>
        </p:nvSpPr>
        <p:spPr>
          <a:xfrm>
            <a:off x="812800" y="1315690"/>
            <a:ext cx="10883392" cy="1041400"/>
          </a:xfrm>
          <a:prstGeom prst="rect">
            <a:avLst/>
          </a:prstGeom>
          <a:noFill/>
          <a:ln/>
        </p:spPr>
        <p:txBody>
          <a:bodyPr wrap="square" lIns="0" tIns="0" rIns="0" bIns="0" rtlCol="0" anchor="t">
            <a:normAutofit/>
          </a:bodyPr>
          <a:lstStyle/>
          <a:p>
            <a:pPr algn="l" indent="0" marL="0">
              <a:lnSpc>
                <a:spcPts val="4000"/>
              </a:lnSpc>
              <a:buNone/>
            </a:pPr>
            <a:r>
              <a:rPr lang="en-US" sz="3200" b="1" i="0" dirty="0">
                <a:solidFill>
                  <a:srgbClr val="1C1F26"/>
                </a:solidFill>
                <a:latin typeface="Noto Sans JP" pitchFamily="34" charset="0"/>
                <a:ea typeface="Noto Sans JP" pitchFamily="34" charset="-122"/>
                <a:cs typeface="Noto Sans JP" pitchFamily="34" charset="-120"/>
              </a:rPr>
              <a:t>Cloudflare One：会社の VPN を、ネットワーク側で置き換えた</a:t>
            </a:r>
            <a:endParaRPr lang="en-US" sz="3200" dirty="0"/>
          </a:p>
        </p:txBody>
      </p:sp>
      <p:sp>
        <p:nvSpPr>
          <p:cNvPr id="4" name="Shape 2"/>
          <p:cNvSpPr/>
          <p:nvPr/>
        </p:nvSpPr>
        <p:spPr>
          <a:xfrm>
            <a:off x="815975" y="2588865"/>
            <a:ext cx="6242050" cy="3249960"/>
          </a:xfrm>
          <a:prstGeom prst="roundRect">
            <a:avLst>
              <a:gd name="adj" fmla="val 3810"/>
            </a:avLst>
          </a:prstGeom>
          <a:solidFill>
            <a:srgbClr val="FFFDF9"/>
          </a:solidFill>
          <a:ln w="6350">
            <a:solidFill>
              <a:srgbClr val="E4DDD1"/>
            </a:solidFill>
            <a:prstDash val="solid"/>
          </a:ln>
        </p:spPr>
      </p:sp>
      <p:sp>
        <p:nvSpPr>
          <p:cNvPr id="5" name="Text 3"/>
          <p:cNvSpPr/>
          <p:nvPr/>
        </p:nvSpPr>
        <p:spPr>
          <a:xfrm>
            <a:off x="1123950" y="2896840"/>
            <a:ext cx="5794883"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B59C3"/>
                </a:solidFill>
                <a:latin typeface="Noto Sans JP" pitchFamily="34" charset="0"/>
                <a:ea typeface="Noto Sans JP" pitchFamily="34" charset="-122"/>
                <a:cs typeface="Noto Sans JP" pitchFamily="34" charset="-120"/>
              </a:rPr>
              <a:t>何をしたか</a:t>
            </a:r>
            <a:endParaRPr lang="en-US" sz="1800" dirty="0"/>
          </a:p>
        </p:txBody>
      </p:sp>
      <p:sp>
        <p:nvSpPr>
          <p:cNvPr id="6" name="Text 4"/>
          <p:cNvSpPr/>
          <p:nvPr/>
        </p:nvSpPr>
        <p:spPr>
          <a:xfrm>
            <a:off x="1176020" y="3298130"/>
            <a:ext cx="5735193" cy="1320800"/>
          </a:xfrm>
          <a:prstGeom prst="rect">
            <a:avLst/>
          </a:prstGeom>
          <a:noFill/>
          <a:ln/>
        </p:spPr>
        <p:txBody>
          <a:bodyPr wrap="square" lIns="0" tIns="0" rIns="0" bIns="0" rtlCol="0" anchor="t">
            <a:normAutofit/>
          </a:bodyPr>
          <a:lstStyle/>
          <a:p>
            <a:pPr algn="l" marL="201930" indent="-201930">
              <a:lnSpc>
                <a:spcPts val="2550"/>
              </a:lnSpc>
              <a:buSzPct val="100000"/>
              <a:buChar char="•"/>
            </a:pPr>
            <a:r>
              <a:rPr lang="en-US" sz="1500" dirty="0">
                <a:solidFill>
                  <a:srgbClr val="1C1F26"/>
                </a:solidFill>
                <a:latin typeface="Noto Sans JP" pitchFamily="34" charset="0"/>
                <a:ea typeface="Noto Sans JP" pitchFamily="34" charset="-122"/>
                <a:cs typeface="Noto Sans JP" pitchFamily="34" charset="-120"/>
              </a:rPr>
              <a:t>2020年10月に発表。社員・拠点・社内アプリを一つのネットワークでつなぐ</a:t>
            </a:r>
            <a:endParaRPr lang="en-US" sz="1500" dirty="0"/>
          </a:p>
          <a:p>
            <a:pPr algn="l" marL="201930" indent="-201930">
              <a:lnSpc>
                <a:spcPts val="2550"/>
              </a:lnSpc>
              <a:buSzPct val="100000"/>
              <a:buChar char="•"/>
            </a:pPr>
            <a:r>
              <a:rPr lang="en-US" sz="1500" dirty="0">
                <a:solidFill>
                  <a:srgbClr val="1C1F26"/>
                </a:solidFill>
                <a:latin typeface="Noto Sans JP" pitchFamily="34" charset="0"/>
                <a:ea typeface="Noto Sans JP" pitchFamily="34" charset="-122"/>
                <a:cs typeface="Noto Sans JP" pitchFamily="34" charset="-120"/>
              </a:rPr>
              <a:t>「社内にいれば安全」ではなく、毎回「誰が・どの端末で」を確認する </a:t>
            </a:r>
            <a:r>
              <a:rPr lang="en-US" sz="1500" b="1" dirty="0">
                <a:solidFill>
                  <a:srgbClr val="1C1F26"/>
                </a:solidFill>
                <a:latin typeface="Noto Sans JP" pitchFamily="34" charset="0"/>
                <a:ea typeface="Noto Sans JP" pitchFamily="34" charset="-122"/>
                <a:cs typeface="Noto Sans JP" pitchFamily="34" charset="-120"/>
              </a:rPr>
              <a:t>Zero Trust</a:t>
            </a:r>
            <a:r>
              <a:rPr lang="en-US" sz="1500" dirty="0">
                <a:solidFill>
                  <a:srgbClr val="1C1F26"/>
                </a:solidFill>
                <a:latin typeface="Noto Sans JP" pitchFamily="34" charset="0"/>
                <a:ea typeface="Noto Sans JP" pitchFamily="34" charset="-122"/>
                <a:cs typeface="Noto Sans JP" pitchFamily="34" charset="-120"/>
              </a:rPr>
              <a:t> の考え方</a:t>
            </a:r>
            <a:endParaRPr lang="en-US" sz="1500" dirty="0"/>
          </a:p>
        </p:txBody>
      </p:sp>
      <p:sp>
        <p:nvSpPr>
          <p:cNvPr id="7" name="Shape 5"/>
          <p:cNvSpPr/>
          <p:nvPr/>
        </p:nvSpPr>
        <p:spPr>
          <a:xfrm>
            <a:off x="7315200" y="2585690"/>
            <a:ext cx="4064000" cy="3256310"/>
          </a:xfrm>
          <a:prstGeom prst="roundRect">
            <a:avLst>
              <a:gd name="adj" fmla="val 3900"/>
            </a:avLst>
          </a:prstGeom>
          <a:solidFill>
            <a:srgbClr val="1C1F26"/>
          </a:solidFill>
          <a:ln/>
        </p:spPr>
      </p:sp>
      <p:sp>
        <p:nvSpPr>
          <p:cNvPr id="8" name="Text 6"/>
          <p:cNvSpPr/>
          <p:nvPr/>
        </p:nvSpPr>
        <p:spPr>
          <a:xfrm>
            <a:off x="7620000" y="2890490"/>
            <a:ext cx="3558032"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38020"/>
                </a:solidFill>
                <a:latin typeface="Noto Sans JP" pitchFamily="34" charset="0"/>
                <a:ea typeface="Noto Sans JP" pitchFamily="34" charset="-122"/>
                <a:cs typeface="Noto Sans JP" pitchFamily="34" charset="-120"/>
              </a:rPr>
              <a:t>なぜ</a:t>
            </a:r>
            <a:endParaRPr lang="en-US" sz="1800" dirty="0"/>
          </a:p>
        </p:txBody>
      </p:sp>
      <p:sp>
        <p:nvSpPr>
          <p:cNvPr id="9" name="Text 7"/>
          <p:cNvSpPr/>
          <p:nvPr/>
        </p:nvSpPr>
        <p:spPr>
          <a:xfrm>
            <a:off x="7620000" y="3291780"/>
            <a:ext cx="3558032" cy="1061690"/>
          </a:xfrm>
          <a:prstGeom prst="rect">
            <a:avLst/>
          </a:prstGeom>
          <a:noFill/>
          <a:ln/>
        </p:spPr>
        <p:txBody>
          <a:bodyPr wrap="square" lIns="0" tIns="0" rIns="0" bIns="0" rtlCol="0" anchor="t">
            <a:normAutofit/>
          </a:bodyPr>
          <a:lstStyle/>
          <a:p>
            <a:pPr algn="l" indent="0" marL="0">
              <a:lnSpc>
                <a:spcPts val="2720"/>
              </a:lnSpc>
              <a:buNone/>
            </a:pPr>
            <a:r>
              <a:rPr lang="en-US" sz="1600" dirty="0">
                <a:solidFill>
                  <a:srgbClr val="F5F1EA"/>
                </a:solidFill>
                <a:latin typeface="Noto Sans JP" pitchFamily="34" charset="0"/>
                <a:ea typeface="Noto Sans JP" pitchFamily="34" charset="-122"/>
                <a:cs typeface="Noto Sans JP" pitchFamily="34" charset="-120"/>
              </a:rPr>
              <a:t>パンデミックで全員がリモートワークになり、</a:t>
            </a:r>
            <a:r>
              <a:rPr lang="en-US" sz="1600" b="1" dirty="0">
                <a:solidFill>
                  <a:srgbClr val="F5F1EA"/>
                </a:solidFill>
                <a:latin typeface="Noto Sans JP" pitchFamily="34" charset="0"/>
                <a:ea typeface="Noto Sans JP" pitchFamily="34" charset="-122"/>
                <a:cs typeface="Noto Sans JP" pitchFamily="34" charset="-120"/>
              </a:rPr>
              <a:t>「会社の城と堀」で守るやり方が成り立たなくなった</a:t>
            </a:r>
            <a:endParaRPr lang="en-US" sz="1600" dirty="0"/>
          </a:p>
        </p:txBody>
      </p:sp>
      <p:sp>
        <p:nvSpPr>
          <p:cNvPr id="10" name="Text 8"/>
          <p:cNvSpPr/>
          <p:nvPr/>
        </p:nvSpPr>
        <p:spPr>
          <a:xfrm>
            <a:off x="7620000" y="4455071"/>
            <a:ext cx="3558032" cy="594320"/>
          </a:xfrm>
          <a:prstGeom prst="rect">
            <a:avLst/>
          </a:prstGeom>
          <a:noFill/>
          <a:ln/>
        </p:spPr>
        <p:txBody>
          <a:bodyPr wrap="square" lIns="0" tIns="0" rIns="0" bIns="0" rtlCol="0" anchor="t">
            <a:normAutofit/>
          </a:bodyPr>
          <a:lstStyle/>
          <a:p>
            <a:pPr algn="l" indent="0" marL="0">
              <a:lnSpc>
                <a:spcPts val="2240"/>
              </a:lnSpc>
              <a:buNone/>
            </a:pPr>
            <a:r>
              <a:rPr lang="en-US" sz="1400" dirty="0">
                <a:solidFill>
                  <a:srgbClr val="C9C3B8"/>
                </a:solidFill>
                <a:latin typeface="Noto Sans JP" pitchFamily="34" charset="0"/>
                <a:ea typeface="Noto Sans JP" pitchFamily="34" charset="-122"/>
                <a:cs typeface="Noto Sans JP" pitchFamily="34" charset="-120"/>
              </a:rPr>
              <a:t>Web サイトを守るために作ったネットワークを、社員の通信を守ることに転用できた</a:t>
            </a:r>
            <a:endParaRPr lang="en-US" sz="1400" dirty="0"/>
          </a:p>
        </p:txBody>
      </p:sp>
      <p:sp>
        <p:nvSpPr>
          <p:cNvPr id="11" name="Text 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080"/>
                </a:solidFill>
                <a:latin typeface="Noto Sans JP" pitchFamily="34" charset="0"/>
                <a:ea typeface="Noto Sans JP" pitchFamily="34" charset="-122"/>
                <a:cs typeface="Noto Sans JP" pitchFamily="34" charset="-120"/>
              </a:rPr>
              <a:t>出典：blog.cloudflare.com「Introducing Cloudflare One」（2020年10月12日）</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B4560A"/>
                </a:solidFill>
                <a:latin typeface="Noto Sans JP" pitchFamily="34" charset="0"/>
                <a:ea typeface="Noto Sans JP" pitchFamily="34" charset="-122"/>
                <a:cs typeface="Noto Sans JP" pitchFamily="34" charset="-120"/>
              </a:rPr>
              <a:t>歴史 6　2023</a:t>
            </a:r>
            <a:endParaRPr lang="en-US" sz="1400" dirty="0"/>
          </a:p>
        </p:txBody>
      </p:sp>
      <p:sp>
        <p:nvSpPr>
          <p:cNvPr id="3" name="Text 1"/>
          <p:cNvSpPr/>
          <p:nvPr>
            <p:ph type="title"/>
          </p:nvPr>
        </p:nvSpPr>
        <p:spPr>
          <a:xfrm>
            <a:off x="812800" y="1315690"/>
            <a:ext cx="10883392" cy="533400"/>
          </a:xfrm>
          <a:prstGeom prst="rect">
            <a:avLst/>
          </a:prstGeom>
          <a:noFill/>
          <a:ln/>
        </p:spPr>
        <p:txBody>
          <a:bodyPr wrap="square" lIns="0" tIns="0" rIns="0" bIns="0" rtlCol="0" anchor="t">
            <a:normAutofit/>
          </a:bodyPr>
          <a:lstStyle/>
          <a:p>
            <a:pPr algn="l" indent="0" marL="0">
              <a:lnSpc>
                <a:spcPts val="4000"/>
              </a:lnSpc>
              <a:buNone/>
            </a:pPr>
            <a:r>
              <a:rPr lang="en-US" sz="3200" b="1" i="0" dirty="0">
                <a:solidFill>
                  <a:srgbClr val="1C1F26"/>
                </a:solidFill>
                <a:latin typeface="Noto Sans JP" pitchFamily="34" charset="0"/>
                <a:ea typeface="Noto Sans JP" pitchFamily="34" charset="-122"/>
                <a:cs typeface="Noto Sans JP" pitchFamily="34" charset="-120"/>
              </a:rPr>
              <a:t>Workers AI：世界中のデータセンターに GPU を置いた</a:t>
            </a:r>
            <a:endParaRPr lang="en-US" sz="3200" dirty="0"/>
          </a:p>
        </p:txBody>
      </p:sp>
      <p:sp>
        <p:nvSpPr>
          <p:cNvPr id="4" name="Shape 2"/>
          <p:cNvSpPr/>
          <p:nvPr/>
        </p:nvSpPr>
        <p:spPr>
          <a:xfrm>
            <a:off x="815975" y="2080865"/>
            <a:ext cx="6242050" cy="3757960"/>
          </a:xfrm>
          <a:prstGeom prst="roundRect">
            <a:avLst>
              <a:gd name="adj" fmla="val 3295"/>
            </a:avLst>
          </a:prstGeom>
          <a:solidFill>
            <a:srgbClr val="FFFDF9"/>
          </a:solidFill>
          <a:ln w="6350">
            <a:solidFill>
              <a:srgbClr val="E4DDD1"/>
            </a:solidFill>
            <a:prstDash val="solid"/>
          </a:ln>
        </p:spPr>
      </p:sp>
      <p:sp>
        <p:nvSpPr>
          <p:cNvPr id="5" name="Text 3"/>
          <p:cNvSpPr/>
          <p:nvPr/>
        </p:nvSpPr>
        <p:spPr>
          <a:xfrm>
            <a:off x="1123950" y="2388840"/>
            <a:ext cx="5794883"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B59C3"/>
                </a:solidFill>
                <a:latin typeface="Noto Sans JP" pitchFamily="34" charset="0"/>
                <a:ea typeface="Noto Sans JP" pitchFamily="34" charset="-122"/>
                <a:cs typeface="Noto Sans JP" pitchFamily="34" charset="-120"/>
              </a:rPr>
              <a:t>何をしたか（2023年9月に同時発表）</a:t>
            </a:r>
            <a:endParaRPr lang="en-US" sz="1800" dirty="0"/>
          </a:p>
        </p:txBody>
      </p:sp>
      <p:sp>
        <p:nvSpPr>
          <p:cNvPr id="6" name="Text 4"/>
          <p:cNvSpPr/>
          <p:nvPr/>
        </p:nvSpPr>
        <p:spPr>
          <a:xfrm>
            <a:off x="1176020" y="2790130"/>
            <a:ext cx="5735193" cy="1644650"/>
          </a:xfrm>
          <a:prstGeom prst="rect">
            <a:avLst/>
          </a:prstGeom>
          <a:noFill/>
          <a:ln/>
        </p:spPr>
        <p:txBody>
          <a:bodyPr wrap="square" lIns="0" tIns="0" rIns="0" bIns="0" rtlCol="0" anchor="t">
            <a:normAutofit/>
          </a:bodyPr>
          <a:lstStyle/>
          <a:p>
            <a:pPr algn="l" marL="201930" indent="-201930">
              <a:lnSpc>
                <a:spcPts val="2550"/>
              </a:lnSpc>
              <a:buSzPct val="100000"/>
              <a:buChar char="•"/>
            </a:pPr>
            <a:r>
              <a:rPr lang="en-US" sz="1500" b="1" dirty="0">
                <a:solidFill>
                  <a:srgbClr val="1C1F26"/>
                </a:solidFill>
                <a:latin typeface="Noto Sans JP" pitchFamily="34" charset="0"/>
                <a:ea typeface="Noto Sans JP" pitchFamily="34" charset="-122"/>
                <a:cs typeface="Noto Sans JP" pitchFamily="34" charset="-120"/>
              </a:rPr>
              <a:t>Workers AI</a:t>
            </a:r>
            <a:r>
              <a:rPr lang="en-US" sz="1500" dirty="0">
                <a:solidFill>
                  <a:srgbClr val="1C1F26"/>
                </a:solidFill>
                <a:latin typeface="Noto Sans JP" pitchFamily="34" charset="0"/>
                <a:ea typeface="Noto Sans JP" pitchFamily="34" charset="-122"/>
                <a:cs typeface="Noto Sans JP" pitchFamily="34" charset="-120"/>
              </a:rPr>
              <a:t>：オープンなモデルを、Workers から 1 行で呼べる</a:t>
            </a:r>
            <a:endParaRPr lang="en-US" sz="1500" dirty="0"/>
          </a:p>
          <a:p>
            <a:pPr algn="l" marL="201930" indent="-201930">
              <a:lnSpc>
                <a:spcPts val="2550"/>
              </a:lnSpc>
              <a:buSzPct val="100000"/>
              <a:buChar char="•"/>
            </a:pPr>
            <a:r>
              <a:rPr lang="en-US" sz="1500" b="1" dirty="0">
                <a:solidFill>
                  <a:srgbClr val="1C1F26"/>
                </a:solidFill>
                <a:latin typeface="Noto Sans JP" pitchFamily="34" charset="0"/>
                <a:ea typeface="Noto Sans JP" pitchFamily="34" charset="-122"/>
                <a:cs typeface="Noto Sans JP" pitchFamily="34" charset="-120"/>
              </a:rPr>
              <a:t>Vectorize</a:t>
            </a:r>
            <a:r>
              <a:rPr lang="en-US" sz="1500" dirty="0">
                <a:solidFill>
                  <a:srgbClr val="1C1F26"/>
                </a:solidFill>
                <a:latin typeface="Noto Sans JP" pitchFamily="34" charset="0"/>
                <a:ea typeface="Noto Sans JP" pitchFamily="34" charset="-122"/>
                <a:cs typeface="Noto Sans JP" pitchFamily="34" charset="-120"/>
              </a:rPr>
              <a:t>：RAG に使うベクトルデータベース</a:t>
            </a:r>
            <a:endParaRPr lang="en-US" sz="1500" dirty="0"/>
          </a:p>
          <a:p>
            <a:pPr algn="l" marL="201930" indent="-201930">
              <a:lnSpc>
                <a:spcPts val="2550"/>
              </a:lnSpc>
              <a:buSzPct val="100000"/>
              <a:buChar char="•"/>
            </a:pPr>
            <a:r>
              <a:rPr lang="en-US" sz="1500" b="1" dirty="0">
                <a:solidFill>
                  <a:srgbClr val="1C1F26"/>
                </a:solidFill>
                <a:latin typeface="Noto Sans JP" pitchFamily="34" charset="0"/>
                <a:ea typeface="Noto Sans JP" pitchFamily="34" charset="-122"/>
                <a:cs typeface="Noto Sans JP" pitchFamily="34" charset="-120"/>
              </a:rPr>
              <a:t>AI Gateway</a:t>
            </a:r>
            <a:r>
              <a:rPr lang="en-US" sz="1500" dirty="0">
                <a:solidFill>
                  <a:srgbClr val="1C1F26"/>
                </a:solidFill>
                <a:latin typeface="Noto Sans JP" pitchFamily="34" charset="0"/>
                <a:ea typeface="Noto Sans JP" pitchFamily="34" charset="-122"/>
                <a:cs typeface="Noto Sans JP" pitchFamily="34" charset="-120"/>
              </a:rPr>
              <a:t>：OpenAI など外部 AI への通信をまとめて記録・キャッシュ・制限</a:t>
            </a:r>
            <a:endParaRPr lang="en-US" sz="1500" dirty="0"/>
          </a:p>
        </p:txBody>
      </p:sp>
      <p:sp>
        <p:nvSpPr>
          <p:cNvPr id="7" name="Shape 5"/>
          <p:cNvSpPr/>
          <p:nvPr/>
        </p:nvSpPr>
        <p:spPr>
          <a:xfrm>
            <a:off x="7315200" y="2077690"/>
            <a:ext cx="4064000" cy="3764310"/>
          </a:xfrm>
          <a:prstGeom prst="roundRect">
            <a:avLst>
              <a:gd name="adj" fmla="val 3374"/>
            </a:avLst>
          </a:prstGeom>
          <a:solidFill>
            <a:srgbClr val="1C1F26"/>
          </a:solidFill>
          <a:ln/>
        </p:spPr>
      </p:sp>
      <p:sp>
        <p:nvSpPr>
          <p:cNvPr id="8" name="Text 6"/>
          <p:cNvSpPr/>
          <p:nvPr/>
        </p:nvSpPr>
        <p:spPr>
          <a:xfrm>
            <a:off x="7620000" y="2382490"/>
            <a:ext cx="3558032"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38020"/>
                </a:solidFill>
                <a:latin typeface="Noto Sans JP" pitchFamily="34" charset="0"/>
                <a:ea typeface="Noto Sans JP" pitchFamily="34" charset="-122"/>
                <a:cs typeface="Noto Sans JP" pitchFamily="34" charset="-120"/>
              </a:rPr>
              <a:t>なぜ</a:t>
            </a:r>
            <a:endParaRPr lang="en-US" sz="1800" dirty="0"/>
          </a:p>
        </p:txBody>
      </p:sp>
      <p:sp>
        <p:nvSpPr>
          <p:cNvPr id="9" name="Text 7"/>
          <p:cNvSpPr/>
          <p:nvPr/>
        </p:nvSpPr>
        <p:spPr>
          <a:xfrm>
            <a:off x="7620000" y="2783780"/>
            <a:ext cx="3558032" cy="1061690"/>
          </a:xfrm>
          <a:prstGeom prst="rect">
            <a:avLst/>
          </a:prstGeom>
          <a:noFill/>
          <a:ln/>
        </p:spPr>
        <p:txBody>
          <a:bodyPr wrap="square" lIns="0" tIns="0" rIns="0" bIns="0" rtlCol="0" anchor="t">
            <a:normAutofit/>
          </a:bodyPr>
          <a:lstStyle/>
          <a:p>
            <a:pPr algn="l" indent="0" marL="0">
              <a:lnSpc>
                <a:spcPts val="2720"/>
              </a:lnSpc>
              <a:buNone/>
            </a:pPr>
            <a:r>
              <a:rPr lang="en-US" sz="1600" dirty="0">
                <a:solidFill>
                  <a:srgbClr val="F5F1EA"/>
                </a:solidFill>
                <a:latin typeface="Noto Sans JP" pitchFamily="34" charset="0"/>
                <a:ea typeface="Noto Sans JP" pitchFamily="34" charset="-122"/>
                <a:cs typeface="Noto Sans JP" pitchFamily="34" charset="-120"/>
              </a:rPr>
              <a:t>AI を使うには </a:t>
            </a:r>
            <a:r>
              <a:rPr lang="en-US" sz="1600" b="1" dirty="0">
                <a:solidFill>
                  <a:srgbClr val="F5F1EA"/>
                </a:solidFill>
                <a:latin typeface="Noto Sans JP" pitchFamily="34" charset="0"/>
                <a:ea typeface="Noto Sans JP" pitchFamily="34" charset="-122"/>
                <a:cs typeface="Noto Sans JP" pitchFamily="34" charset="-120"/>
              </a:rPr>
              <a:t>GPU の確保とインフラの専門知識</a:t>
            </a:r>
            <a:r>
              <a:rPr lang="en-US" sz="1600" dirty="0">
                <a:solidFill>
                  <a:srgbClr val="F5F1EA"/>
                </a:solidFill>
                <a:latin typeface="Noto Sans JP" pitchFamily="34" charset="0"/>
                <a:ea typeface="Noto Sans JP" pitchFamily="34" charset="-122"/>
                <a:cs typeface="Noto Sans JP" pitchFamily="34" charset="-120"/>
              </a:rPr>
              <a:t>が必要で、多くの開発者には壁だった</a:t>
            </a:r>
            <a:endParaRPr lang="en-US" sz="1600" dirty="0"/>
          </a:p>
        </p:txBody>
      </p:sp>
      <p:sp>
        <p:nvSpPr>
          <p:cNvPr id="10" name="Text 8"/>
          <p:cNvSpPr/>
          <p:nvPr/>
        </p:nvSpPr>
        <p:spPr>
          <a:xfrm>
            <a:off x="7620000" y="3947071"/>
            <a:ext cx="3558032" cy="878780"/>
          </a:xfrm>
          <a:prstGeom prst="rect">
            <a:avLst/>
          </a:prstGeom>
          <a:noFill/>
          <a:ln/>
        </p:spPr>
        <p:txBody>
          <a:bodyPr wrap="square" lIns="0" tIns="0" rIns="0" bIns="0" rtlCol="0" anchor="t">
            <a:normAutofit/>
          </a:bodyPr>
          <a:lstStyle/>
          <a:p>
            <a:pPr algn="l" indent="0" marL="0">
              <a:lnSpc>
                <a:spcPts val="2240"/>
              </a:lnSpc>
              <a:buNone/>
            </a:pPr>
            <a:r>
              <a:rPr lang="en-US" sz="1400" dirty="0">
                <a:solidFill>
                  <a:srgbClr val="C9C3B8"/>
                </a:solidFill>
                <a:latin typeface="Noto Sans JP" pitchFamily="34" charset="0"/>
                <a:ea typeface="Noto Sans JP" pitchFamily="34" charset="-122"/>
                <a:cs typeface="Noto Sans JP" pitchFamily="34" charset="-120"/>
              </a:rPr>
              <a:t>すでに Workers という「コードを動かす場所」があったので、そこに GPU を足せば、開発者は追加の準備なしに AI を使える</a:t>
            </a:r>
            <a:endParaRPr lang="en-US" sz="1400" dirty="0"/>
          </a:p>
        </p:txBody>
      </p:sp>
      <p:sp>
        <p:nvSpPr>
          <p:cNvPr id="11" name="Text 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080"/>
                </a:solidFill>
                <a:latin typeface="Noto Sans JP" pitchFamily="34" charset="0"/>
                <a:ea typeface="Noto Sans JP" pitchFamily="34" charset="-122"/>
                <a:cs typeface="Noto Sans JP" pitchFamily="34" charset="-120"/>
              </a:rPr>
              <a:t>出典：blog.cloudflare.com「Workers AI: serverless GPU-powered inference on Cloudflare's global network」（2023年9月27日）</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B4560A"/>
                </a:solidFill>
                <a:latin typeface="Noto Sans JP" pitchFamily="34" charset="0"/>
                <a:ea typeface="Noto Sans JP" pitchFamily="34" charset="-122"/>
                <a:cs typeface="Noto Sans JP" pitchFamily="34" charset="-120"/>
              </a:rPr>
              <a:t>歴史 7　2025</a:t>
            </a:r>
            <a:endParaRPr lang="en-US" sz="1400" dirty="0"/>
          </a:p>
        </p:txBody>
      </p:sp>
      <p:sp>
        <p:nvSpPr>
          <p:cNvPr id="3" name="Text 1"/>
          <p:cNvSpPr/>
          <p:nvPr>
            <p:ph type="title"/>
          </p:nvPr>
        </p:nvSpPr>
        <p:spPr>
          <a:xfrm>
            <a:off x="812800" y="1315690"/>
            <a:ext cx="10883392" cy="1041400"/>
          </a:xfrm>
          <a:prstGeom prst="rect">
            <a:avLst/>
          </a:prstGeom>
          <a:noFill/>
          <a:ln/>
        </p:spPr>
        <p:txBody>
          <a:bodyPr wrap="square" lIns="0" tIns="0" rIns="0" bIns="0" rtlCol="0" anchor="t">
            <a:normAutofit/>
          </a:bodyPr>
          <a:lstStyle/>
          <a:p>
            <a:pPr algn="l" indent="0" marL="0">
              <a:lnSpc>
                <a:spcPts val="4000"/>
              </a:lnSpc>
              <a:buNone/>
            </a:pPr>
            <a:r>
              <a:rPr lang="en-US" sz="3200" b="1" i="0" dirty="0">
                <a:solidFill>
                  <a:srgbClr val="1C1F26"/>
                </a:solidFill>
                <a:latin typeface="Noto Sans JP" pitchFamily="34" charset="0"/>
                <a:ea typeface="Noto Sans JP" pitchFamily="34" charset="-122"/>
                <a:cs typeface="Noto Sans JP" pitchFamily="34" charset="-120"/>
              </a:rPr>
              <a:t>リモート MCP とエージェント：AI に「手足」を配れる場所になった</a:t>
            </a:r>
            <a:endParaRPr lang="en-US" sz="3200" dirty="0"/>
          </a:p>
        </p:txBody>
      </p:sp>
      <p:sp>
        <p:nvSpPr>
          <p:cNvPr id="4" name="Shape 2"/>
          <p:cNvSpPr/>
          <p:nvPr/>
        </p:nvSpPr>
        <p:spPr>
          <a:xfrm>
            <a:off x="815975" y="2588865"/>
            <a:ext cx="6242050" cy="3249960"/>
          </a:xfrm>
          <a:prstGeom prst="roundRect">
            <a:avLst>
              <a:gd name="adj" fmla="val 3810"/>
            </a:avLst>
          </a:prstGeom>
          <a:solidFill>
            <a:srgbClr val="FFFDF9"/>
          </a:solidFill>
          <a:ln w="6350">
            <a:solidFill>
              <a:srgbClr val="E4DDD1"/>
            </a:solidFill>
            <a:prstDash val="solid"/>
          </a:ln>
        </p:spPr>
      </p:sp>
      <p:sp>
        <p:nvSpPr>
          <p:cNvPr id="5" name="Text 3"/>
          <p:cNvSpPr/>
          <p:nvPr/>
        </p:nvSpPr>
        <p:spPr>
          <a:xfrm>
            <a:off x="1123950" y="2896840"/>
            <a:ext cx="5794883"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B59C3"/>
                </a:solidFill>
                <a:latin typeface="Noto Sans JP" pitchFamily="34" charset="0"/>
                <a:ea typeface="Noto Sans JP" pitchFamily="34" charset="-122"/>
                <a:cs typeface="Noto Sans JP" pitchFamily="34" charset="-120"/>
              </a:rPr>
              <a:t>何をしたか</a:t>
            </a:r>
            <a:endParaRPr lang="en-US" sz="1800" dirty="0"/>
          </a:p>
        </p:txBody>
      </p:sp>
      <p:sp>
        <p:nvSpPr>
          <p:cNvPr id="6" name="Text 4"/>
          <p:cNvSpPr/>
          <p:nvPr/>
        </p:nvSpPr>
        <p:spPr>
          <a:xfrm>
            <a:off x="1176020" y="3298130"/>
            <a:ext cx="5735193" cy="1644650"/>
          </a:xfrm>
          <a:prstGeom prst="rect">
            <a:avLst/>
          </a:prstGeom>
          <a:noFill/>
          <a:ln/>
        </p:spPr>
        <p:txBody>
          <a:bodyPr wrap="square" lIns="0" tIns="0" rIns="0" bIns="0" rtlCol="0" anchor="t">
            <a:normAutofit/>
          </a:bodyPr>
          <a:lstStyle/>
          <a:p>
            <a:pPr algn="l" marL="201930" indent="-201930">
              <a:lnSpc>
                <a:spcPts val="2550"/>
              </a:lnSpc>
              <a:buSzPct val="100000"/>
              <a:buChar char="•"/>
            </a:pPr>
            <a:r>
              <a:rPr lang="en-US" sz="1500" dirty="0">
                <a:solidFill>
                  <a:srgbClr val="1C1F26"/>
                </a:solidFill>
                <a:latin typeface="Noto Sans JP" pitchFamily="34" charset="0"/>
                <a:ea typeface="Noto Sans JP" pitchFamily="34" charset="-122"/>
                <a:cs typeface="Noto Sans JP" pitchFamily="34" charset="-120"/>
              </a:rPr>
              <a:t>2025年3月：インターネット越しに使える</a:t>
            </a:r>
            <a:r>
              <a:rPr lang="en-US" sz="1500" b="1" dirty="0">
                <a:solidFill>
                  <a:srgbClr val="1C1F26"/>
                </a:solidFill>
                <a:latin typeface="Noto Sans JP" pitchFamily="34" charset="0"/>
                <a:ea typeface="Noto Sans JP" pitchFamily="34" charset="-122"/>
                <a:cs typeface="Noto Sans JP" pitchFamily="34" charset="-120"/>
              </a:rPr>
              <a:t>リモート MCP サーバー</a:t>
            </a:r>
            <a:r>
              <a:rPr lang="en-US" sz="1500" dirty="0">
                <a:solidFill>
                  <a:srgbClr val="1C1F26"/>
                </a:solidFill>
                <a:latin typeface="Noto Sans JP" pitchFamily="34" charset="0"/>
                <a:ea typeface="Noto Sans JP" pitchFamily="34" charset="-122"/>
                <a:cs typeface="Noto Sans JP" pitchFamily="34" charset="-120"/>
              </a:rPr>
              <a:t>を、Workers で作って公開できるように</a:t>
            </a:r>
            <a:endParaRPr lang="en-US" sz="1500" dirty="0"/>
          </a:p>
          <a:p>
            <a:pPr algn="l" marL="201930" indent="-201930">
              <a:lnSpc>
                <a:spcPts val="2550"/>
              </a:lnSpc>
              <a:buSzPct val="100000"/>
              <a:buChar char="•"/>
            </a:pPr>
            <a:r>
              <a:rPr lang="en-US" sz="1500" dirty="0">
                <a:solidFill>
                  <a:srgbClr val="1C1F26"/>
                </a:solidFill>
                <a:latin typeface="Noto Sans JP" pitchFamily="34" charset="0"/>
                <a:ea typeface="Noto Sans JP" pitchFamily="34" charset="-122"/>
                <a:cs typeface="Noto Sans JP" pitchFamily="34" charset="-120"/>
              </a:rPr>
              <a:t>ログイン（OAuth）の仕組みもライブラリで用意</a:t>
            </a:r>
            <a:endParaRPr lang="en-US" sz="1500" dirty="0"/>
          </a:p>
          <a:p>
            <a:pPr algn="l" marL="201930" indent="-201930">
              <a:lnSpc>
                <a:spcPts val="2550"/>
              </a:lnSpc>
              <a:buSzPct val="100000"/>
              <a:buChar char="•"/>
            </a:pPr>
            <a:r>
              <a:rPr lang="en-US" sz="1500" dirty="0">
                <a:solidFill>
                  <a:srgbClr val="1C1F26"/>
                </a:solidFill>
                <a:latin typeface="Noto Sans JP" pitchFamily="34" charset="0"/>
                <a:ea typeface="Noto Sans JP" pitchFamily="34" charset="-122"/>
                <a:cs typeface="Noto Sans JP" pitchFamily="34" charset="-120"/>
              </a:rPr>
              <a:t>Agents SDK：会話の記憶や予定実行を持つ AI エージェントを Workers 上で作れる</a:t>
            </a:r>
            <a:endParaRPr lang="en-US" sz="1500" dirty="0"/>
          </a:p>
        </p:txBody>
      </p:sp>
      <p:sp>
        <p:nvSpPr>
          <p:cNvPr id="7" name="Shape 5"/>
          <p:cNvSpPr/>
          <p:nvPr/>
        </p:nvSpPr>
        <p:spPr>
          <a:xfrm>
            <a:off x="7315200" y="2585690"/>
            <a:ext cx="4064000" cy="3256310"/>
          </a:xfrm>
          <a:prstGeom prst="roundRect">
            <a:avLst>
              <a:gd name="adj" fmla="val 3900"/>
            </a:avLst>
          </a:prstGeom>
          <a:solidFill>
            <a:srgbClr val="1C1F26"/>
          </a:solidFill>
          <a:ln/>
        </p:spPr>
      </p:sp>
      <p:sp>
        <p:nvSpPr>
          <p:cNvPr id="8" name="Text 6"/>
          <p:cNvSpPr/>
          <p:nvPr/>
        </p:nvSpPr>
        <p:spPr>
          <a:xfrm>
            <a:off x="7620000" y="2890490"/>
            <a:ext cx="3558032"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38020"/>
                </a:solidFill>
                <a:latin typeface="Noto Sans JP" pitchFamily="34" charset="0"/>
                <a:ea typeface="Noto Sans JP" pitchFamily="34" charset="-122"/>
                <a:cs typeface="Noto Sans JP" pitchFamily="34" charset="-120"/>
              </a:rPr>
              <a:t>なぜ</a:t>
            </a:r>
            <a:endParaRPr lang="en-US" sz="1800" dirty="0"/>
          </a:p>
        </p:txBody>
      </p:sp>
      <p:sp>
        <p:nvSpPr>
          <p:cNvPr id="9" name="Text 7"/>
          <p:cNvSpPr/>
          <p:nvPr/>
        </p:nvSpPr>
        <p:spPr>
          <a:xfrm>
            <a:off x="7620000" y="3291780"/>
            <a:ext cx="3558032" cy="1061690"/>
          </a:xfrm>
          <a:prstGeom prst="rect">
            <a:avLst/>
          </a:prstGeom>
          <a:noFill/>
          <a:ln/>
        </p:spPr>
        <p:txBody>
          <a:bodyPr wrap="square" lIns="0" tIns="0" rIns="0" bIns="0" rtlCol="0" anchor="t">
            <a:normAutofit/>
          </a:bodyPr>
          <a:lstStyle/>
          <a:p>
            <a:pPr algn="l" indent="0" marL="0">
              <a:lnSpc>
                <a:spcPts val="2720"/>
              </a:lnSpc>
              <a:buNone/>
            </a:pPr>
            <a:r>
              <a:rPr lang="en-US" sz="1600" dirty="0">
                <a:solidFill>
                  <a:srgbClr val="F5F1EA"/>
                </a:solidFill>
                <a:latin typeface="Noto Sans JP" pitchFamily="34" charset="0"/>
                <a:ea typeface="Noto Sans JP" pitchFamily="34" charset="-122"/>
                <a:cs typeface="Noto Sans JP" pitchFamily="34" charset="-120"/>
              </a:rPr>
              <a:t>当時の MCP は</a:t>
            </a:r>
            <a:r>
              <a:rPr lang="en-US" sz="1600" b="1" dirty="0">
                <a:solidFill>
                  <a:srgbClr val="F5F1EA"/>
                </a:solidFill>
                <a:latin typeface="Noto Sans JP" pitchFamily="34" charset="0"/>
                <a:ea typeface="Noto Sans JP" pitchFamily="34" charset="-122"/>
                <a:cs typeface="Noto Sans JP" pitchFamily="34" charset="-120"/>
              </a:rPr>
              <a:t>自分の PC の中でしか動かず</a:t>
            </a:r>
            <a:r>
              <a:rPr lang="en-US" sz="1600" dirty="0">
                <a:solidFill>
                  <a:srgbClr val="F5F1EA"/>
                </a:solidFill>
                <a:latin typeface="Noto Sans JP" pitchFamily="34" charset="0"/>
                <a:ea typeface="Noto Sans JP" pitchFamily="34" charset="-122"/>
                <a:cs typeface="Noto Sans JP" pitchFamily="34" charset="-120"/>
              </a:rPr>
              <a:t>、Web やスマホの利用者には届かなかった</a:t>
            </a:r>
            <a:endParaRPr lang="en-US" sz="1600" dirty="0"/>
          </a:p>
        </p:txBody>
      </p:sp>
      <p:sp>
        <p:nvSpPr>
          <p:cNvPr id="10" name="Text 8"/>
          <p:cNvSpPr/>
          <p:nvPr/>
        </p:nvSpPr>
        <p:spPr>
          <a:xfrm>
            <a:off x="7620000" y="4455071"/>
            <a:ext cx="3558032" cy="878780"/>
          </a:xfrm>
          <a:prstGeom prst="rect">
            <a:avLst/>
          </a:prstGeom>
          <a:noFill/>
          <a:ln/>
        </p:spPr>
        <p:txBody>
          <a:bodyPr wrap="square" lIns="0" tIns="0" rIns="0" bIns="0" rtlCol="0" anchor="t">
            <a:normAutofit/>
          </a:bodyPr>
          <a:lstStyle/>
          <a:p>
            <a:pPr algn="l" indent="0" marL="0">
              <a:lnSpc>
                <a:spcPts val="2240"/>
              </a:lnSpc>
              <a:buNone/>
            </a:pPr>
            <a:r>
              <a:rPr lang="en-US" sz="1400" dirty="0">
                <a:solidFill>
                  <a:srgbClr val="C9C3B8"/>
                </a:solidFill>
                <a:latin typeface="Noto Sans JP" pitchFamily="34" charset="0"/>
                <a:ea typeface="Noto Sans JP" pitchFamily="34" charset="-122"/>
                <a:cs typeface="Noto Sans JP" pitchFamily="34" charset="-120"/>
              </a:rPr>
              <a:t>ネット越しに公開し、利用者ごとにログインさせる仕組みは、Cloudflare が得意なネットワークとセキュリティそのもの</a:t>
            </a:r>
            <a:endParaRPr lang="en-US" sz="1400" dirty="0"/>
          </a:p>
        </p:txBody>
      </p:sp>
      <p:sp>
        <p:nvSpPr>
          <p:cNvPr id="11" name="Text 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080"/>
                </a:solidFill>
                <a:latin typeface="Noto Sans JP" pitchFamily="34" charset="0"/>
                <a:ea typeface="Noto Sans JP" pitchFamily="34" charset="-122"/>
                <a:cs typeface="Noto Sans JP" pitchFamily="34" charset="-120"/>
              </a:rPr>
              <a:t>出典：blog.cloudflare.com「Build and deploy Remote Model Context Protocol (MCP) servers to Cloudflare」（2025年3月25日）</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B4560A"/>
                </a:solidFill>
                <a:latin typeface="Noto Sans JP" pitchFamily="34" charset="0"/>
                <a:ea typeface="Noto Sans JP" pitchFamily="34" charset="-122"/>
                <a:cs typeface="Noto Sans JP" pitchFamily="34" charset="-120"/>
              </a:rPr>
              <a:t>歴史 8　2025年7月</a:t>
            </a:r>
            <a:endParaRPr lang="en-US" sz="1400" dirty="0"/>
          </a:p>
        </p:txBody>
      </p:sp>
      <p:sp>
        <p:nvSpPr>
          <p:cNvPr id="3" name="Text 1"/>
          <p:cNvSpPr/>
          <p:nvPr>
            <p:ph type="title"/>
          </p:nvPr>
        </p:nvSpPr>
        <p:spPr>
          <a:xfrm>
            <a:off x="812800" y="1315690"/>
            <a:ext cx="10883392" cy="533400"/>
          </a:xfrm>
          <a:prstGeom prst="rect">
            <a:avLst/>
          </a:prstGeom>
          <a:noFill/>
          <a:ln/>
        </p:spPr>
        <p:txBody>
          <a:bodyPr wrap="square" lIns="0" tIns="0" rIns="0" bIns="0" rtlCol="0" anchor="t">
            <a:normAutofit/>
          </a:bodyPr>
          <a:lstStyle/>
          <a:p>
            <a:pPr algn="l" indent="0" marL="0">
              <a:lnSpc>
                <a:spcPts val="4000"/>
              </a:lnSpc>
              <a:buNone/>
            </a:pPr>
            <a:r>
              <a:rPr lang="en-US" sz="3200" b="1" i="0" dirty="0">
                <a:solidFill>
                  <a:srgbClr val="1C1F26"/>
                </a:solidFill>
                <a:latin typeface="Noto Sans JP" pitchFamily="34" charset="0"/>
                <a:ea typeface="Noto Sans JP" pitchFamily="34" charset="-122"/>
                <a:cs typeface="Noto Sans JP" pitchFamily="34" charset="-120"/>
              </a:rPr>
              <a:t>AI クローラーを標準でブロックし、「払うなら通す」へ</a:t>
            </a:r>
            <a:endParaRPr lang="en-US" sz="3200" dirty="0"/>
          </a:p>
        </p:txBody>
      </p:sp>
      <p:sp>
        <p:nvSpPr>
          <p:cNvPr id="4" name="Shape 2"/>
          <p:cNvSpPr/>
          <p:nvPr/>
        </p:nvSpPr>
        <p:spPr>
          <a:xfrm>
            <a:off x="815975" y="2080865"/>
            <a:ext cx="6242050" cy="3757960"/>
          </a:xfrm>
          <a:prstGeom prst="roundRect">
            <a:avLst>
              <a:gd name="adj" fmla="val 3295"/>
            </a:avLst>
          </a:prstGeom>
          <a:solidFill>
            <a:srgbClr val="FFFDF9"/>
          </a:solidFill>
          <a:ln w="6350">
            <a:solidFill>
              <a:srgbClr val="E4DDD1"/>
            </a:solidFill>
            <a:prstDash val="solid"/>
          </a:ln>
        </p:spPr>
      </p:sp>
      <p:sp>
        <p:nvSpPr>
          <p:cNvPr id="5" name="Text 3"/>
          <p:cNvSpPr/>
          <p:nvPr/>
        </p:nvSpPr>
        <p:spPr>
          <a:xfrm>
            <a:off x="1073150" y="2338040"/>
            <a:ext cx="5899531" cy="29577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B59C3"/>
                </a:solidFill>
                <a:latin typeface="Noto Sans JP" pitchFamily="34" charset="0"/>
                <a:ea typeface="Noto Sans JP" pitchFamily="34" charset="-122"/>
                <a:cs typeface="Noto Sans JP" pitchFamily="34" charset="-120"/>
              </a:rPr>
              <a:t>何をしたか</a:t>
            </a:r>
            <a:endParaRPr lang="en-US" sz="1800" dirty="0"/>
          </a:p>
        </p:txBody>
      </p:sp>
      <p:sp>
        <p:nvSpPr>
          <p:cNvPr id="6" name="Text 4"/>
          <p:cNvSpPr/>
          <p:nvPr/>
        </p:nvSpPr>
        <p:spPr>
          <a:xfrm>
            <a:off x="1138849" y="2735411"/>
            <a:ext cx="5826212" cy="866626"/>
          </a:xfrm>
          <a:prstGeom prst="rect">
            <a:avLst/>
          </a:prstGeom>
          <a:noFill/>
          <a:ln/>
        </p:spPr>
        <p:txBody>
          <a:bodyPr wrap="square" lIns="0" tIns="0" rIns="0" bIns="0" rtlCol="0" anchor="t">
            <a:normAutofit/>
          </a:bodyPr>
          <a:lstStyle/>
          <a:p>
            <a:pPr algn="l" marL="188301" indent="-188301">
              <a:lnSpc>
                <a:spcPts val="2205"/>
              </a:lnSpc>
              <a:buSzPct val="100000"/>
              <a:buChar char="•"/>
            </a:pPr>
            <a:r>
              <a:rPr lang="en-US" sz="1378" dirty="0">
                <a:solidFill>
                  <a:srgbClr val="1C1F26"/>
                </a:solidFill>
                <a:latin typeface="Noto Sans JP" pitchFamily="34" charset="0"/>
                <a:ea typeface="Noto Sans JP" pitchFamily="34" charset="-122"/>
                <a:cs typeface="Noto Sans JP" pitchFamily="34" charset="-120"/>
              </a:rPr>
              <a:t>AI クローラーを、許可しない限りブロックする設定を標準に</a:t>
            </a:r>
            <a:endParaRPr lang="en-US" sz="1378" dirty="0"/>
          </a:p>
          <a:p>
            <a:pPr algn="l" marL="188301" indent="-188301">
              <a:lnSpc>
                <a:spcPts val="2205"/>
              </a:lnSpc>
              <a:buSzPct val="100000"/>
              <a:buChar char="•"/>
            </a:pPr>
            <a:r>
              <a:rPr lang="en-US" sz="1378" b="1" dirty="0">
                <a:solidFill>
                  <a:srgbClr val="1C1F26"/>
                </a:solidFill>
                <a:latin typeface="Noto Sans JP" pitchFamily="34" charset="0"/>
                <a:ea typeface="Noto Sans JP" pitchFamily="34" charset="-122"/>
                <a:cs typeface="Noto Sans JP" pitchFamily="34" charset="-120"/>
              </a:rPr>
              <a:t>Pay per crawl</a:t>
            </a:r>
            <a:r>
              <a:rPr lang="en-US" sz="1378" dirty="0">
                <a:solidFill>
                  <a:srgbClr val="1C1F26"/>
                </a:solidFill>
                <a:latin typeface="Noto Sans JP" pitchFamily="34" charset="0"/>
                <a:ea typeface="Noto Sans JP" pitchFamily="34" charset="-122"/>
                <a:cs typeface="Noto Sans JP" pitchFamily="34" charset="-120"/>
              </a:rPr>
              <a:t>（非公開ベータ）：クローラーに「払うか、HTTP 402（支払いが必要）を受け取るか」を選ばせる</a:t>
            </a:r>
            <a:endParaRPr lang="en-US" sz="1378" dirty="0"/>
          </a:p>
        </p:txBody>
      </p:sp>
      <p:sp>
        <p:nvSpPr>
          <p:cNvPr id="7" name="Shape 5"/>
          <p:cNvSpPr/>
          <p:nvPr/>
        </p:nvSpPr>
        <p:spPr>
          <a:xfrm>
            <a:off x="1073150" y="3703638"/>
            <a:ext cx="3435896" cy="1878013"/>
          </a:xfrm>
          <a:prstGeom prst="roundRect">
            <a:avLst>
              <a:gd name="adj" fmla="val 4057"/>
            </a:avLst>
          </a:prstGeom>
          <a:solidFill>
            <a:srgbClr val="FFFFFF"/>
          </a:solidFill>
          <a:ln/>
        </p:spPr>
      </p:sp>
      <p:pic>
        <p:nvPicPr>
          <p:cNvPr id="8" name="Image 0" descr="Cloudflare Radar の AI Insights 画面。Googlebot や ClaudeBot など AI ボットの通信量の推移グラフ">    </p:cNvPr>
          <p:cNvPicPr>
            <a:picLocks noChangeAspect="1"/>
          </p:cNvPicPr>
          <p:nvPr/>
        </p:nvPicPr>
        <p:blipFill>
          <a:blip r:embed="rId1"/>
          <a:srcRect l="0" r="0" t="-1" b="-1"/>
          <a:stretch/>
        </p:blipFill>
        <p:spPr>
          <a:xfrm>
            <a:off x="1079500" y="3709988"/>
            <a:ext cx="3423196" cy="1865312"/>
          </a:xfrm>
          <a:prstGeom prst="roundRect">
            <a:avLst>
              <a:gd name="adj" fmla="val 3745"/>
            </a:avLst>
          </a:prstGeom>
        </p:spPr>
      </p:pic>
      <p:sp>
        <p:nvSpPr>
          <p:cNvPr id="9" name="Shape 6"/>
          <p:cNvSpPr/>
          <p:nvPr/>
        </p:nvSpPr>
        <p:spPr>
          <a:xfrm>
            <a:off x="1076325" y="3706813"/>
            <a:ext cx="3429546" cy="1871663"/>
          </a:xfrm>
          <a:prstGeom prst="roundRect">
            <a:avLst>
              <a:gd name="adj" fmla="val 3902"/>
            </a:avLst>
          </a:prstGeom>
          <a:noFill/>
          <a:ln w="6350">
            <a:solidFill>
              <a:srgbClr val="E4DDD1"/>
            </a:solidFill>
            <a:prstDash val="solid"/>
          </a:ln>
        </p:spPr>
      </p:sp>
      <p:sp>
        <p:nvSpPr>
          <p:cNvPr id="10" name="Shape 7"/>
          <p:cNvSpPr/>
          <p:nvPr/>
        </p:nvSpPr>
        <p:spPr>
          <a:xfrm>
            <a:off x="7315200" y="2077690"/>
            <a:ext cx="4064000" cy="3764310"/>
          </a:xfrm>
          <a:prstGeom prst="roundRect">
            <a:avLst>
              <a:gd name="adj" fmla="val 3374"/>
            </a:avLst>
          </a:prstGeom>
          <a:solidFill>
            <a:srgbClr val="1C1F26"/>
          </a:solidFill>
          <a:ln/>
        </p:spPr>
      </p:sp>
      <p:sp>
        <p:nvSpPr>
          <p:cNvPr id="11" name="Text 8"/>
          <p:cNvSpPr/>
          <p:nvPr/>
        </p:nvSpPr>
        <p:spPr>
          <a:xfrm>
            <a:off x="7620000" y="2382490"/>
            <a:ext cx="3558032"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38020"/>
                </a:solidFill>
                <a:latin typeface="Noto Sans JP" pitchFamily="34" charset="0"/>
                <a:ea typeface="Noto Sans JP" pitchFamily="34" charset="-122"/>
                <a:cs typeface="Noto Sans JP" pitchFamily="34" charset="-120"/>
              </a:rPr>
              <a:t>なぜ</a:t>
            </a:r>
            <a:endParaRPr lang="en-US" sz="1800" dirty="0"/>
          </a:p>
        </p:txBody>
      </p:sp>
      <p:sp>
        <p:nvSpPr>
          <p:cNvPr id="12" name="Text 9"/>
          <p:cNvSpPr/>
          <p:nvPr/>
        </p:nvSpPr>
        <p:spPr>
          <a:xfrm>
            <a:off x="7620000" y="2783780"/>
            <a:ext cx="3558032" cy="1407120"/>
          </a:xfrm>
          <a:prstGeom prst="rect">
            <a:avLst/>
          </a:prstGeom>
          <a:noFill/>
          <a:ln/>
        </p:spPr>
        <p:txBody>
          <a:bodyPr wrap="square" lIns="0" tIns="0" rIns="0" bIns="0" rtlCol="0" anchor="t">
            <a:normAutofit/>
          </a:bodyPr>
          <a:lstStyle/>
          <a:p>
            <a:pPr algn="l" indent="0" marL="0">
              <a:lnSpc>
                <a:spcPts val="2720"/>
              </a:lnSpc>
              <a:buNone/>
            </a:pPr>
            <a:r>
              <a:rPr lang="en-US" sz="1600" dirty="0">
                <a:solidFill>
                  <a:srgbClr val="F5F1EA"/>
                </a:solidFill>
                <a:latin typeface="Noto Sans JP" pitchFamily="34" charset="0"/>
                <a:ea typeface="Noto Sans JP" pitchFamily="34" charset="-122"/>
                <a:cs typeface="Noto Sans JP" pitchFamily="34" charset="-120"/>
              </a:rPr>
              <a:t>検索エンジンは「中身を読む代わりに訪問者を送る」約束だった。AI は答えを直接返すので、</a:t>
            </a:r>
            <a:r>
              <a:rPr lang="en-US" sz="1600" b="1" dirty="0">
                <a:solidFill>
                  <a:srgbClr val="F5F1EA"/>
                </a:solidFill>
                <a:latin typeface="Noto Sans JP" pitchFamily="34" charset="0"/>
                <a:ea typeface="Noto Sans JP" pitchFamily="34" charset="-122"/>
                <a:cs typeface="Noto Sans JP" pitchFamily="34" charset="-120"/>
              </a:rPr>
              <a:t>訪問者が戻ってこない</a:t>
            </a:r>
            <a:endParaRPr lang="en-US" sz="1600" dirty="0"/>
          </a:p>
        </p:txBody>
      </p:sp>
      <p:sp>
        <p:nvSpPr>
          <p:cNvPr id="13" name="Text 10"/>
          <p:cNvSpPr/>
          <p:nvPr/>
        </p:nvSpPr>
        <p:spPr>
          <a:xfrm>
            <a:off x="7620000" y="4292501"/>
            <a:ext cx="3558032" cy="1163241"/>
          </a:xfrm>
          <a:prstGeom prst="rect">
            <a:avLst/>
          </a:prstGeom>
          <a:noFill/>
          <a:ln/>
        </p:spPr>
        <p:txBody>
          <a:bodyPr wrap="square" lIns="0" tIns="0" rIns="0" bIns="0" rtlCol="0" anchor="t">
            <a:normAutofit/>
          </a:bodyPr>
          <a:lstStyle/>
          <a:p>
            <a:pPr algn="l" indent="0" marL="0">
              <a:lnSpc>
                <a:spcPts val="2240"/>
              </a:lnSpc>
              <a:buNone/>
            </a:pPr>
            <a:r>
              <a:rPr lang="en-US" sz="1400" dirty="0">
                <a:solidFill>
                  <a:srgbClr val="C9C3B8"/>
                </a:solidFill>
                <a:latin typeface="Noto Sans JP" pitchFamily="34" charset="0"/>
                <a:ea typeface="Noto Sans JP" pitchFamily="34" charset="-122"/>
                <a:cs typeface="Noto Sans JP" pitchFamily="34" charset="-120"/>
              </a:rPr>
              <a:t>Cloudflare の計測では、OpenAI は昔の Google の 750 倍、Anthropic は 3 万倍、読むページ数に対して訪問者を送ってこない</a:t>
            </a:r>
            <a:endParaRPr lang="en-US" sz="1400" dirty="0"/>
          </a:p>
        </p:txBody>
      </p:sp>
      <p:sp>
        <p:nvSpPr>
          <p:cNvPr id="14" name="Text 1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080"/>
                </a:solidFill>
                <a:latin typeface="Noto Sans JP" pitchFamily="34" charset="0"/>
                <a:ea typeface="Noto Sans JP" pitchFamily="34" charset="-122"/>
                <a:cs typeface="Noto Sans JP" pitchFamily="34" charset="-120"/>
              </a:rPr>
              <a:t>出典：blog.cloudflare.com「Content Independence Day」（2025年7月1日）、画像は radar.cloudflare.com/ai-insights（2026年10月）</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B4560A"/>
                </a:solidFill>
                <a:latin typeface="Noto Sans JP" pitchFamily="34" charset="0"/>
                <a:ea typeface="Noto Sans JP" pitchFamily="34" charset="-122"/>
                <a:cs typeface="Noto Sans JP" pitchFamily="34" charset="-120"/>
              </a:rPr>
              <a:t>歴史 9　2025年末–2026</a:t>
            </a:r>
            <a:endParaRPr lang="en-US" sz="1400" dirty="0"/>
          </a:p>
        </p:txBody>
      </p:sp>
      <p:sp>
        <p:nvSpPr>
          <p:cNvPr id="3" name="Text 1"/>
          <p:cNvSpPr/>
          <p:nvPr>
            <p:ph type="title"/>
          </p:nvPr>
        </p:nvSpPr>
        <p:spPr>
          <a:xfrm>
            <a:off x="812800" y="1315690"/>
            <a:ext cx="10883392" cy="533400"/>
          </a:xfrm>
          <a:prstGeom prst="rect">
            <a:avLst/>
          </a:prstGeom>
          <a:noFill/>
          <a:ln/>
        </p:spPr>
        <p:txBody>
          <a:bodyPr wrap="square" lIns="0" tIns="0" rIns="0" bIns="0" rtlCol="0" anchor="t">
            <a:normAutofit/>
          </a:bodyPr>
          <a:lstStyle/>
          <a:p>
            <a:pPr algn="l" indent="0" marL="0">
              <a:lnSpc>
                <a:spcPts val="4000"/>
              </a:lnSpc>
              <a:buNone/>
            </a:pPr>
            <a:r>
              <a:rPr lang="en-US" sz="3200" b="1" i="0" dirty="0">
                <a:solidFill>
                  <a:srgbClr val="1C1F26"/>
                </a:solidFill>
                <a:latin typeface="Noto Sans JP" pitchFamily="34" charset="0"/>
                <a:ea typeface="Noto Sans JP" pitchFamily="34" charset="-122"/>
                <a:cs typeface="Noto Sans JP" pitchFamily="34" charset="-120"/>
              </a:rPr>
              <a:t>エージェントに必要なものを、一か所に揃えにいく</a:t>
            </a:r>
            <a:endParaRPr lang="en-US" sz="3200" dirty="0"/>
          </a:p>
        </p:txBody>
      </p:sp>
      <p:sp>
        <p:nvSpPr>
          <p:cNvPr id="4" name="Shape 2"/>
          <p:cNvSpPr/>
          <p:nvPr/>
        </p:nvSpPr>
        <p:spPr>
          <a:xfrm>
            <a:off x="815975" y="2080865"/>
            <a:ext cx="6496050" cy="3757960"/>
          </a:xfrm>
          <a:prstGeom prst="roundRect">
            <a:avLst>
              <a:gd name="adj" fmla="val 3295"/>
            </a:avLst>
          </a:prstGeom>
          <a:solidFill>
            <a:srgbClr val="FFFDF9"/>
          </a:solidFill>
          <a:ln w="6350">
            <a:solidFill>
              <a:srgbClr val="E4DDD1"/>
            </a:solidFill>
            <a:prstDash val="solid"/>
          </a:ln>
        </p:spPr>
      </p:sp>
      <p:sp>
        <p:nvSpPr>
          <p:cNvPr id="5" name="Text 3"/>
          <p:cNvSpPr/>
          <p:nvPr/>
        </p:nvSpPr>
        <p:spPr>
          <a:xfrm>
            <a:off x="1073150" y="2338040"/>
            <a:ext cx="6161151" cy="271760"/>
          </a:xfrm>
          <a:prstGeom prst="rect">
            <a:avLst/>
          </a:prstGeom>
          <a:noFill/>
          <a:ln/>
        </p:spPr>
        <p:txBody>
          <a:bodyPr wrap="square" lIns="0" tIns="0" rIns="0" bIns="0" rtlCol="0" anchor="t">
            <a:normAutofit/>
          </a:bodyPr>
          <a:lstStyle/>
          <a:p>
            <a:pPr algn="l" indent="0" marL="0">
              <a:lnSpc>
                <a:spcPts val="1971"/>
              </a:lnSpc>
              <a:buNone/>
            </a:pPr>
            <a:r>
              <a:rPr lang="en-US" sz="1643" b="1" dirty="0">
                <a:solidFill>
                  <a:srgbClr val="2B59C3"/>
                </a:solidFill>
                <a:latin typeface="Noto Sans JP" pitchFamily="34" charset="0"/>
                <a:ea typeface="Noto Sans JP" pitchFamily="34" charset="-122"/>
                <a:cs typeface="Noto Sans JP" pitchFamily="34" charset="-120"/>
              </a:rPr>
              <a:t>何をしたか</a:t>
            </a:r>
            <a:endParaRPr lang="en-US" sz="1643" dirty="0"/>
          </a:p>
        </p:txBody>
      </p:sp>
      <p:sp>
        <p:nvSpPr>
          <p:cNvPr id="6" name="Text 4"/>
          <p:cNvSpPr/>
          <p:nvPr/>
        </p:nvSpPr>
        <p:spPr>
          <a:xfrm>
            <a:off x="1159516" y="2686000"/>
            <a:ext cx="6067165" cy="1449040"/>
          </a:xfrm>
          <a:prstGeom prst="rect">
            <a:avLst/>
          </a:prstGeom>
          <a:noFill/>
          <a:ln/>
        </p:spPr>
        <p:txBody>
          <a:bodyPr wrap="square" lIns="0" tIns="0" rIns="0" bIns="0" rtlCol="0" anchor="t">
            <a:normAutofit/>
          </a:bodyPr>
          <a:lstStyle/>
          <a:p>
            <a:pPr algn="l" marL="167634" indent="-167634">
              <a:lnSpc>
                <a:spcPts val="1866"/>
              </a:lnSpc>
              <a:buSzPct val="100000"/>
              <a:buChar char="•"/>
            </a:pPr>
            <a:r>
              <a:rPr lang="en-US" sz="1166" dirty="0">
                <a:solidFill>
                  <a:srgbClr val="1C1F26"/>
                </a:solidFill>
                <a:latin typeface="Noto Sans JP" pitchFamily="34" charset="0"/>
                <a:ea typeface="Noto Sans JP" pitchFamily="34" charset="-122"/>
                <a:cs typeface="Noto Sans JP" pitchFamily="34" charset="-120"/>
              </a:rPr>
              <a:t>2025年12月：AI モデル実行サービスの Replicate を買収完了</a:t>
            </a:r>
            <a:endParaRPr lang="en-US" sz="1166" dirty="0"/>
          </a:p>
          <a:p>
            <a:pPr algn="l" marL="167634" indent="-167634">
              <a:lnSpc>
                <a:spcPts val="1866"/>
              </a:lnSpc>
              <a:buSzPct val="100000"/>
              <a:buChar char="•"/>
            </a:pPr>
            <a:r>
              <a:rPr lang="en-US" sz="1166" dirty="0">
                <a:solidFill>
                  <a:srgbClr val="1C1F26"/>
                </a:solidFill>
                <a:latin typeface="Noto Sans JP" pitchFamily="34" charset="0"/>
                <a:ea typeface="Noto Sans JP" pitchFamily="34" charset="-122"/>
                <a:cs typeface="Noto Sans JP" pitchFamily="34" charset="-120"/>
              </a:rPr>
              <a:t>2026年4月：Sandboxes（エージェント用の隔離された PC）GA、Agent Memory など</a:t>
            </a:r>
            <a:endParaRPr lang="en-US" sz="1166" dirty="0"/>
          </a:p>
          <a:p>
            <a:pPr algn="l" marL="167634" indent="-167634">
              <a:lnSpc>
                <a:spcPts val="1866"/>
              </a:lnSpc>
              <a:buSzPct val="100000"/>
              <a:buChar char="•"/>
            </a:pPr>
            <a:r>
              <a:rPr lang="en-US" sz="1166" dirty="0">
                <a:solidFill>
                  <a:srgbClr val="1C1F26"/>
                </a:solidFill>
                <a:latin typeface="Noto Sans JP" pitchFamily="34" charset="0"/>
                <a:ea typeface="Noto Sans JP" pitchFamily="34" charset="-122"/>
                <a:cs typeface="Noto Sans JP" pitchFamily="34" charset="-120"/>
              </a:rPr>
              <a:t>2026年8月：Workers AI と AI Gateway を一つの窓口に統合</a:t>
            </a:r>
            <a:endParaRPr lang="en-US" sz="1166" dirty="0"/>
          </a:p>
          <a:p>
            <a:pPr algn="l" marL="167634" indent="-167634">
              <a:lnSpc>
                <a:spcPts val="1866"/>
              </a:lnSpc>
              <a:buSzPct val="100000"/>
              <a:buChar char="•"/>
            </a:pPr>
            <a:r>
              <a:rPr lang="en-US" sz="1166" dirty="0">
                <a:solidFill>
                  <a:srgbClr val="1C1F26"/>
                </a:solidFill>
                <a:latin typeface="Noto Sans JP" pitchFamily="34" charset="0"/>
                <a:ea typeface="Noto Sans JP" pitchFamily="34" charset="-122"/>
                <a:cs typeface="Noto Sans JP" pitchFamily="34" charset="-120"/>
              </a:rPr>
              <a:t>2026年9–10月：AI Search GA、エージェントに課金する Monetization Gateway（ベータ）</a:t>
            </a:r>
            <a:endParaRPr lang="en-US" sz="1166" dirty="0"/>
          </a:p>
        </p:txBody>
      </p:sp>
      <p:sp>
        <p:nvSpPr>
          <p:cNvPr id="7" name="Shape 5"/>
          <p:cNvSpPr/>
          <p:nvPr/>
        </p:nvSpPr>
        <p:spPr>
          <a:xfrm>
            <a:off x="1073150" y="4211241"/>
            <a:ext cx="2504331" cy="1370409"/>
          </a:xfrm>
          <a:prstGeom prst="roundRect">
            <a:avLst>
              <a:gd name="adj" fmla="val 5560"/>
            </a:avLst>
          </a:prstGeom>
          <a:solidFill>
            <a:srgbClr val="FFFFFF"/>
          </a:solidFill>
          <a:ln/>
        </p:spPr>
      </p:sp>
      <p:pic>
        <p:nvPicPr>
          <p:cNvPr id="8" name="Image 0" descr="ダッシュボードのモデル一覧。242件のモデルがあり、Google や OpenAI など他社モデルも並ぶ">    </p:cNvPr>
          <p:cNvPicPr>
            <a:picLocks noChangeAspect="1"/>
          </p:cNvPicPr>
          <p:nvPr/>
        </p:nvPicPr>
        <p:blipFill>
          <a:blip r:embed="rId1"/>
          <a:srcRect l="0" r="0" t="-1" b="-1"/>
          <a:stretch/>
        </p:blipFill>
        <p:spPr>
          <a:xfrm>
            <a:off x="1079500" y="4217591"/>
            <a:ext cx="2491631" cy="1357709"/>
          </a:xfrm>
          <a:prstGeom prst="roundRect">
            <a:avLst>
              <a:gd name="adj" fmla="val 5145"/>
            </a:avLst>
          </a:prstGeom>
        </p:spPr>
      </p:pic>
      <p:sp>
        <p:nvSpPr>
          <p:cNvPr id="9" name="Shape 6"/>
          <p:cNvSpPr/>
          <p:nvPr/>
        </p:nvSpPr>
        <p:spPr>
          <a:xfrm>
            <a:off x="1076325" y="4214416"/>
            <a:ext cx="2497981" cy="1364059"/>
          </a:xfrm>
          <a:prstGeom prst="roundRect">
            <a:avLst>
              <a:gd name="adj" fmla="val 5354"/>
            </a:avLst>
          </a:prstGeom>
          <a:noFill/>
          <a:ln w="6350">
            <a:solidFill>
              <a:srgbClr val="E4DDD1"/>
            </a:solidFill>
            <a:prstDash val="solid"/>
          </a:ln>
        </p:spPr>
      </p:sp>
      <p:sp>
        <p:nvSpPr>
          <p:cNvPr id="10" name="Shape 7"/>
          <p:cNvSpPr/>
          <p:nvPr/>
        </p:nvSpPr>
        <p:spPr>
          <a:xfrm>
            <a:off x="7569200" y="2077690"/>
            <a:ext cx="3810000" cy="3764310"/>
          </a:xfrm>
          <a:prstGeom prst="roundRect">
            <a:avLst>
              <a:gd name="adj" fmla="val 3374"/>
            </a:avLst>
          </a:prstGeom>
          <a:solidFill>
            <a:srgbClr val="1C1F26"/>
          </a:solidFill>
          <a:ln/>
        </p:spPr>
      </p:sp>
      <p:sp>
        <p:nvSpPr>
          <p:cNvPr id="11" name="Text 8"/>
          <p:cNvSpPr/>
          <p:nvPr/>
        </p:nvSpPr>
        <p:spPr>
          <a:xfrm>
            <a:off x="7874000" y="2382490"/>
            <a:ext cx="3296412"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38020"/>
                </a:solidFill>
                <a:latin typeface="Noto Sans JP" pitchFamily="34" charset="0"/>
                <a:ea typeface="Noto Sans JP" pitchFamily="34" charset="-122"/>
                <a:cs typeface="Noto Sans JP" pitchFamily="34" charset="-120"/>
              </a:rPr>
              <a:t>なぜ</a:t>
            </a:r>
            <a:endParaRPr lang="en-US" sz="1800" dirty="0"/>
          </a:p>
        </p:txBody>
      </p:sp>
      <p:sp>
        <p:nvSpPr>
          <p:cNvPr id="12" name="Text 9"/>
          <p:cNvSpPr/>
          <p:nvPr/>
        </p:nvSpPr>
        <p:spPr>
          <a:xfrm>
            <a:off x="7874000" y="2783780"/>
            <a:ext cx="3296412" cy="1061690"/>
          </a:xfrm>
          <a:prstGeom prst="rect">
            <a:avLst/>
          </a:prstGeom>
          <a:noFill/>
          <a:ln/>
        </p:spPr>
        <p:txBody>
          <a:bodyPr wrap="square" lIns="0" tIns="0" rIns="0" bIns="0" rtlCol="0" anchor="t">
            <a:normAutofit/>
          </a:bodyPr>
          <a:lstStyle/>
          <a:p>
            <a:pPr algn="l" indent="0" marL="0">
              <a:lnSpc>
                <a:spcPts val="2720"/>
              </a:lnSpc>
              <a:buNone/>
            </a:pPr>
            <a:r>
              <a:rPr lang="en-US" sz="1600" dirty="0">
                <a:solidFill>
                  <a:srgbClr val="F5F1EA"/>
                </a:solidFill>
                <a:latin typeface="Noto Sans JP" pitchFamily="34" charset="0"/>
                <a:ea typeface="Noto Sans JP" pitchFamily="34" charset="-122"/>
                <a:cs typeface="Noto Sans JP" pitchFamily="34" charset="-120"/>
              </a:rPr>
              <a:t>エージェントは「考える」だけでなく、</a:t>
            </a:r>
            <a:r>
              <a:rPr lang="en-US" sz="1600" b="1" dirty="0">
                <a:solidFill>
                  <a:srgbClr val="F5F1EA"/>
                </a:solidFill>
                <a:latin typeface="Noto Sans JP" pitchFamily="34" charset="0"/>
                <a:ea typeface="Noto Sans JP" pitchFamily="34" charset="-122"/>
                <a:cs typeface="Noto Sans JP" pitchFamily="34" charset="-120"/>
              </a:rPr>
              <a:t>実行する場所・記憶・検索・支払い</a:t>
            </a:r>
            <a:r>
              <a:rPr lang="en-US" sz="1600" dirty="0">
                <a:solidFill>
                  <a:srgbClr val="F5F1EA"/>
                </a:solidFill>
                <a:latin typeface="Noto Sans JP" pitchFamily="34" charset="0"/>
                <a:ea typeface="Noto Sans JP" pitchFamily="34" charset="-122"/>
                <a:cs typeface="Noto Sans JP" pitchFamily="34" charset="-120"/>
              </a:rPr>
              <a:t>まで必要になる</a:t>
            </a:r>
            <a:endParaRPr lang="en-US" sz="1600" dirty="0"/>
          </a:p>
        </p:txBody>
      </p:sp>
      <p:sp>
        <p:nvSpPr>
          <p:cNvPr id="13" name="Text 10"/>
          <p:cNvSpPr/>
          <p:nvPr/>
        </p:nvSpPr>
        <p:spPr>
          <a:xfrm>
            <a:off x="7874000" y="3947071"/>
            <a:ext cx="3296412" cy="878780"/>
          </a:xfrm>
          <a:prstGeom prst="rect">
            <a:avLst/>
          </a:prstGeom>
          <a:noFill/>
          <a:ln/>
        </p:spPr>
        <p:txBody>
          <a:bodyPr wrap="square" lIns="0" tIns="0" rIns="0" bIns="0" rtlCol="0" anchor="t">
            <a:normAutofit/>
          </a:bodyPr>
          <a:lstStyle/>
          <a:p>
            <a:pPr algn="l" indent="0" marL="0">
              <a:lnSpc>
                <a:spcPts val="2240"/>
              </a:lnSpc>
              <a:buNone/>
            </a:pPr>
            <a:r>
              <a:rPr lang="en-US" sz="1400" dirty="0">
                <a:solidFill>
                  <a:srgbClr val="C9C3B8"/>
                </a:solidFill>
                <a:latin typeface="Noto Sans JP" pitchFamily="34" charset="0"/>
                <a:ea typeface="Noto Sans JP" pitchFamily="34" charset="-122"/>
                <a:cs typeface="Noto Sans JP" pitchFamily="34" charset="-120"/>
              </a:rPr>
              <a:t>それぞれ別の会社のサービスを組み合わせるより、同じネットワーク上に揃っていれば速く、安く、安全に作れる</a:t>
            </a:r>
            <a:endParaRPr lang="en-US" sz="1400" dirty="0"/>
          </a:p>
        </p:txBody>
      </p:sp>
      <p:sp>
        <p:nvSpPr>
          <p:cNvPr id="14" name="Text 11"/>
          <p:cNvSpPr/>
          <p:nvPr/>
        </p:nvSpPr>
        <p:spPr>
          <a:xfrm>
            <a:off x="812800" y="6024959"/>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080"/>
                </a:solidFill>
                <a:latin typeface="Noto Sans JP" pitchFamily="34" charset="0"/>
                <a:ea typeface="Noto Sans JP" pitchFamily="34" charset="-122"/>
                <a:cs typeface="Noto Sans JP" pitchFamily="34" charset="-120"/>
              </a:rPr>
              <a:t>出典：blog.cloudflare.com「Why Replicate is joining Cloudflare」、Agents Week 2026（4月・8月）と Birthday Week 2026 のまとめ記事。画像は 2026年10月のダッシュボード</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C1F26"/>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F38020"/>
                </a:solidFill>
                <a:latin typeface="Noto Sans JP" pitchFamily="34" charset="0"/>
                <a:ea typeface="Noto Sans JP" pitchFamily="34" charset="-122"/>
                <a:cs typeface="Noto Sans JP" pitchFamily="34" charset="-120"/>
              </a:rPr>
              <a:t>歴史のまとめ</a:t>
            </a:r>
            <a:endParaRPr lang="en-US" sz="1400" dirty="0"/>
          </a:p>
        </p:txBody>
      </p:sp>
      <p:sp>
        <p:nvSpPr>
          <p:cNvPr id="3" name="Text 1"/>
          <p:cNvSpPr/>
          <p:nvPr>
            <p:ph type="title"/>
          </p:nvPr>
        </p:nvSpPr>
        <p:spPr>
          <a:xfrm>
            <a:off x="812800" y="1315690"/>
            <a:ext cx="10883392" cy="533400"/>
          </a:xfrm>
          <a:prstGeom prst="rect">
            <a:avLst/>
          </a:prstGeom>
          <a:noFill/>
          <a:ln/>
        </p:spPr>
        <p:txBody>
          <a:bodyPr wrap="square" lIns="0" tIns="0" rIns="0" bIns="0" rtlCol="0" anchor="t">
            <a:normAutofit/>
          </a:bodyPr>
          <a:lstStyle/>
          <a:p>
            <a:pPr algn="l" indent="0" marL="0">
              <a:lnSpc>
                <a:spcPts val="4000"/>
              </a:lnSpc>
              <a:buNone/>
            </a:pPr>
            <a:r>
              <a:rPr lang="en-US" sz="3200" b="1" i="0" dirty="0">
                <a:solidFill>
                  <a:srgbClr val="F5F1EA"/>
                </a:solidFill>
                <a:latin typeface="Noto Sans JP" pitchFamily="34" charset="0"/>
                <a:ea typeface="Noto Sans JP" pitchFamily="34" charset="-122"/>
                <a:cs typeface="Noto Sans JP" pitchFamily="34" charset="-120"/>
              </a:rPr>
              <a:t>同じ回転を何度も回して、新しい層を載せてきた</a:t>
            </a:r>
            <a:endParaRPr lang="en-US" sz="3200" dirty="0"/>
          </a:p>
        </p:txBody>
      </p:sp>
      <p:sp>
        <p:nvSpPr>
          <p:cNvPr id="4" name="Shape 2"/>
          <p:cNvSpPr/>
          <p:nvPr/>
        </p:nvSpPr>
        <p:spPr>
          <a:xfrm>
            <a:off x="2527300" y="2077690"/>
            <a:ext cx="2286000" cy="825500"/>
          </a:xfrm>
          <a:prstGeom prst="roundRect">
            <a:avLst>
              <a:gd name="adj" fmla="val 15385"/>
            </a:avLst>
          </a:prstGeom>
          <a:solidFill>
            <a:srgbClr val="F38020"/>
          </a:solidFill>
          <a:ln/>
        </p:spPr>
      </p:sp>
      <p:sp>
        <p:nvSpPr>
          <p:cNvPr id="5" name="Text 3"/>
          <p:cNvSpPr/>
          <p:nvPr/>
        </p:nvSpPr>
        <p:spPr>
          <a:xfrm>
            <a:off x="2623820" y="2268190"/>
            <a:ext cx="2092960" cy="309860"/>
          </a:xfrm>
          <a:prstGeom prst="rect">
            <a:avLst/>
          </a:prstGeom>
          <a:noFill/>
          <a:ln/>
        </p:spPr>
        <p:txBody>
          <a:bodyPr wrap="square" lIns="0" tIns="0" rIns="0" bIns="0" rtlCol="0" anchor="t">
            <a:normAutofit/>
          </a:bodyPr>
          <a:lstStyle/>
          <a:p>
            <a:pPr algn="ctr" indent="0" marL="0">
              <a:lnSpc>
                <a:spcPts val="2240"/>
              </a:lnSpc>
              <a:buNone/>
            </a:pPr>
            <a:r>
              <a:rPr lang="en-US" sz="1600" b="1" dirty="0">
                <a:solidFill>
                  <a:srgbClr val="1C1F26"/>
                </a:solidFill>
                <a:latin typeface="Noto Sans JP" pitchFamily="34" charset="0"/>
                <a:ea typeface="Noto Sans JP" pitchFamily="34" charset="-122"/>
                <a:cs typeface="Noto Sans JP" pitchFamily="34" charset="-120"/>
              </a:rPr>
              <a:t>① 無料で広く配る</a:t>
            </a:r>
            <a:endParaRPr lang="en-US" sz="1600" dirty="0"/>
          </a:p>
        </p:txBody>
      </p:sp>
      <p:sp>
        <p:nvSpPr>
          <p:cNvPr id="6" name="Shape 4"/>
          <p:cNvSpPr/>
          <p:nvPr/>
        </p:nvSpPr>
        <p:spPr>
          <a:xfrm>
            <a:off x="4248150" y="3576290"/>
            <a:ext cx="2273300" cy="812800"/>
          </a:xfrm>
          <a:prstGeom prst="roundRect">
            <a:avLst>
              <a:gd name="adj" fmla="val 14844"/>
            </a:avLst>
          </a:prstGeom>
          <a:solidFill>
            <a:srgbClr val="2D3340"/>
          </a:solidFill>
          <a:ln w="12700">
            <a:solidFill>
              <a:srgbClr val="4A7BE0"/>
            </a:solidFill>
            <a:prstDash val="solid"/>
          </a:ln>
        </p:spPr>
      </p:sp>
      <p:sp>
        <p:nvSpPr>
          <p:cNvPr id="7" name="Text 5"/>
          <p:cNvSpPr/>
          <p:nvPr/>
        </p:nvSpPr>
        <p:spPr>
          <a:xfrm>
            <a:off x="4338320" y="3665190"/>
            <a:ext cx="2092960" cy="5588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F5F1EA"/>
                </a:solidFill>
                <a:latin typeface="Noto Sans JP" pitchFamily="34" charset="0"/>
                <a:ea typeface="Noto Sans JP" pitchFamily="34" charset="-122"/>
                <a:cs typeface="Noto Sans JP" pitchFamily="34" charset="-120"/>
              </a:rPr>
              <a:t>② 利用者と</a:t>
            </a:r>
            <a:endParaRPr lang="en-US" sz="1500" dirty="0"/>
          </a:p>
          <a:p>
            <a:pPr algn="ctr" indent="0" marL="0">
              <a:lnSpc>
                <a:spcPts val="2100"/>
              </a:lnSpc>
              <a:buNone/>
            </a:pPr>
            <a:r>
              <a:rPr lang="en-US" sz="1500" b="1" dirty="0">
                <a:solidFill>
                  <a:srgbClr val="F5F1EA"/>
                </a:solidFill>
                <a:latin typeface="Noto Sans JP" pitchFamily="34" charset="0"/>
                <a:ea typeface="Noto Sans JP" pitchFamily="34" charset="-122"/>
                <a:cs typeface="Noto Sans JP" pitchFamily="34" charset="-120"/>
              </a:rPr>
              <a:t>通信が集まる</a:t>
            </a:r>
            <a:endParaRPr lang="en-US" sz="1500" dirty="0"/>
          </a:p>
        </p:txBody>
      </p:sp>
      <p:sp>
        <p:nvSpPr>
          <p:cNvPr id="8" name="Shape 6"/>
          <p:cNvSpPr/>
          <p:nvPr/>
        </p:nvSpPr>
        <p:spPr>
          <a:xfrm>
            <a:off x="2533650" y="5068540"/>
            <a:ext cx="2273300" cy="812800"/>
          </a:xfrm>
          <a:prstGeom prst="roundRect">
            <a:avLst>
              <a:gd name="adj" fmla="val 14844"/>
            </a:avLst>
          </a:prstGeom>
          <a:solidFill>
            <a:srgbClr val="2D3340"/>
          </a:solidFill>
          <a:ln w="12700">
            <a:solidFill>
              <a:srgbClr val="4A7BE0"/>
            </a:solidFill>
            <a:prstDash val="solid"/>
          </a:ln>
        </p:spPr>
      </p:sp>
      <p:sp>
        <p:nvSpPr>
          <p:cNvPr id="9" name="Text 7"/>
          <p:cNvSpPr/>
          <p:nvPr/>
        </p:nvSpPr>
        <p:spPr>
          <a:xfrm>
            <a:off x="2623820" y="5157440"/>
            <a:ext cx="2092960" cy="5588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F5F1EA"/>
                </a:solidFill>
                <a:latin typeface="Noto Sans JP" pitchFamily="34" charset="0"/>
                <a:ea typeface="Noto Sans JP" pitchFamily="34" charset="-122"/>
                <a:cs typeface="Noto Sans JP" pitchFamily="34" charset="-120"/>
              </a:rPr>
              <a:t>③ 拠点とデータが</a:t>
            </a:r>
            <a:endParaRPr lang="en-US" sz="1500" dirty="0"/>
          </a:p>
          <a:p>
            <a:pPr algn="ctr" indent="0" marL="0">
              <a:lnSpc>
                <a:spcPts val="2100"/>
              </a:lnSpc>
              <a:buNone/>
            </a:pPr>
            <a:r>
              <a:rPr lang="en-US" sz="1500" b="1" dirty="0">
                <a:solidFill>
                  <a:srgbClr val="F5F1EA"/>
                </a:solidFill>
                <a:latin typeface="Noto Sans JP" pitchFamily="34" charset="0"/>
                <a:ea typeface="Noto Sans JP" pitchFamily="34" charset="-122"/>
                <a:cs typeface="Noto Sans JP" pitchFamily="34" charset="-120"/>
              </a:rPr>
              <a:t>増え、賢くなる</a:t>
            </a:r>
            <a:endParaRPr lang="en-US" sz="1500" dirty="0"/>
          </a:p>
        </p:txBody>
      </p:sp>
      <p:sp>
        <p:nvSpPr>
          <p:cNvPr id="10" name="Shape 8"/>
          <p:cNvSpPr/>
          <p:nvPr/>
        </p:nvSpPr>
        <p:spPr>
          <a:xfrm>
            <a:off x="819150" y="3576290"/>
            <a:ext cx="2273300" cy="812800"/>
          </a:xfrm>
          <a:prstGeom prst="roundRect">
            <a:avLst>
              <a:gd name="adj" fmla="val 14844"/>
            </a:avLst>
          </a:prstGeom>
          <a:solidFill>
            <a:srgbClr val="2D3340"/>
          </a:solidFill>
          <a:ln w="12700">
            <a:solidFill>
              <a:srgbClr val="4A7BE0"/>
            </a:solidFill>
            <a:prstDash val="solid"/>
          </a:ln>
        </p:spPr>
      </p:sp>
      <p:sp>
        <p:nvSpPr>
          <p:cNvPr id="11" name="Text 9"/>
          <p:cNvSpPr/>
          <p:nvPr/>
        </p:nvSpPr>
        <p:spPr>
          <a:xfrm>
            <a:off x="909320" y="3665190"/>
            <a:ext cx="2092960" cy="5588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F5F1EA"/>
                </a:solidFill>
                <a:latin typeface="Noto Sans JP" pitchFamily="34" charset="0"/>
                <a:ea typeface="Noto Sans JP" pitchFamily="34" charset="-122"/>
                <a:cs typeface="Noto Sans JP" pitchFamily="34" charset="-120"/>
              </a:rPr>
              <a:t>④ その上に</a:t>
            </a:r>
            <a:endParaRPr lang="en-US" sz="1500" dirty="0"/>
          </a:p>
          <a:p>
            <a:pPr algn="ctr" indent="0" marL="0">
              <a:lnSpc>
                <a:spcPts val="2100"/>
              </a:lnSpc>
              <a:buNone/>
            </a:pPr>
            <a:r>
              <a:rPr lang="en-US" sz="1500" b="1" dirty="0">
                <a:solidFill>
                  <a:srgbClr val="F5F1EA"/>
                </a:solidFill>
                <a:latin typeface="Noto Sans JP" pitchFamily="34" charset="0"/>
                <a:ea typeface="Noto Sans JP" pitchFamily="34" charset="-122"/>
                <a:cs typeface="Noto Sans JP" pitchFamily="34" charset="-120"/>
              </a:rPr>
              <a:t>新しい層を載せる</a:t>
            </a:r>
            <a:endParaRPr lang="en-US" sz="1500" dirty="0"/>
          </a:p>
        </p:txBody>
      </p:sp>
      <p:pic>
        <p:nvPicPr>
          <p:cNvPr id="12" name="Image 0" descr="connector">    </p:cNvPr>
          <p:cNvPicPr>
            <a:picLocks noChangeAspect="1"/>
          </p:cNvPicPr>
          <p:nvPr/>
        </p:nvPicPr>
        <p:blipFill>
          <a:blip r:embed="rId1"/>
          <a:srcRect l="0" r="0" t="0" b="0"/>
          <a:stretch/>
        </p:blipFill>
        <p:spPr>
          <a:xfrm>
            <a:off x="4749800" y="2649190"/>
            <a:ext cx="698500" cy="984250"/>
          </a:xfrm>
          <a:prstGeom prst="rect">
            <a:avLst/>
          </a:prstGeom>
        </p:spPr>
      </p:pic>
      <p:pic>
        <p:nvPicPr>
          <p:cNvPr id="13" name="Image 1" descr="connector">    </p:cNvPr>
          <p:cNvPicPr>
            <a:picLocks noChangeAspect="1"/>
          </p:cNvPicPr>
          <p:nvPr/>
        </p:nvPicPr>
        <p:blipFill>
          <a:blip r:embed="rId2"/>
          <a:srcRect l="0" r="0" t="0" b="0"/>
          <a:stretch/>
        </p:blipFill>
        <p:spPr>
          <a:xfrm>
            <a:off x="4749800" y="4331940"/>
            <a:ext cx="698500" cy="984250"/>
          </a:xfrm>
          <a:prstGeom prst="rect">
            <a:avLst/>
          </a:prstGeom>
        </p:spPr>
      </p:pic>
      <p:pic>
        <p:nvPicPr>
          <p:cNvPr id="14" name="Image 2" descr="connector">    </p:cNvPr>
          <p:cNvPicPr>
            <a:picLocks noChangeAspect="1"/>
          </p:cNvPicPr>
          <p:nvPr/>
        </p:nvPicPr>
        <p:blipFill>
          <a:blip r:embed="rId3"/>
          <a:srcRect l="0" r="0" t="0" b="0"/>
          <a:stretch/>
        </p:blipFill>
        <p:spPr>
          <a:xfrm>
            <a:off x="1892300" y="4331940"/>
            <a:ext cx="698500" cy="984250"/>
          </a:xfrm>
          <a:prstGeom prst="rect">
            <a:avLst/>
          </a:prstGeom>
        </p:spPr>
      </p:pic>
      <p:pic>
        <p:nvPicPr>
          <p:cNvPr id="15" name="Image 3" descr="connector">    </p:cNvPr>
          <p:cNvPicPr>
            <a:picLocks noChangeAspect="1"/>
          </p:cNvPicPr>
          <p:nvPr/>
        </p:nvPicPr>
        <p:blipFill>
          <a:blip r:embed="rId4"/>
          <a:srcRect l="0" r="0" t="0" b="0"/>
          <a:stretch/>
        </p:blipFill>
        <p:spPr>
          <a:xfrm>
            <a:off x="1892300" y="2649190"/>
            <a:ext cx="698500" cy="984250"/>
          </a:xfrm>
          <a:prstGeom prst="rect">
            <a:avLst/>
          </a:prstGeom>
        </p:spPr>
      </p:pic>
      <p:sp>
        <p:nvSpPr>
          <p:cNvPr id="16" name="Text 10"/>
          <p:cNvSpPr/>
          <p:nvPr/>
        </p:nvSpPr>
        <p:spPr>
          <a:xfrm>
            <a:off x="6934200" y="3119140"/>
            <a:ext cx="4578350" cy="675580"/>
          </a:xfrm>
          <a:prstGeom prst="rect">
            <a:avLst/>
          </a:prstGeom>
          <a:noFill/>
          <a:ln/>
        </p:spPr>
        <p:txBody>
          <a:bodyPr wrap="square" lIns="0" tIns="0" rIns="0" bIns="0" rtlCol="0" anchor="t">
            <a:normAutofit/>
          </a:bodyPr>
          <a:lstStyle/>
          <a:p>
            <a:pPr algn="l" indent="0" marL="0">
              <a:lnSpc>
                <a:spcPts val="2560"/>
              </a:lnSpc>
              <a:buNone/>
            </a:pPr>
            <a:r>
              <a:rPr lang="en-US" sz="1600" b="1" dirty="0">
                <a:solidFill>
                  <a:srgbClr val="F5F1EA"/>
                </a:solidFill>
                <a:latin typeface="Noto Sans JP" pitchFamily="34" charset="0"/>
                <a:ea typeface="Noto Sans JP" pitchFamily="34" charset="-122"/>
                <a:cs typeface="Noto Sans JP" pitchFamily="34" charset="-120"/>
              </a:rPr>
              <a:t>守る</a:t>
            </a:r>
            <a:r>
              <a:rPr lang="en-US" sz="1600" dirty="0">
                <a:solidFill>
                  <a:srgbClr val="F5F1EA"/>
                </a:solidFill>
                <a:latin typeface="Noto Sans JP" pitchFamily="34" charset="0"/>
                <a:ea typeface="Noto Sans JP" pitchFamily="34" charset="-122"/>
                <a:cs typeface="Noto Sans JP" pitchFamily="34" charset="-120"/>
              </a:rPr>
              <a:t>ためのネットワークが、</a:t>
            </a:r>
            <a:r>
              <a:rPr lang="en-US" sz="1600" b="1" dirty="0">
                <a:solidFill>
                  <a:srgbClr val="F5F1EA"/>
                </a:solidFill>
                <a:latin typeface="Noto Sans JP" pitchFamily="34" charset="0"/>
                <a:ea typeface="Noto Sans JP" pitchFamily="34" charset="-122"/>
                <a:cs typeface="Noto Sans JP" pitchFamily="34" charset="-120"/>
              </a:rPr>
              <a:t>コードを動かす</a:t>
            </a:r>
            <a:r>
              <a:rPr lang="en-US" sz="1600" dirty="0">
                <a:solidFill>
                  <a:srgbClr val="F5F1EA"/>
                </a:solidFill>
                <a:latin typeface="Noto Sans JP" pitchFamily="34" charset="0"/>
                <a:ea typeface="Noto Sans JP" pitchFamily="34" charset="-122"/>
                <a:cs typeface="Noto Sans JP" pitchFamily="34" charset="-120"/>
              </a:rPr>
              <a:t>場所になり、</a:t>
            </a:r>
            <a:r>
              <a:rPr lang="en-US" sz="1600" b="1" dirty="0">
                <a:solidFill>
                  <a:srgbClr val="F5F1EA"/>
                </a:solidFill>
                <a:latin typeface="Noto Sans JP" pitchFamily="34" charset="0"/>
                <a:ea typeface="Noto Sans JP" pitchFamily="34" charset="-122"/>
                <a:cs typeface="Noto Sans JP" pitchFamily="34" charset="-120"/>
              </a:rPr>
              <a:t>AI を動かす</a:t>
            </a:r>
            <a:r>
              <a:rPr lang="en-US" sz="1600" dirty="0">
                <a:solidFill>
                  <a:srgbClr val="F5F1EA"/>
                </a:solidFill>
                <a:latin typeface="Noto Sans JP" pitchFamily="34" charset="0"/>
                <a:ea typeface="Noto Sans JP" pitchFamily="34" charset="-122"/>
                <a:cs typeface="Noto Sans JP" pitchFamily="34" charset="-120"/>
              </a:rPr>
              <a:t>場所になった</a:t>
            </a:r>
            <a:endParaRPr lang="en-US" sz="1600" dirty="0"/>
          </a:p>
        </p:txBody>
      </p:sp>
      <p:sp>
        <p:nvSpPr>
          <p:cNvPr id="17" name="Text 11"/>
          <p:cNvSpPr/>
          <p:nvPr/>
        </p:nvSpPr>
        <p:spPr>
          <a:xfrm>
            <a:off x="6934200" y="3947120"/>
            <a:ext cx="4578350" cy="878780"/>
          </a:xfrm>
          <a:prstGeom prst="rect">
            <a:avLst/>
          </a:prstGeom>
          <a:noFill/>
          <a:ln/>
        </p:spPr>
        <p:txBody>
          <a:bodyPr wrap="square" lIns="0" tIns="0" rIns="0" bIns="0" rtlCol="0" anchor="t">
            <a:normAutofit/>
          </a:bodyPr>
          <a:lstStyle/>
          <a:p>
            <a:pPr algn="l" indent="0" marL="0">
              <a:lnSpc>
                <a:spcPts val="2240"/>
              </a:lnSpc>
              <a:buNone/>
            </a:pPr>
            <a:r>
              <a:rPr lang="en-US" sz="1400" dirty="0">
                <a:solidFill>
                  <a:srgbClr val="C9C3B8"/>
                </a:solidFill>
                <a:latin typeface="Noto Sans JP" pitchFamily="34" charset="0"/>
                <a:ea typeface="Noto Sans JP" pitchFamily="34" charset="-122"/>
                <a:cs typeface="Noto Sans JP" pitchFamily="34" charset="-120"/>
              </a:rPr>
              <a:t>AI 時代に強いのは、GPU があるからだけではない。利用者の近くにある拠点、膨大な通信のデータ、すでに使っている開発者、という「前の層の資産」があるから</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B4560A"/>
                </a:solidFill>
                <a:latin typeface="Noto Sans JP" pitchFamily="34" charset="0"/>
                <a:ea typeface="Noto Sans JP" pitchFamily="34" charset="-122"/>
                <a:cs typeface="Noto Sans JP" pitchFamily="34" charset="-120"/>
              </a:rPr>
              <a:t>AI を作る側の機能</a:t>
            </a:r>
            <a:endParaRPr lang="en-US" sz="1400" dirty="0"/>
          </a:p>
        </p:txBody>
      </p:sp>
      <p:sp>
        <p:nvSpPr>
          <p:cNvPr id="3" name="Text 1"/>
          <p:cNvSpPr/>
          <p:nvPr>
            <p:ph type="title"/>
          </p:nvPr>
        </p:nvSpPr>
        <p:spPr>
          <a:xfrm>
            <a:off x="812800" y="1315690"/>
            <a:ext cx="10883392" cy="533400"/>
          </a:xfrm>
          <a:prstGeom prst="rect">
            <a:avLst/>
          </a:prstGeom>
          <a:noFill/>
          <a:ln/>
        </p:spPr>
        <p:txBody>
          <a:bodyPr wrap="square" lIns="0" tIns="0" rIns="0" bIns="0" rtlCol="0" anchor="t">
            <a:normAutofit/>
          </a:bodyPr>
          <a:lstStyle/>
          <a:p>
            <a:pPr algn="l" indent="0" marL="0">
              <a:lnSpc>
                <a:spcPts val="4000"/>
              </a:lnSpc>
              <a:buNone/>
            </a:pPr>
            <a:r>
              <a:rPr lang="en-US" sz="3200" b="1" i="0" dirty="0">
                <a:solidFill>
                  <a:srgbClr val="1C1F26"/>
                </a:solidFill>
                <a:latin typeface="Noto Sans JP" pitchFamily="34" charset="0"/>
                <a:ea typeface="Noto Sans JP" pitchFamily="34" charset="-122"/>
                <a:cs typeface="Noto Sans JP" pitchFamily="34" charset="-120"/>
              </a:rPr>
              <a:t>AI アプリやエージェントを作るための部品</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090390"/>
          <a:ext cx="10553700" cy="2702074"/>
        </p:xfrm>
        <a:graphic>
          <a:graphicData uri="http://schemas.openxmlformats.org/drawingml/2006/table">
            <a:tbl>
              <a:tblPr/>
              <a:tblGrid>
                <a:gridCol w="2743962"/>
                <a:gridCol w="5910072"/>
                <a:gridCol w="1899666"/>
              </a:tblGrid>
              <a:tr h="386011">
                <a:tc>
                  <a:txBody>
                    <a:bodyPr/>
                    <a:lstStyle/>
                    <a:p>
                      <a:pPr indent="0" marL="0">
                        <a:lnSpc>
                          <a:spcPts val="1960"/>
                        </a:lnSpc>
                        <a:buNone/>
                      </a:pPr>
                      <a:r>
                        <a:rPr lang="en-US" sz="1400" b="1" dirty="0">
                          <a:solidFill>
                            <a:srgbClr val="F5F1EA"/>
                          </a:solidFill>
                          <a:latin typeface="Noto Sans JP" pitchFamily="34" charset="0"/>
                          <a:ea typeface="Noto Sans JP" pitchFamily="34" charset="-122"/>
                          <a:cs typeface="Noto Sans JP" pitchFamily="34" charset="-120"/>
                        </a:rPr>
                        <a:t>サービス</a:t>
                      </a:r>
                      <a:endParaRPr lang="en-US" sz="1400" dirty="0">
                        <a:latin typeface="Noto Sans JP" charset="0"/>
                        <a:ea typeface="Noto Sans JP" charset="0"/>
                        <a:cs typeface="Noto Sans JP" charset="0"/>
                      </a:endParaRPr>
                    </a:p>
                  </a:txBody>
                  <a:tcPr marL="62230" marR="62230" marT="62230" marB="62230" anchor="t">
                    <a:lnL w="12700" cap="flat" cmpd="sng" algn="ctr">
                      <a:solidFill>
                        <a:srgbClr val="C7C5C1"/>
                      </a:solidFill>
                      <a:prstDash val="solid"/>
                      <a:round/>
                      <a:headEnd type="none" w="med" len="med"/>
                      <a:tailEnd type="none" w="med" len="med"/>
                    </a:lnL>
                    <a:lnR w="12700" cap="flat" cmpd="sng" algn="ctr">
                      <a:solidFill>
                        <a:srgbClr val="1A1D22"/>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1A1D22"/>
                      </a:solidFill>
                      <a:prstDash val="solid"/>
                      <a:round/>
                      <a:headEnd type="none" w="med" len="med"/>
                      <a:tailEnd type="none" w="med" len="med"/>
                    </a:lnB>
                    <a:solidFill>
                      <a:srgbClr val="1C1F26"/>
                    </a:solidFill>
                  </a:tcPr>
                </a:tc>
                <a:tc>
                  <a:txBody>
                    <a:bodyPr/>
                    <a:lstStyle/>
                    <a:p>
                      <a:pPr indent="0" marL="0">
                        <a:lnSpc>
                          <a:spcPts val="1960"/>
                        </a:lnSpc>
                        <a:buNone/>
                      </a:pPr>
                      <a:r>
                        <a:rPr lang="en-US" sz="1400" b="1" dirty="0">
                          <a:solidFill>
                            <a:srgbClr val="F5F1EA"/>
                          </a:solidFill>
                          <a:latin typeface="Noto Sans JP" pitchFamily="34" charset="0"/>
                          <a:ea typeface="Noto Sans JP" pitchFamily="34" charset="-122"/>
                          <a:cs typeface="Noto Sans JP" pitchFamily="34" charset="-120"/>
                        </a:rPr>
                        <a:t>何をするか</a:t>
                      </a:r>
                      <a:endParaRPr lang="en-US" sz="1400" dirty="0">
                        <a:latin typeface="Noto Sans JP" charset="0"/>
                        <a:ea typeface="Noto Sans JP" charset="0"/>
                        <a:cs typeface="Noto Sans JP" charset="0"/>
                      </a:endParaRPr>
                    </a:p>
                  </a:txBody>
                  <a:tcPr marL="62230" marR="62230" marT="62230" marB="62230" anchor="t">
                    <a:lnL w="12700" cap="flat" cmpd="sng" algn="ctr">
                      <a:solidFill>
                        <a:srgbClr val="1A1D22"/>
                      </a:solidFill>
                      <a:prstDash val="solid"/>
                      <a:round/>
                      <a:headEnd type="none" w="med" len="med"/>
                      <a:tailEnd type="none" w="med" len="med"/>
                    </a:lnL>
                    <a:lnR w="12700" cap="flat" cmpd="sng" algn="ctr">
                      <a:solidFill>
                        <a:srgbClr val="1A1D22"/>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1A1D22"/>
                      </a:solidFill>
                      <a:prstDash val="solid"/>
                      <a:round/>
                      <a:headEnd type="none" w="med" len="med"/>
                      <a:tailEnd type="none" w="med" len="med"/>
                    </a:lnB>
                    <a:solidFill>
                      <a:srgbClr val="1C1F26"/>
                    </a:solidFill>
                  </a:tcPr>
                </a:tc>
                <a:tc>
                  <a:txBody>
                    <a:bodyPr/>
                    <a:lstStyle/>
                    <a:p>
                      <a:pPr indent="0" marL="0">
                        <a:lnSpc>
                          <a:spcPts val="1960"/>
                        </a:lnSpc>
                        <a:buNone/>
                      </a:pPr>
                      <a:r>
                        <a:rPr lang="en-US" sz="1400" b="1" dirty="0">
                          <a:solidFill>
                            <a:srgbClr val="F5F1EA"/>
                          </a:solidFill>
                          <a:latin typeface="Noto Sans JP" pitchFamily="34" charset="0"/>
                          <a:ea typeface="Noto Sans JP" pitchFamily="34" charset="-122"/>
                          <a:cs typeface="Noto Sans JP" pitchFamily="34" charset="-120"/>
                        </a:rPr>
                        <a:t>ハンズオン</a:t>
                      </a:r>
                      <a:endParaRPr lang="en-US" sz="1400" dirty="0">
                        <a:latin typeface="Noto Sans JP" charset="0"/>
                        <a:ea typeface="Noto Sans JP" charset="0"/>
                        <a:cs typeface="Noto Sans JP" charset="0"/>
                      </a:endParaRPr>
                    </a:p>
                  </a:txBody>
                  <a:tcPr marL="62230" marR="62230" marT="62230" marB="62230" anchor="t">
                    <a:lnL w="12700" cap="flat" cmpd="sng" algn="ctr">
                      <a:solidFill>
                        <a:srgbClr val="1A1D22"/>
                      </a:solidFill>
                      <a:prstDash val="solid"/>
                      <a:round/>
                      <a:headEnd type="none" w="med" len="med"/>
                      <a:tailEnd type="none" w="med" len="med"/>
                    </a:lnL>
                    <a:lnR w="12700" cap="flat" cmpd="sng" algn="ctr">
                      <a:solidFill>
                        <a:srgbClr val="1A1D22"/>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1A1D22"/>
                      </a:solidFill>
                      <a:prstDash val="solid"/>
                      <a:round/>
                      <a:headEnd type="none" w="med" len="med"/>
                      <a:tailEnd type="none" w="med" len="med"/>
                    </a:lnB>
                    <a:solidFill>
                      <a:srgbClr val="1C1F26"/>
                    </a:solidFill>
                  </a:tcPr>
                </a:tc>
              </a:tr>
              <a:tr h="386011">
                <a:tc>
                  <a:txBody>
                    <a:bodyPr/>
                    <a:lstStyle/>
                    <a:p>
                      <a:pPr indent="0" marL="0">
                        <a:lnSpc>
                          <a:spcPts val="1960"/>
                        </a:lnSpc>
                        <a:buNone/>
                      </a:pPr>
                      <a:r>
                        <a:rPr lang="en-US" sz="1400" dirty="0">
                          <a:solidFill>
                            <a:srgbClr val="1C1F26"/>
                          </a:solidFill>
                          <a:latin typeface="Noto Sans JP" pitchFamily="34" charset="0"/>
                          <a:ea typeface="Noto Sans JP" pitchFamily="34" charset="-122"/>
                          <a:cs typeface="Noto Sans JP" pitchFamily="34" charset="-120"/>
                        </a:rPr>
                        <a:t>Workers AI</a:t>
                      </a:r>
                      <a:endParaRPr lang="en-US" sz="1400" dirty="0">
                        <a:latin typeface="Noto Sans JP" charset="0"/>
                        <a:ea typeface="Noto Sans JP" charset="0"/>
                        <a:cs typeface="Noto Sans JP" charset="0"/>
                      </a:endParaRPr>
                    </a:p>
                  </a:txBody>
                  <a:tcPr marL="62230" marR="62230" marT="62230" marB="62230" anchor="t">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1A1D22"/>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c>
                  <a:txBody>
                    <a:bodyPr/>
                    <a:lstStyle/>
                    <a:p>
                      <a:pPr indent="0" marL="0">
                        <a:lnSpc>
                          <a:spcPts val="1960"/>
                        </a:lnSpc>
                        <a:buNone/>
                      </a:pPr>
                      <a:r>
                        <a:rPr lang="en-US" sz="1400" dirty="0">
                          <a:solidFill>
                            <a:srgbClr val="1C1F26"/>
                          </a:solidFill>
                          <a:latin typeface="Noto Sans JP" pitchFamily="34" charset="0"/>
                          <a:ea typeface="Noto Sans JP" pitchFamily="34" charset="-122"/>
                          <a:cs typeface="Noto Sans JP" pitchFamily="34" charset="-120"/>
                        </a:rPr>
                        <a:t>Cloudflare の GPU で AI モデルを動かす。コードから 1 行で呼べる</a:t>
                      </a:r>
                      <a:endParaRPr lang="en-US" sz="1400" dirty="0">
                        <a:latin typeface="Noto Sans JP" charset="0"/>
                        <a:ea typeface="Noto Sans JP" charset="0"/>
                        <a:cs typeface="Noto Sans JP" charset="0"/>
                      </a:endParaRPr>
                    </a:p>
                  </a:txBody>
                  <a:tcPr marL="62230" marR="62230" marT="62230" marB="62230" anchor="t">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1A1D22"/>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c>
                  <a:txBody>
                    <a:bodyPr/>
                    <a:lstStyle/>
                    <a:p>
                      <a:pPr indent="0" marL="0">
                        <a:lnSpc>
                          <a:spcPts val="1960"/>
                        </a:lnSpc>
                        <a:buNone/>
                      </a:pPr>
                      <a:r>
                        <a:rPr lang="en-US" sz="1400" dirty="0">
                          <a:solidFill>
                            <a:srgbClr val="1C1F26"/>
                          </a:solidFill>
                          <a:latin typeface="Noto Sans JP" pitchFamily="34" charset="0"/>
                          <a:ea typeface="Noto Sans JP" pitchFamily="34" charset="-122"/>
                          <a:cs typeface="Noto Sans JP" pitchFamily="34" charset="-120"/>
                        </a:rPr>
                        <a:t>触る</a:t>
                      </a:r>
                      <a:endParaRPr lang="en-US" sz="1400" dirty="0">
                        <a:latin typeface="Noto Sans JP" charset="0"/>
                        <a:ea typeface="Noto Sans JP" charset="0"/>
                        <a:cs typeface="Noto Sans JP" charset="0"/>
                      </a:endParaRPr>
                    </a:p>
                  </a:txBody>
                  <a:tcPr marL="62230" marR="62230" marT="62230" marB="62230" anchor="t">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1A1D22"/>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r>
              <a:tr h="386011">
                <a:tc>
                  <a:txBody>
                    <a:bodyPr/>
                    <a:lstStyle/>
                    <a:p>
                      <a:pPr indent="0" marL="0">
                        <a:lnSpc>
                          <a:spcPts val="1960"/>
                        </a:lnSpc>
                        <a:buNone/>
                      </a:pPr>
                      <a:r>
                        <a:rPr lang="en-US" sz="1400" dirty="0">
                          <a:solidFill>
                            <a:srgbClr val="1C1F26"/>
                          </a:solidFill>
                          <a:latin typeface="Noto Sans JP" pitchFamily="34" charset="0"/>
                          <a:ea typeface="Noto Sans JP" pitchFamily="34" charset="-122"/>
                          <a:cs typeface="Noto Sans JP" pitchFamily="34" charset="-120"/>
                        </a:rPr>
                        <a:t>AI Gateway</a:t>
                      </a:r>
                      <a:endParaRPr lang="en-US" sz="1400" dirty="0">
                        <a:latin typeface="Noto Sans JP" charset="0"/>
                        <a:ea typeface="Noto Sans JP" charset="0"/>
                        <a:cs typeface="Noto Sans JP" charset="0"/>
                      </a:endParaRPr>
                    </a:p>
                  </a:txBody>
                  <a:tcPr marL="62230" marR="62230" marT="62230" marB="62230" anchor="t">
                    <a:lnL w="12700" cap="flat" cmpd="sng" algn="ctr">
                      <a:solidFill>
                        <a:srgbClr val="C7C5C1"/>
                      </a:solidFill>
                      <a:prstDash val="solid"/>
                      <a:round/>
                      <a:headEnd type="none" w="med" len="med"/>
                      <a:tailEnd type="none" w="med" len="med"/>
                    </a:lnL>
                    <a:lnR w="12700" cap="flat" cmpd="sng" algn="ctr">
                      <a:solidFill>
                        <a:srgbClr val="C0BCB6"/>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0BCB6"/>
                      </a:solidFill>
                      <a:prstDash val="solid"/>
                      <a:round/>
                      <a:headEnd type="none" w="med" len="med"/>
                      <a:tailEnd type="none" w="med" len="med"/>
                    </a:lnB>
                    <a:solidFill>
                      <a:srgbClr val="F1ECE4"/>
                    </a:solidFill>
                  </a:tcPr>
                </a:tc>
                <a:tc>
                  <a:txBody>
                    <a:bodyPr/>
                    <a:lstStyle/>
                    <a:p>
                      <a:pPr indent="0" marL="0">
                        <a:lnSpc>
                          <a:spcPts val="1960"/>
                        </a:lnSpc>
                        <a:buNone/>
                      </a:pPr>
                      <a:r>
                        <a:rPr lang="en-US" sz="1400" dirty="0">
                          <a:solidFill>
                            <a:srgbClr val="1C1F26"/>
                          </a:solidFill>
                          <a:latin typeface="Noto Sans JP" pitchFamily="34" charset="0"/>
                          <a:ea typeface="Noto Sans JP" pitchFamily="34" charset="-122"/>
                          <a:cs typeface="Noto Sans JP" pitchFamily="34" charset="-120"/>
                        </a:rPr>
                        <a:t>どの AI への通信も一か所で記録・キャッシュ・制限する窓口</a:t>
                      </a:r>
                      <a:endParaRPr lang="en-US" sz="1400" dirty="0">
                        <a:latin typeface="Noto Sans JP" charset="0"/>
                        <a:ea typeface="Noto Sans JP" charset="0"/>
                        <a:cs typeface="Noto Sans JP" charset="0"/>
                      </a:endParaRPr>
                    </a:p>
                  </a:txBody>
                  <a:tcPr marL="62230" marR="62230" marT="62230" marB="62230" anchor="t">
                    <a:lnL w="12700" cap="flat" cmpd="sng" algn="ctr">
                      <a:solidFill>
                        <a:srgbClr val="C0BCB6"/>
                      </a:solidFill>
                      <a:prstDash val="solid"/>
                      <a:round/>
                      <a:headEnd type="none" w="med" len="med"/>
                      <a:tailEnd type="none" w="med" len="med"/>
                    </a:lnL>
                    <a:lnR w="12700" cap="flat" cmpd="sng" algn="ctr">
                      <a:solidFill>
                        <a:srgbClr val="C0BCB6"/>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0BCB6"/>
                      </a:solidFill>
                      <a:prstDash val="solid"/>
                      <a:round/>
                      <a:headEnd type="none" w="med" len="med"/>
                      <a:tailEnd type="none" w="med" len="med"/>
                    </a:lnB>
                    <a:solidFill>
                      <a:srgbClr val="F1ECE4"/>
                    </a:solidFill>
                  </a:tcPr>
                </a:tc>
                <a:tc>
                  <a:txBody>
                    <a:bodyPr/>
                    <a:lstStyle/>
                    <a:p>
                      <a:pPr indent="0" marL="0">
                        <a:lnSpc>
                          <a:spcPts val="1960"/>
                        </a:lnSpc>
                        <a:buNone/>
                      </a:pPr>
                      <a:r>
                        <a:rPr lang="en-US" sz="1400" dirty="0">
                          <a:solidFill>
                            <a:srgbClr val="1C1F26"/>
                          </a:solidFill>
                          <a:latin typeface="Noto Sans JP" pitchFamily="34" charset="0"/>
                          <a:ea typeface="Noto Sans JP" pitchFamily="34" charset="-122"/>
                          <a:cs typeface="Noto Sans JP" pitchFamily="34" charset="-120"/>
                        </a:rPr>
                        <a:t>—</a:t>
                      </a:r>
                      <a:endParaRPr lang="en-US" sz="1400" dirty="0">
                        <a:latin typeface="Noto Sans JP" charset="0"/>
                        <a:ea typeface="Noto Sans JP" charset="0"/>
                        <a:cs typeface="Noto Sans JP" charset="0"/>
                      </a:endParaRPr>
                    </a:p>
                  </a:txBody>
                  <a:tcPr marL="62230" marR="62230" marT="62230" marB="62230" anchor="t">
                    <a:lnL w="12700" cap="flat" cmpd="sng" algn="ctr">
                      <a:solidFill>
                        <a:srgbClr val="C0BCB6"/>
                      </a:solidFill>
                      <a:prstDash val="solid"/>
                      <a:round/>
                      <a:headEnd type="none" w="med" len="med"/>
                      <a:tailEnd type="none" w="med" len="med"/>
                    </a:lnL>
                    <a:lnR w="12700" cap="flat" cmpd="sng" algn="ctr">
                      <a:solidFill>
                        <a:srgbClr val="C0BCB6"/>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0BCB6"/>
                      </a:solidFill>
                      <a:prstDash val="solid"/>
                      <a:round/>
                      <a:headEnd type="none" w="med" len="med"/>
                      <a:tailEnd type="none" w="med" len="med"/>
                    </a:lnB>
                    <a:solidFill>
                      <a:srgbClr val="F1ECE4"/>
                    </a:solidFill>
                  </a:tcPr>
                </a:tc>
              </a:tr>
              <a:tr h="386011">
                <a:tc>
                  <a:txBody>
                    <a:bodyPr/>
                    <a:lstStyle/>
                    <a:p>
                      <a:pPr indent="0" marL="0">
                        <a:lnSpc>
                          <a:spcPts val="1960"/>
                        </a:lnSpc>
                        <a:buNone/>
                      </a:pPr>
                      <a:r>
                        <a:rPr lang="en-US" sz="1400" dirty="0">
                          <a:solidFill>
                            <a:srgbClr val="1C1F26"/>
                          </a:solidFill>
                          <a:latin typeface="Noto Sans JP" pitchFamily="34" charset="0"/>
                          <a:ea typeface="Noto Sans JP" pitchFamily="34" charset="-122"/>
                          <a:cs typeface="Noto Sans JP" pitchFamily="34" charset="-120"/>
                        </a:rPr>
                        <a:t>Agents SDK・MCP</a:t>
                      </a:r>
                      <a:endParaRPr lang="en-US" sz="1400" dirty="0">
                        <a:latin typeface="Noto Sans JP" charset="0"/>
                        <a:ea typeface="Noto Sans JP" charset="0"/>
                        <a:cs typeface="Noto Sans JP" charset="0"/>
                      </a:endParaRPr>
                    </a:p>
                  </a:txBody>
                  <a:tcPr marL="62230" marR="62230" marT="62230" marB="62230" anchor="t">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0BCB6"/>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c>
                  <a:txBody>
                    <a:bodyPr/>
                    <a:lstStyle/>
                    <a:p>
                      <a:pPr indent="0" marL="0">
                        <a:lnSpc>
                          <a:spcPts val="1960"/>
                        </a:lnSpc>
                        <a:buNone/>
                      </a:pPr>
                      <a:r>
                        <a:rPr lang="en-US" sz="1400" dirty="0">
                          <a:solidFill>
                            <a:srgbClr val="1C1F26"/>
                          </a:solidFill>
                          <a:latin typeface="Noto Sans JP" pitchFamily="34" charset="0"/>
                          <a:ea typeface="Noto Sans JP" pitchFamily="34" charset="-122"/>
                          <a:cs typeface="Noto Sans JP" pitchFamily="34" charset="-120"/>
                        </a:rPr>
                        <a:t>エージェントや MCP サーバーを Workers 上で作るための道具</a:t>
                      </a:r>
                      <a:endParaRPr lang="en-US" sz="1400" dirty="0">
                        <a:latin typeface="Noto Sans JP" charset="0"/>
                        <a:ea typeface="Noto Sans JP" charset="0"/>
                        <a:cs typeface="Noto Sans JP" charset="0"/>
                      </a:endParaRPr>
                    </a:p>
                  </a:txBody>
                  <a:tcPr marL="62230" marR="62230" marT="62230" marB="62230" anchor="t">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0BCB6"/>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c>
                  <a:txBody>
                    <a:bodyPr/>
                    <a:lstStyle/>
                    <a:p>
                      <a:pPr indent="0" marL="0">
                        <a:lnSpc>
                          <a:spcPts val="1960"/>
                        </a:lnSpc>
                        <a:buNone/>
                      </a:pPr>
                      <a:r>
                        <a:rPr lang="en-US" sz="1400" dirty="0">
                          <a:solidFill>
                            <a:srgbClr val="1C1F26"/>
                          </a:solidFill>
                          <a:latin typeface="Noto Sans JP" pitchFamily="34" charset="0"/>
                          <a:ea typeface="Noto Sans JP" pitchFamily="34" charset="-122"/>
                          <a:cs typeface="Noto Sans JP" pitchFamily="34" charset="-120"/>
                        </a:rPr>
                        <a:t>触る</a:t>
                      </a:r>
                      <a:endParaRPr lang="en-US" sz="1400" dirty="0">
                        <a:latin typeface="Noto Sans JP" charset="0"/>
                        <a:ea typeface="Noto Sans JP" charset="0"/>
                        <a:cs typeface="Noto Sans JP" charset="0"/>
                      </a:endParaRPr>
                    </a:p>
                  </a:txBody>
                  <a:tcPr marL="62230" marR="62230" marT="62230" marB="62230" anchor="t">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0BCB6"/>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r>
              <a:tr h="386011">
                <a:tc>
                  <a:txBody>
                    <a:bodyPr/>
                    <a:lstStyle/>
                    <a:p>
                      <a:pPr indent="0" marL="0">
                        <a:lnSpc>
                          <a:spcPts val="1960"/>
                        </a:lnSpc>
                        <a:buNone/>
                      </a:pPr>
                      <a:r>
                        <a:rPr lang="en-US" sz="1400" dirty="0">
                          <a:solidFill>
                            <a:srgbClr val="1C1F26"/>
                          </a:solidFill>
                          <a:latin typeface="Noto Sans JP" pitchFamily="34" charset="0"/>
                          <a:ea typeface="Noto Sans JP" pitchFamily="34" charset="-122"/>
                          <a:cs typeface="Noto Sans JP" pitchFamily="34" charset="-120"/>
                        </a:rPr>
                        <a:t>AI Search・Vectorize</a:t>
                      </a:r>
                      <a:endParaRPr lang="en-US" sz="1400" dirty="0">
                        <a:latin typeface="Noto Sans JP" charset="0"/>
                        <a:ea typeface="Noto Sans JP" charset="0"/>
                        <a:cs typeface="Noto Sans JP" charset="0"/>
                      </a:endParaRPr>
                    </a:p>
                  </a:txBody>
                  <a:tcPr marL="62230" marR="62230" marT="62230" marB="62230" anchor="t">
                    <a:lnL w="12700" cap="flat" cmpd="sng" algn="ctr">
                      <a:solidFill>
                        <a:srgbClr val="C7C5C1"/>
                      </a:solidFill>
                      <a:prstDash val="solid"/>
                      <a:round/>
                      <a:headEnd type="none" w="med" len="med"/>
                      <a:tailEnd type="none" w="med" len="med"/>
                    </a:lnL>
                    <a:lnR w="12700" cap="flat" cmpd="sng" algn="ctr">
                      <a:solidFill>
                        <a:srgbClr val="C0BCB6"/>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0BCB6"/>
                      </a:solidFill>
                      <a:prstDash val="solid"/>
                      <a:round/>
                      <a:headEnd type="none" w="med" len="med"/>
                      <a:tailEnd type="none" w="med" len="med"/>
                    </a:lnB>
                    <a:solidFill>
                      <a:srgbClr val="F1ECE4"/>
                    </a:solidFill>
                  </a:tcPr>
                </a:tc>
                <a:tc>
                  <a:txBody>
                    <a:bodyPr/>
                    <a:lstStyle/>
                    <a:p>
                      <a:pPr indent="0" marL="0">
                        <a:lnSpc>
                          <a:spcPts val="1960"/>
                        </a:lnSpc>
                        <a:buNone/>
                      </a:pPr>
                      <a:r>
                        <a:rPr lang="en-US" sz="1400" dirty="0">
                          <a:solidFill>
                            <a:srgbClr val="1C1F26"/>
                          </a:solidFill>
                          <a:latin typeface="Noto Sans JP" pitchFamily="34" charset="0"/>
                          <a:ea typeface="Noto Sans JP" pitchFamily="34" charset="-122"/>
                          <a:cs typeface="Noto Sans JP" pitchFamily="34" charset="-120"/>
                        </a:rPr>
                        <a:t>自分の資料を AI に検索させる（RAG）</a:t>
                      </a:r>
                      <a:endParaRPr lang="en-US" sz="1400" dirty="0">
                        <a:latin typeface="Noto Sans JP" charset="0"/>
                        <a:ea typeface="Noto Sans JP" charset="0"/>
                        <a:cs typeface="Noto Sans JP" charset="0"/>
                      </a:endParaRPr>
                    </a:p>
                  </a:txBody>
                  <a:tcPr marL="62230" marR="62230" marT="62230" marB="62230" anchor="t">
                    <a:lnL w="12700" cap="flat" cmpd="sng" algn="ctr">
                      <a:solidFill>
                        <a:srgbClr val="C0BCB6"/>
                      </a:solidFill>
                      <a:prstDash val="solid"/>
                      <a:round/>
                      <a:headEnd type="none" w="med" len="med"/>
                      <a:tailEnd type="none" w="med" len="med"/>
                    </a:lnL>
                    <a:lnR w="12700" cap="flat" cmpd="sng" algn="ctr">
                      <a:solidFill>
                        <a:srgbClr val="C0BCB6"/>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0BCB6"/>
                      </a:solidFill>
                      <a:prstDash val="solid"/>
                      <a:round/>
                      <a:headEnd type="none" w="med" len="med"/>
                      <a:tailEnd type="none" w="med" len="med"/>
                    </a:lnB>
                    <a:solidFill>
                      <a:srgbClr val="F1ECE4"/>
                    </a:solidFill>
                  </a:tcPr>
                </a:tc>
                <a:tc>
                  <a:txBody>
                    <a:bodyPr/>
                    <a:lstStyle/>
                    <a:p>
                      <a:pPr indent="0" marL="0">
                        <a:lnSpc>
                          <a:spcPts val="1960"/>
                        </a:lnSpc>
                        <a:buNone/>
                      </a:pPr>
                      <a:r>
                        <a:rPr lang="en-US" sz="1400" dirty="0">
                          <a:solidFill>
                            <a:srgbClr val="1C1F26"/>
                          </a:solidFill>
                          <a:latin typeface="Noto Sans JP" pitchFamily="34" charset="0"/>
                          <a:ea typeface="Noto Sans JP" pitchFamily="34" charset="-122"/>
                          <a:cs typeface="Noto Sans JP" pitchFamily="34" charset="-120"/>
                        </a:rPr>
                        <a:t>—</a:t>
                      </a:r>
                      <a:endParaRPr lang="en-US" sz="1400" dirty="0">
                        <a:latin typeface="Noto Sans JP" charset="0"/>
                        <a:ea typeface="Noto Sans JP" charset="0"/>
                        <a:cs typeface="Noto Sans JP" charset="0"/>
                      </a:endParaRPr>
                    </a:p>
                  </a:txBody>
                  <a:tcPr marL="62230" marR="62230" marT="62230" marB="62230" anchor="t">
                    <a:lnL w="12700" cap="flat" cmpd="sng" algn="ctr">
                      <a:solidFill>
                        <a:srgbClr val="C0BCB6"/>
                      </a:solidFill>
                      <a:prstDash val="solid"/>
                      <a:round/>
                      <a:headEnd type="none" w="med" len="med"/>
                      <a:tailEnd type="none" w="med" len="med"/>
                    </a:lnL>
                    <a:lnR w="12700" cap="flat" cmpd="sng" algn="ctr">
                      <a:solidFill>
                        <a:srgbClr val="C0BCB6"/>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0BCB6"/>
                      </a:solidFill>
                      <a:prstDash val="solid"/>
                      <a:round/>
                      <a:headEnd type="none" w="med" len="med"/>
                      <a:tailEnd type="none" w="med" len="med"/>
                    </a:lnB>
                    <a:solidFill>
                      <a:srgbClr val="F1ECE4"/>
                    </a:solidFill>
                  </a:tcPr>
                </a:tc>
              </a:tr>
              <a:tr h="386011">
                <a:tc>
                  <a:txBody>
                    <a:bodyPr/>
                    <a:lstStyle/>
                    <a:p>
                      <a:pPr indent="0" marL="0">
                        <a:lnSpc>
                          <a:spcPts val="1960"/>
                        </a:lnSpc>
                        <a:buNone/>
                      </a:pPr>
                      <a:r>
                        <a:rPr lang="en-US" sz="1400" dirty="0">
                          <a:solidFill>
                            <a:srgbClr val="1C1F26"/>
                          </a:solidFill>
                          <a:latin typeface="Noto Sans JP" pitchFamily="34" charset="0"/>
                          <a:ea typeface="Noto Sans JP" pitchFamily="34" charset="-122"/>
                          <a:cs typeface="Noto Sans JP" pitchFamily="34" charset="-120"/>
                        </a:rPr>
                        <a:t>Sandboxes</a:t>
                      </a:r>
                      <a:endParaRPr lang="en-US" sz="1400" dirty="0">
                        <a:latin typeface="Noto Sans JP" charset="0"/>
                        <a:ea typeface="Noto Sans JP" charset="0"/>
                        <a:cs typeface="Noto Sans JP" charset="0"/>
                      </a:endParaRPr>
                    </a:p>
                  </a:txBody>
                  <a:tcPr marL="62230" marR="62230" marT="62230" marB="62230" anchor="t">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0BCB6"/>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c>
                  <a:txBody>
                    <a:bodyPr/>
                    <a:lstStyle/>
                    <a:p>
                      <a:pPr indent="0" marL="0">
                        <a:lnSpc>
                          <a:spcPts val="1960"/>
                        </a:lnSpc>
                        <a:buNone/>
                      </a:pPr>
                      <a:r>
                        <a:rPr lang="en-US" sz="1400" dirty="0">
                          <a:solidFill>
                            <a:srgbClr val="1C1F26"/>
                          </a:solidFill>
                          <a:latin typeface="Noto Sans JP" pitchFamily="34" charset="0"/>
                          <a:ea typeface="Noto Sans JP" pitchFamily="34" charset="-122"/>
                          <a:cs typeface="Noto Sans JP" pitchFamily="34" charset="-120"/>
                        </a:rPr>
                        <a:t>エージェントがコマンドを実行できる、隔離された実行環境</a:t>
                      </a:r>
                      <a:endParaRPr lang="en-US" sz="1400" dirty="0">
                        <a:latin typeface="Noto Sans JP" charset="0"/>
                        <a:ea typeface="Noto Sans JP" charset="0"/>
                        <a:cs typeface="Noto Sans JP" charset="0"/>
                      </a:endParaRPr>
                    </a:p>
                  </a:txBody>
                  <a:tcPr marL="62230" marR="62230" marT="62230" marB="62230" anchor="t">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0BCB6"/>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c>
                  <a:txBody>
                    <a:bodyPr/>
                    <a:lstStyle/>
                    <a:p>
                      <a:pPr indent="0" marL="0">
                        <a:lnSpc>
                          <a:spcPts val="1960"/>
                        </a:lnSpc>
                        <a:buNone/>
                      </a:pPr>
                      <a:r>
                        <a:rPr lang="en-US" sz="1400" dirty="0">
                          <a:solidFill>
                            <a:srgbClr val="1C1F26"/>
                          </a:solidFill>
                          <a:latin typeface="Noto Sans JP" pitchFamily="34" charset="0"/>
                          <a:ea typeface="Noto Sans JP" pitchFamily="34" charset="-122"/>
                          <a:cs typeface="Noto Sans JP" pitchFamily="34" charset="-120"/>
                        </a:rPr>
                        <a:t>—</a:t>
                      </a:r>
                      <a:endParaRPr lang="en-US" sz="1400" dirty="0">
                        <a:latin typeface="Noto Sans JP" charset="0"/>
                        <a:ea typeface="Noto Sans JP" charset="0"/>
                        <a:cs typeface="Noto Sans JP" charset="0"/>
                      </a:endParaRPr>
                    </a:p>
                  </a:txBody>
                  <a:tcPr marL="62230" marR="62230" marT="62230" marB="62230" anchor="t">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0BCB6"/>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r>
              <a:tr h="386011">
                <a:tc>
                  <a:txBody>
                    <a:bodyPr/>
                    <a:lstStyle/>
                    <a:p>
                      <a:pPr indent="0" marL="0">
                        <a:lnSpc>
                          <a:spcPts val="1960"/>
                        </a:lnSpc>
                        <a:buNone/>
                      </a:pPr>
                      <a:r>
                        <a:rPr lang="en-US" sz="1400" dirty="0">
                          <a:solidFill>
                            <a:srgbClr val="1C1F26"/>
                          </a:solidFill>
                          <a:latin typeface="Noto Sans JP" pitchFamily="34" charset="0"/>
                          <a:ea typeface="Noto Sans JP" pitchFamily="34" charset="-122"/>
                          <a:cs typeface="Noto Sans JP" pitchFamily="34" charset="-120"/>
                        </a:rPr>
                        <a:t>Browser Run</a:t>
                      </a:r>
                      <a:endParaRPr lang="en-US" sz="1400" dirty="0">
                        <a:latin typeface="Noto Sans JP" charset="0"/>
                        <a:ea typeface="Noto Sans JP" charset="0"/>
                        <a:cs typeface="Noto Sans JP" charset="0"/>
                      </a:endParaRPr>
                    </a:p>
                  </a:txBody>
                  <a:tcPr marL="62230" marR="62230" marT="62230" marB="62230" anchor="t">
                    <a:lnL w="12700" cap="flat" cmpd="sng" algn="ctr">
                      <a:solidFill>
                        <a:srgbClr val="C7C5C1"/>
                      </a:solidFill>
                      <a:prstDash val="solid"/>
                      <a:round/>
                      <a:headEnd type="none" w="med" len="med"/>
                      <a:tailEnd type="none" w="med" len="med"/>
                    </a:lnL>
                    <a:lnR w="12700" cap="flat" cmpd="sng" algn="ctr">
                      <a:solidFill>
                        <a:srgbClr val="C0BCB6"/>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0BCB6"/>
                      </a:solidFill>
                      <a:prstDash val="solid"/>
                      <a:round/>
                      <a:headEnd type="none" w="med" len="med"/>
                      <a:tailEnd type="none" w="med" len="med"/>
                    </a:lnB>
                    <a:solidFill>
                      <a:srgbClr val="F1ECE4"/>
                    </a:solidFill>
                  </a:tcPr>
                </a:tc>
                <a:tc>
                  <a:txBody>
                    <a:bodyPr/>
                    <a:lstStyle/>
                    <a:p>
                      <a:pPr indent="0" marL="0">
                        <a:lnSpc>
                          <a:spcPts val="1960"/>
                        </a:lnSpc>
                        <a:buNone/>
                      </a:pPr>
                      <a:r>
                        <a:rPr lang="en-US" sz="1400" dirty="0">
                          <a:solidFill>
                            <a:srgbClr val="1C1F26"/>
                          </a:solidFill>
                          <a:latin typeface="Noto Sans JP" pitchFamily="34" charset="0"/>
                          <a:ea typeface="Noto Sans JP" pitchFamily="34" charset="-122"/>
                          <a:cs typeface="Noto Sans JP" pitchFamily="34" charset="-120"/>
                        </a:rPr>
                        <a:t>エージェントにブラウザを操作させる（旧 Browser Rendering）</a:t>
                      </a:r>
                      <a:endParaRPr lang="en-US" sz="1400" dirty="0">
                        <a:latin typeface="Noto Sans JP" charset="0"/>
                        <a:ea typeface="Noto Sans JP" charset="0"/>
                        <a:cs typeface="Noto Sans JP" charset="0"/>
                      </a:endParaRPr>
                    </a:p>
                  </a:txBody>
                  <a:tcPr marL="62230" marR="62230" marT="62230" marB="62230" anchor="t">
                    <a:lnL w="12700" cap="flat" cmpd="sng" algn="ctr">
                      <a:solidFill>
                        <a:srgbClr val="C0BCB6"/>
                      </a:solidFill>
                      <a:prstDash val="solid"/>
                      <a:round/>
                      <a:headEnd type="none" w="med" len="med"/>
                      <a:tailEnd type="none" w="med" len="med"/>
                    </a:lnL>
                    <a:lnR w="12700" cap="flat" cmpd="sng" algn="ctr">
                      <a:solidFill>
                        <a:srgbClr val="C0BCB6"/>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0BCB6"/>
                      </a:solidFill>
                      <a:prstDash val="solid"/>
                      <a:round/>
                      <a:headEnd type="none" w="med" len="med"/>
                      <a:tailEnd type="none" w="med" len="med"/>
                    </a:lnB>
                    <a:solidFill>
                      <a:srgbClr val="F1ECE4"/>
                    </a:solidFill>
                  </a:tcPr>
                </a:tc>
                <a:tc>
                  <a:txBody>
                    <a:bodyPr/>
                    <a:lstStyle/>
                    <a:p>
                      <a:pPr indent="0" marL="0">
                        <a:lnSpc>
                          <a:spcPts val="1960"/>
                        </a:lnSpc>
                        <a:buNone/>
                      </a:pPr>
                      <a:r>
                        <a:rPr lang="en-US" sz="1400" dirty="0">
                          <a:solidFill>
                            <a:srgbClr val="1C1F26"/>
                          </a:solidFill>
                          <a:latin typeface="Noto Sans JP" pitchFamily="34" charset="0"/>
                          <a:ea typeface="Noto Sans JP" pitchFamily="34" charset="-122"/>
                          <a:cs typeface="Noto Sans JP" pitchFamily="34" charset="-120"/>
                        </a:rPr>
                        <a:t>—</a:t>
                      </a:r>
                      <a:endParaRPr lang="en-US" sz="1400" dirty="0">
                        <a:latin typeface="Noto Sans JP" charset="0"/>
                        <a:ea typeface="Noto Sans JP" charset="0"/>
                        <a:cs typeface="Noto Sans JP" charset="0"/>
                      </a:endParaRPr>
                    </a:p>
                  </a:txBody>
                  <a:tcPr marL="62230" marR="62230" marT="62230" marB="62230" anchor="t">
                    <a:lnL w="12700" cap="flat" cmpd="sng" algn="ctr">
                      <a:solidFill>
                        <a:srgbClr val="C0BCB6"/>
                      </a:solidFill>
                      <a:prstDash val="solid"/>
                      <a:round/>
                      <a:headEnd type="none" w="med" len="med"/>
                      <a:tailEnd type="none" w="med" len="med"/>
                    </a:lnL>
                    <a:lnR w="12700" cap="flat" cmpd="sng" algn="ctr">
                      <a:solidFill>
                        <a:srgbClr val="C0BCB6"/>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0BCB6"/>
                      </a:solidFill>
                      <a:prstDash val="solid"/>
                      <a:round/>
                      <a:headEnd type="none" w="med" len="med"/>
                      <a:tailEnd type="none" w="med" len="med"/>
                    </a:lnB>
                    <a:solidFill>
                      <a:srgbClr val="F1ECE4"/>
                    </a:solidFill>
                  </a:tcPr>
                </a:tc>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080"/>
                </a:solidFill>
                <a:latin typeface="Noto Sans JP" pitchFamily="34" charset="0"/>
                <a:ea typeface="Noto Sans JP" pitchFamily="34" charset="-122"/>
                <a:cs typeface="Noto Sans JP" pitchFamily="34" charset="-120"/>
              </a:rPr>
              <a:t>出典：developers.cloudflare.com、Agents Week 2026 まとめ記事（2026年4月20日・8月10日）</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B4560A"/>
                </a:solidFill>
                <a:latin typeface="Noto Sans JP" pitchFamily="34" charset="0"/>
                <a:ea typeface="Noto Sans JP" pitchFamily="34" charset="-122"/>
                <a:cs typeface="Noto Sans JP" pitchFamily="34" charset="-120"/>
              </a:rPr>
              <a:t>AI から守る・AI で稼ぐ側の機能</a:t>
            </a:r>
            <a:endParaRPr lang="en-US" sz="1400" dirty="0"/>
          </a:p>
        </p:txBody>
      </p:sp>
      <p:sp>
        <p:nvSpPr>
          <p:cNvPr id="3" name="Text 1"/>
          <p:cNvSpPr/>
          <p:nvPr>
            <p:ph type="title"/>
          </p:nvPr>
        </p:nvSpPr>
        <p:spPr>
          <a:xfrm>
            <a:off x="812800" y="1315690"/>
            <a:ext cx="10883392" cy="1041400"/>
          </a:xfrm>
          <a:prstGeom prst="rect">
            <a:avLst/>
          </a:prstGeom>
          <a:noFill/>
          <a:ln/>
        </p:spPr>
        <p:txBody>
          <a:bodyPr wrap="square" lIns="0" tIns="0" rIns="0" bIns="0" rtlCol="0" anchor="t">
            <a:normAutofit/>
          </a:bodyPr>
          <a:lstStyle/>
          <a:p>
            <a:pPr algn="l" indent="0" marL="0">
              <a:lnSpc>
                <a:spcPts val="4000"/>
              </a:lnSpc>
              <a:buNone/>
            </a:pPr>
            <a:r>
              <a:rPr lang="en-US" sz="3200" b="1" i="0" dirty="0">
                <a:solidFill>
                  <a:srgbClr val="1C1F26"/>
                </a:solidFill>
                <a:latin typeface="Noto Sans JP" pitchFamily="34" charset="0"/>
                <a:ea typeface="Noto Sans JP" pitchFamily="34" charset="-122"/>
                <a:cs typeface="Noto Sans JP" pitchFamily="34" charset="-120"/>
              </a:rPr>
              <a:t>サイトの持ち主が、AI との付き合い方を決めるための部品</a:t>
            </a:r>
            <a:endParaRPr lang="en-US" sz="3200" dirty="0"/>
          </a:p>
        </p:txBody>
      </p:sp>
      <p:sp>
        <p:nvSpPr>
          <p:cNvPr id="4" name="Shape 2"/>
          <p:cNvSpPr/>
          <p:nvPr/>
        </p:nvSpPr>
        <p:spPr>
          <a:xfrm>
            <a:off x="815975" y="2588865"/>
            <a:ext cx="3380284" cy="2747070"/>
          </a:xfrm>
          <a:prstGeom prst="roundRect">
            <a:avLst>
              <a:gd name="adj" fmla="val 3583"/>
            </a:avLst>
          </a:prstGeom>
          <a:solidFill>
            <a:srgbClr val="FFFDF9"/>
          </a:solidFill>
          <a:ln w="6350">
            <a:solidFill>
              <a:srgbClr val="E4DDD1"/>
            </a:solidFill>
            <a:prstDash val="solid"/>
          </a:ln>
        </p:spPr>
      </p:sp>
      <p:pic>
        <p:nvPicPr>
          <p:cNvPr id="5" name="Image 0" descr="Search">    </p:cNvPr>
          <p:cNvPicPr>
            <a:picLocks noChangeAspect="1"/>
          </p:cNvPicPr>
          <p:nvPr/>
        </p:nvPicPr>
        <p:blipFill>
          <a:blip r:embed="rId1"/>
          <a:srcRect l="0" r="0" t="0" b="0"/>
          <a:stretch/>
        </p:blipFill>
        <p:spPr>
          <a:xfrm>
            <a:off x="1073150" y="2846040"/>
            <a:ext cx="406400" cy="406400"/>
          </a:xfrm>
          <a:prstGeom prst="rect">
            <a:avLst/>
          </a:prstGeom>
        </p:spPr>
      </p:pic>
      <p:sp>
        <p:nvSpPr>
          <p:cNvPr id="6" name="Text 3"/>
          <p:cNvSpPr/>
          <p:nvPr/>
        </p:nvSpPr>
        <p:spPr>
          <a:xfrm>
            <a:off x="1073150" y="3354040"/>
            <a:ext cx="2951912"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C1F26"/>
                </a:solidFill>
                <a:latin typeface="Noto Sans JP" pitchFamily="34" charset="0"/>
                <a:ea typeface="Noto Sans JP" pitchFamily="34" charset="-122"/>
                <a:cs typeface="Noto Sans JP" pitchFamily="34" charset="-120"/>
              </a:rPr>
              <a:t>見る・決める</a:t>
            </a:r>
            <a:endParaRPr lang="en-US" sz="1800" dirty="0"/>
          </a:p>
        </p:txBody>
      </p:sp>
      <p:sp>
        <p:nvSpPr>
          <p:cNvPr id="7" name="Text 4"/>
          <p:cNvSpPr/>
          <p:nvPr/>
        </p:nvSpPr>
        <p:spPr>
          <a:xfrm>
            <a:off x="1073150" y="3729930"/>
            <a:ext cx="2951912" cy="1163241"/>
          </a:xfrm>
          <a:prstGeom prst="rect">
            <a:avLst/>
          </a:prstGeom>
          <a:noFill/>
          <a:ln/>
        </p:spPr>
        <p:txBody>
          <a:bodyPr wrap="square" lIns="0" tIns="0" rIns="0" bIns="0" rtlCol="0" anchor="t">
            <a:normAutofit/>
          </a:bodyPr>
          <a:lstStyle/>
          <a:p>
            <a:pPr algn="l" indent="0" marL="0">
              <a:lnSpc>
                <a:spcPts val="2240"/>
              </a:lnSpc>
              <a:buNone/>
            </a:pPr>
            <a:r>
              <a:rPr lang="en-US" sz="1400" b="1" dirty="0">
                <a:solidFill>
                  <a:srgbClr val="4A4F5A"/>
                </a:solidFill>
                <a:latin typeface="Noto Sans JP" pitchFamily="34" charset="0"/>
                <a:ea typeface="Noto Sans JP" pitchFamily="34" charset="-122"/>
                <a:cs typeface="Noto Sans JP" pitchFamily="34" charset="-120"/>
              </a:rPr>
              <a:t>AI Crawl Control</a:t>
            </a:r>
            <a:r>
              <a:rPr lang="en-US" sz="1400" dirty="0">
                <a:solidFill>
                  <a:srgbClr val="4A4F5A"/>
                </a:solidFill>
                <a:latin typeface="Noto Sans JP" pitchFamily="34" charset="0"/>
                <a:ea typeface="Noto Sans JP" pitchFamily="34" charset="-122"/>
                <a:cs typeface="Noto Sans JP" pitchFamily="34" charset="-120"/>
              </a:rPr>
              <a:t>（旧 AI Audit）。どの AI がどれだけ読みに来たかを見て、AI ごとに許可・ブロックを決める。全プランで使える</a:t>
            </a:r>
            <a:endParaRPr lang="en-US" sz="1400" dirty="0"/>
          </a:p>
        </p:txBody>
      </p:sp>
      <p:sp>
        <p:nvSpPr>
          <p:cNvPr id="8" name="Shape 5"/>
          <p:cNvSpPr/>
          <p:nvPr/>
        </p:nvSpPr>
        <p:spPr>
          <a:xfrm>
            <a:off x="4405809" y="2588865"/>
            <a:ext cx="3380333" cy="2747070"/>
          </a:xfrm>
          <a:prstGeom prst="roundRect">
            <a:avLst>
              <a:gd name="adj" fmla="val 3583"/>
            </a:avLst>
          </a:prstGeom>
          <a:solidFill>
            <a:srgbClr val="FFFDF9"/>
          </a:solidFill>
          <a:ln w="6350">
            <a:solidFill>
              <a:srgbClr val="E4DDD1"/>
            </a:solidFill>
            <a:prstDash val="solid"/>
          </a:ln>
        </p:spPr>
      </p:sp>
      <p:pic>
        <p:nvPicPr>
          <p:cNvPr id="9" name="Image 1" descr="Key">    </p:cNvPr>
          <p:cNvPicPr>
            <a:picLocks noChangeAspect="1"/>
          </p:cNvPicPr>
          <p:nvPr/>
        </p:nvPicPr>
        <p:blipFill>
          <a:blip r:embed="rId2"/>
          <a:srcRect l="0" r="0" t="0" b="0"/>
          <a:stretch/>
        </p:blipFill>
        <p:spPr>
          <a:xfrm>
            <a:off x="4662984" y="2846040"/>
            <a:ext cx="406400" cy="406400"/>
          </a:xfrm>
          <a:prstGeom prst="rect">
            <a:avLst/>
          </a:prstGeom>
        </p:spPr>
      </p:pic>
      <p:sp>
        <p:nvSpPr>
          <p:cNvPr id="10" name="Text 6"/>
          <p:cNvSpPr/>
          <p:nvPr/>
        </p:nvSpPr>
        <p:spPr>
          <a:xfrm>
            <a:off x="4662984" y="3354040"/>
            <a:ext cx="2951963"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C1F26"/>
                </a:solidFill>
                <a:latin typeface="Noto Sans JP" pitchFamily="34" charset="0"/>
                <a:ea typeface="Noto Sans JP" pitchFamily="34" charset="-122"/>
                <a:cs typeface="Noto Sans JP" pitchFamily="34" charset="-120"/>
              </a:rPr>
              <a:t>払ってもらう</a:t>
            </a:r>
            <a:endParaRPr lang="en-US" sz="1800" dirty="0"/>
          </a:p>
        </p:txBody>
      </p:sp>
      <p:sp>
        <p:nvSpPr>
          <p:cNvPr id="11" name="Text 7"/>
          <p:cNvSpPr/>
          <p:nvPr/>
        </p:nvSpPr>
        <p:spPr>
          <a:xfrm>
            <a:off x="4662984" y="3729930"/>
            <a:ext cx="2951963" cy="1163241"/>
          </a:xfrm>
          <a:prstGeom prst="rect">
            <a:avLst/>
          </a:prstGeom>
          <a:noFill/>
          <a:ln/>
        </p:spPr>
        <p:txBody>
          <a:bodyPr wrap="square" lIns="0" tIns="0" rIns="0" bIns="0" rtlCol="0" anchor="t">
            <a:normAutofit/>
          </a:bodyPr>
          <a:lstStyle/>
          <a:p>
            <a:pPr algn="l" indent="0" marL="0">
              <a:lnSpc>
                <a:spcPts val="2240"/>
              </a:lnSpc>
              <a:buNone/>
            </a:pPr>
            <a:r>
              <a:rPr lang="en-US" sz="1400" b="1" dirty="0">
                <a:solidFill>
                  <a:srgbClr val="4A4F5A"/>
                </a:solidFill>
                <a:latin typeface="Noto Sans JP" pitchFamily="34" charset="0"/>
                <a:ea typeface="Noto Sans JP" pitchFamily="34" charset="-122"/>
                <a:cs typeface="Noto Sans JP" pitchFamily="34" charset="-120"/>
              </a:rPr>
              <a:t>Pay per crawl</a:t>
            </a:r>
            <a:r>
              <a:rPr lang="en-US" sz="1400" dirty="0">
                <a:solidFill>
                  <a:srgbClr val="4A4F5A"/>
                </a:solidFill>
                <a:latin typeface="Noto Sans JP" pitchFamily="34" charset="0"/>
                <a:ea typeface="Noto Sans JP" pitchFamily="34" charset="-122"/>
                <a:cs typeface="Noto Sans JP" pitchFamily="34" charset="-120"/>
              </a:rPr>
              <a:t>（非公開ベータ）と </a:t>
            </a:r>
            <a:r>
              <a:rPr lang="en-US" sz="1400" b="1" dirty="0">
                <a:solidFill>
                  <a:srgbClr val="4A4F5A"/>
                </a:solidFill>
                <a:latin typeface="Noto Sans JP" pitchFamily="34" charset="0"/>
                <a:ea typeface="Noto Sans JP" pitchFamily="34" charset="-122"/>
                <a:cs typeface="Noto Sans JP" pitchFamily="34" charset="-120"/>
              </a:rPr>
              <a:t>Pay Per Use</a:t>
            </a:r>
            <a:r>
              <a:rPr lang="en-US" sz="1400" dirty="0">
                <a:solidFill>
                  <a:srgbClr val="4A4F5A"/>
                </a:solidFill>
                <a:latin typeface="Noto Sans JP" pitchFamily="34" charset="0"/>
                <a:ea typeface="Noto Sans JP" pitchFamily="34" charset="-122"/>
                <a:cs typeface="Noto Sans JP" pitchFamily="34" charset="-120"/>
              </a:rPr>
              <a:t>（2026年9月）。AI が読んだ量・使った量に応じて、サイト側が受け取る</a:t>
            </a:r>
            <a:endParaRPr lang="en-US" sz="1400" dirty="0"/>
          </a:p>
        </p:txBody>
      </p:sp>
      <p:sp>
        <p:nvSpPr>
          <p:cNvPr id="12" name="Shape 8"/>
          <p:cNvSpPr/>
          <p:nvPr/>
        </p:nvSpPr>
        <p:spPr>
          <a:xfrm>
            <a:off x="7995692" y="2588865"/>
            <a:ext cx="3380284" cy="2747070"/>
          </a:xfrm>
          <a:prstGeom prst="roundRect">
            <a:avLst>
              <a:gd name="adj" fmla="val 3583"/>
            </a:avLst>
          </a:prstGeom>
          <a:solidFill>
            <a:srgbClr val="FFFDF9"/>
          </a:solidFill>
          <a:ln w="6350">
            <a:solidFill>
              <a:srgbClr val="E4DDD1"/>
            </a:solidFill>
            <a:prstDash val="solid"/>
          </a:ln>
        </p:spPr>
      </p:sp>
      <p:pic>
        <p:nvPicPr>
          <p:cNvPr id="13" name="Image 2" descr="Lightning">    </p:cNvPr>
          <p:cNvPicPr>
            <a:picLocks noChangeAspect="1"/>
          </p:cNvPicPr>
          <p:nvPr/>
        </p:nvPicPr>
        <p:blipFill>
          <a:blip r:embed="rId3"/>
          <a:srcRect l="0" r="0" t="0" b="0"/>
          <a:stretch/>
        </p:blipFill>
        <p:spPr>
          <a:xfrm>
            <a:off x="8252867" y="2846040"/>
            <a:ext cx="406400" cy="406400"/>
          </a:xfrm>
          <a:prstGeom prst="rect">
            <a:avLst/>
          </a:prstGeom>
        </p:spPr>
      </p:pic>
      <p:sp>
        <p:nvSpPr>
          <p:cNvPr id="14" name="Text 9"/>
          <p:cNvSpPr/>
          <p:nvPr/>
        </p:nvSpPr>
        <p:spPr>
          <a:xfrm>
            <a:off x="8252867" y="3354040"/>
            <a:ext cx="2951912"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C1F26"/>
                </a:solidFill>
                <a:latin typeface="Noto Sans JP" pitchFamily="34" charset="0"/>
                <a:ea typeface="Noto Sans JP" pitchFamily="34" charset="-122"/>
                <a:cs typeface="Noto Sans JP" pitchFamily="34" charset="-120"/>
              </a:rPr>
              <a:t>エージェントに売る</a:t>
            </a:r>
            <a:endParaRPr lang="en-US" sz="1800" dirty="0"/>
          </a:p>
        </p:txBody>
      </p:sp>
      <p:sp>
        <p:nvSpPr>
          <p:cNvPr id="15" name="Text 10"/>
          <p:cNvSpPr/>
          <p:nvPr/>
        </p:nvSpPr>
        <p:spPr>
          <a:xfrm>
            <a:off x="8252867" y="3729930"/>
            <a:ext cx="2951912" cy="1163241"/>
          </a:xfrm>
          <a:prstGeom prst="rect">
            <a:avLst/>
          </a:prstGeom>
          <a:noFill/>
          <a:ln/>
        </p:spPr>
        <p:txBody>
          <a:bodyPr wrap="square" lIns="0" tIns="0" rIns="0" bIns="0" rtlCol="0" anchor="t">
            <a:normAutofit/>
          </a:bodyPr>
          <a:lstStyle/>
          <a:p>
            <a:pPr algn="l" indent="0" marL="0">
              <a:lnSpc>
                <a:spcPts val="2240"/>
              </a:lnSpc>
              <a:buNone/>
            </a:pPr>
            <a:r>
              <a:rPr lang="en-US" sz="1400" b="1" dirty="0">
                <a:solidFill>
                  <a:srgbClr val="4A4F5A"/>
                </a:solidFill>
                <a:latin typeface="Noto Sans JP" pitchFamily="34" charset="0"/>
                <a:ea typeface="Noto Sans JP" pitchFamily="34" charset="-122"/>
                <a:cs typeface="Noto Sans JP" pitchFamily="34" charset="-120"/>
              </a:rPr>
              <a:t>Monetization Gateway</a:t>
            </a:r>
            <a:r>
              <a:rPr lang="en-US" sz="1400" dirty="0">
                <a:solidFill>
                  <a:srgbClr val="4A4F5A"/>
                </a:solidFill>
                <a:latin typeface="Noto Sans JP" pitchFamily="34" charset="0"/>
                <a:ea typeface="Noto Sans JP" pitchFamily="34" charset="-122"/>
                <a:cs typeface="Noto Sans JP" pitchFamily="34" charset="-120"/>
              </a:rPr>
              <a:t>（ベータ）。HTTP 402 と x402 という仕組みで、API やデータをエージェントに有料で提供する</a:t>
            </a:r>
            <a:endParaRPr lang="en-US" sz="1400" dirty="0"/>
          </a:p>
        </p:txBody>
      </p:sp>
      <p:sp>
        <p:nvSpPr>
          <p:cNvPr id="16" name="Text 11"/>
          <p:cNvSpPr/>
          <p:nvPr/>
        </p:nvSpPr>
        <p:spPr>
          <a:xfrm>
            <a:off x="812800" y="559311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4F5A"/>
                </a:solidFill>
                <a:latin typeface="Noto Sans JP" pitchFamily="34" charset="0"/>
                <a:ea typeface="Noto Sans JP" pitchFamily="34" charset="-122"/>
                <a:cs typeface="Noto Sans JP" pitchFamily="34" charset="-120"/>
              </a:rPr>
              <a:t>どれも自分のドメインを Cloudflare に登録して使う機能なので、今日のハンズオンでは扱わない</a:t>
            </a:r>
            <a:endParaRPr lang="en-US" sz="1400" dirty="0"/>
          </a:p>
        </p:txBody>
      </p:sp>
      <p:sp>
        <p:nvSpPr>
          <p:cNvPr id="17" name="Text 1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080"/>
                </a:solidFill>
                <a:latin typeface="Noto Sans JP" pitchFamily="34" charset="0"/>
                <a:ea typeface="Noto Sans JP" pitchFamily="34" charset="-122"/>
                <a:cs typeface="Noto Sans JP" pitchFamily="34" charset="-120"/>
              </a:rPr>
              <a:t>出典：developers.cloudflare.com/ai-crawl-control、Birthday Week 2026 まとめ記事（2026年10月5日）</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1ECE4"/>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B4560A"/>
                </a:solidFill>
                <a:latin typeface="Noto Sans JP" pitchFamily="34" charset="0"/>
                <a:ea typeface="Noto Sans JP" pitchFamily="34" charset="-122"/>
                <a:cs typeface="Noto Sans JP" pitchFamily="34" charset="-120"/>
              </a:rPr>
              <a:t>リモート MCP の仕組み</a:t>
            </a:r>
            <a:endParaRPr lang="en-US" sz="1400" dirty="0"/>
          </a:p>
        </p:txBody>
      </p:sp>
      <p:sp>
        <p:nvSpPr>
          <p:cNvPr id="3" name="Text 1"/>
          <p:cNvSpPr/>
          <p:nvPr>
            <p:ph type="title"/>
          </p:nvPr>
        </p:nvSpPr>
        <p:spPr>
          <a:xfrm>
            <a:off x="812800" y="1315690"/>
            <a:ext cx="10883392" cy="533400"/>
          </a:xfrm>
          <a:prstGeom prst="rect">
            <a:avLst/>
          </a:prstGeom>
          <a:noFill/>
          <a:ln/>
        </p:spPr>
        <p:txBody>
          <a:bodyPr wrap="square" lIns="0" tIns="0" rIns="0" bIns="0" rtlCol="0" anchor="t">
            <a:normAutofit/>
          </a:bodyPr>
          <a:lstStyle/>
          <a:p>
            <a:pPr algn="l" indent="0" marL="0">
              <a:lnSpc>
                <a:spcPts val="4000"/>
              </a:lnSpc>
              <a:buNone/>
            </a:pPr>
            <a:r>
              <a:rPr lang="en-US" sz="3200" b="1" i="0" dirty="0">
                <a:solidFill>
                  <a:srgbClr val="1C1F26"/>
                </a:solidFill>
                <a:latin typeface="Noto Sans JP" pitchFamily="34" charset="0"/>
                <a:ea typeface="Noto Sans JP" pitchFamily="34" charset="-122"/>
                <a:cs typeface="Noto Sans JP" pitchFamily="34" charset="-120"/>
              </a:rPr>
              <a:t>AI が、ネットの向こうのツールを呼び出す</a:t>
            </a:r>
            <a:endParaRPr lang="en-US" sz="3200" dirty="0"/>
          </a:p>
        </p:txBody>
      </p:sp>
      <p:sp>
        <p:nvSpPr>
          <p:cNvPr id="4" name="Shape 2"/>
          <p:cNvSpPr/>
          <p:nvPr/>
        </p:nvSpPr>
        <p:spPr>
          <a:xfrm>
            <a:off x="819150" y="2773710"/>
            <a:ext cx="1384300" cy="1313160"/>
          </a:xfrm>
          <a:prstGeom prst="roundRect">
            <a:avLst>
              <a:gd name="adj" fmla="val 7253"/>
            </a:avLst>
          </a:prstGeom>
          <a:solidFill>
            <a:srgbClr val="FFFDF9"/>
          </a:solidFill>
          <a:ln w="12700">
            <a:solidFill>
              <a:srgbClr val="D8D0C2"/>
            </a:solidFill>
            <a:prstDash val="solid"/>
          </a:ln>
        </p:spPr>
      </p:sp>
      <p:pic>
        <p:nvPicPr>
          <p:cNvPr id="5" name="Image 0" descr="Chat">    </p:cNvPr>
          <p:cNvPicPr>
            <a:picLocks noChangeAspect="1"/>
          </p:cNvPicPr>
          <p:nvPr/>
        </p:nvPicPr>
        <p:blipFill>
          <a:blip r:embed="rId1"/>
          <a:srcRect l="0" r="0" t="0" b="0"/>
          <a:stretch/>
        </p:blipFill>
        <p:spPr>
          <a:xfrm>
            <a:off x="1308100" y="2957860"/>
            <a:ext cx="406400" cy="406400"/>
          </a:xfrm>
          <a:prstGeom prst="rect">
            <a:avLst/>
          </a:prstGeom>
        </p:spPr>
      </p:pic>
      <p:sp>
        <p:nvSpPr>
          <p:cNvPr id="6" name="Text 3"/>
          <p:cNvSpPr/>
          <p:nvPr/>
        </p:nvSpPr>
        <p:spPr>
          <a:xfrm>
            <a:off x="977900" y="3440460"/>
            <a:ext cx="1066800" cy="48766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1C1F26"/>
                </a:solidFill>
                <a:latin typeface="Noto Sans JP" pitchFamily="34" charset="0"/>
                <a:ea typeface="Noto Sans JP" pitchFamily="34" charset="-122"/>
                <a:cs typeface="Noto Sans JP" pitchFamily="34" charset="-120"/>
              </a:rPr>
              <a:t>AI クライアント</a:t>
            </a:r>
            <a:endParaRPr lang="en-US" sz="1300" dirty="0"/>
          </a:p>
        </p:txBody>
      </p:sp>
      <p:pic>
        <p:nvPicPr>
          <p:cNvPr id="7" name="Image 1" descr="arrow-right">    </p:cNvPr>
          <p:cNvPicPr>
            <a:picLocks noChangeAspect="1"/>
          </p:cNvPicPr>
          <p:nvPr/>
        </p:nvPicPr>
        <p:blipFill>
          <a:blip r:embed="rId2"/>
          <a:srcRect l="0" r="0" t="0" b="0"/>
          <a:stretch/>
        </p:blipFill>
        <p:spPr>
          <a:xfrm>
            <a:off x="2336800" y="3303290"/>
            <a:ext cx="508000" cy="254000"/>
          </a:xfrm>
          <a:prstGeom prst="rect">
            <a:avLst/>
          </a:prstGeom>
        </p:spPr>
      </p:pic>
      <p:sp>
        <p:nvSpPr>
          <p:cNvPr id="8" name="Shape 4"/>
          <p:cNvSpPr/>
          <p:nvPr/>
        </p:nvSpPr>
        <p:spPr>
          <a:xfrm>
            <a:off x="2971800" y="2548930"/>
            <a:ext cx="1143000" cy="1762720"/>
          </a:xfrm>
          <a:prstGeom prst="roundRect">
            <a:avLst>
              <a:gd name="adj" fmla="val 8889"/>
            </a:avLst>
          </a:prstGeom>
          <a:solidFill>
            <a:srgbClr val="F38020"/>
          </a:solidFill>
          <a:ln/>
        </p:spPr>
      </p:sp>
      <p:pic>
        <p:nvPicPr>
          <p:cNvPr id="9" name="Image 2" descr="Tool">    </p:cNvPr>
          <p:cNvPicPr>
            <a:picLocks noChangeAspect="1"/>
          </p:cNvPicPr>
          <p:nvPr/>
        </p:nvPicPr>
        <p:blipFill>
          <a:blip r:embed="rId3"/>
          <a:srcRect l="0" r="0" t="0" b="0"/>
          <a:stretch/>
        </p:blipFill>
        <p:spPr>
          <a:xfrm>
            <a:off x="3340100" y="2726730"/>
            <a:ext cx="406400" cy="406400"/>
          </a:xfrm>
          <a:prstGeom prst="rect">
            <a:avLst/>
          </a:prstGeom>
        </p:spPr>
      </p:pic>
      <p:sp>
        <p:nvSpPr>
          <p:cNvPr id="10" name="Text 5"/>
          <p:cNvSpPr/>
          <p:nvPr/>
        </p:nvSpPr>
        <p:spPr>
          <a:xfrm>
            <a:off x="3101429" y="3209330"/>
            <a:ext cx="883741" cy="94992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1C1F26"/>
                </a:solidFill>
                <a:latin typeface="Noto Sans JP" pitchFamily="34" charset="0"/>
                <a:ea typeface="Noto Sans JP" pitchFamily="34" charset="-122"/>
                <a:cs typeface="Noto Sans JP" pitchFamily="34" charset="-120"/>
              </a:rPr>
              <a:t>MCP サーバー</a:t>
            </a:r>
            <a:endParaRPr lang="en-US" sz="1300" dirty="0"/>
          </a:p>
          <a:p>
            <a:pPr algn="ctr" indent="0" marL="0">
              <a:lnSpc>
                <a:spcPts val="1820"/>
              </a:lnSpc>
              <a:buNone/>
            </a:pPr>
            <a:r>
              <a:rPr lang="en-US" sz="1300" b="1" dirty="0">
                <a:solidFill>
                  <a:srgbClr val="1C1F26"/>
                </a:solidFill>
                <a:latin typeface="Noto Sans JP" pitchFamily="34" charset="0"/>
                <a:ea typeface="Noto Sans JP" pitchFamily="34" charset="-122"/>
                <a:cs typeface="Noto Sans JP" pitchFamily="34" charset="-120"/>
              </a:rPr>
              <a:t>（Workers で動く）</a:t>
            </a:r>
            <a:endParaRPr lang="en-US" sz="1300" dirty="0"/>
          </a:p>
        </p:txBody>
      </p:sp>
      <p:pic>
        <p:nvPicPr>
          <p:cNvPr id="11" name="Image 3" descr="arrow-right">    </p:cNvPr>
          <p:cNvPicPr>
            <a:picLocks noChangeAspect="1"/>
          </p:cNvPicPr>
          <p:nvPr/>
        </p:nvPicPr>
        <p:blipFill>
          <a:blip r:embed="rId4"/>
          <a:srcRect l="0" r="0" t="0" b="0"/>
          <a:stretch/>
        </p:blipFill>
        <p:spPr>
          <a:xfrm>
            <a:off x="4241800" y="3303290"/>
            <a:ext cx="508000" cy="254000"/>
          </a:xfrm>
          <a:prstGeom prst="rect">
            <a:avLst/>
          </a:prstGeom>
        </p:spPr>
      </p:pic>
      <p:sp>
        <p:nvSpPr>
          <p:cNvPr id="12" name="Shape 6"/>
          <p:cNvSpPr/>
          <p:nvPr/>
        </p:nvSpPr>
        <p:spPr>
          <a:xfrm>
            <a:off x="4883150" y="2773710"/>
            <a:ext cx="1130300" cy="1313160"/>
          </a:xfrm>
          <a:prstGeom prst="roundRect">
            <a:avLst>
              <a:gd name="adj" fmla="val 8427"/>
            </a:avLst>
          </a:prstGeom>
          <a:solidFill>
            <a:srgbClr val="FFFDF9"/>
          </a:solidFill>
          <a:ln w="12700">
            <a:solidFill>
              <a:srgbClr val="D8D0C2"/>
            </a:solidFill>
            <a:prstDash val="solid"/>
          </a:ln>
        </p:spPr>
      </p:sp>
      <p:pic>
        <p:nvPicPr>
          <p:cNvPr id="13" name="Image 4" descr="Database">    </p:cNvPr>
          <p:cNvPicPr>
            <a:picLocks noChangeAspect="1"/>
          </p:cNvPicPr>
          <p:nvPr/>
        </p:nvPicPr>
        <p:blipFill>
          <a:blip r:embed="rId5"/>
          <a:srcRect l="0" r="0" t="0" b="0"/>
          <a:stretch/>
        </p:blipFill>
        <p:spPr>
          <a:xfrm>
            <a:off x="5245100" y="2957860"/>
            <a:ext cx="406400" cy="406400"/>
          </a:xfrm>
          <a:prstGeom prst="rect">
            <a:avLst/>
          </a:prstGeom>
        </p:spPr>
      </p:pic>
      <p:sp>
        <p:nvSpPr>
          <p:cNvPr id="14" name="Text 7"/>
          <p:cNvSpPr/>
          <p:nvPr/>
        </p:nvSpPr>
        <p:spPr>
          <a:xfrm>
            <a:off x="5041900" y="3440460"/>
            <a:ext cx="812800" cy="48766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1C1F26"/>
                </a:solidFill>
                <a:latin typeface="Noto Sans JP" pitchFamily="34" charset="0"/>
                <a:ea typeface="Noto Sans JP" pitchFamily="34" charset="-122"/>
                <a:cs typeface="Noto Sans JP" pitchFamily="34" charset="-120"/>
              </a:rPr>
              <a:t>処理・データ</a:t>
            </a:r>
            <a:endParaRPr lang="en-US" sz="1300" dirty="0"/>
          </a:p>
        </p:txBody>
      </p:sp>
      <p:sp>
        <p:nvSpPr>
          <p:cNvPr id="15" name="Text 8"/>
          <p:cNvSpPr/>
          <p:nvPr/>
        </p:nvSpPr>
        <p:spPr>
          <a:xfrm>
            <a:off x="878880" y="4464050"/>
            <a:ext cx="5289510" cy="932061"/>
          </a:xfrm>
          <a:prstGeom prst="rect">
            <a:avLst/>
          </a:prstGeom>
          <a:noFill/>
          <a:ln/>
        </p:spPr>
        <p:txBody>
          <a:bodyPr wrap="square" lIns="0" tIns="0" rIns="0" bIns="0" rtlCol="0" anchor="t">
            <a:normAutofit/>
          </a:bodyPr>
          <a:lstStyle/>
          <a:p>
            <a:pPr algn="l" marL="187920" indent="-187920">
              <a:lnSpc>
                <a:spcPts val="2380"/>
              </a:lnSpc>
              <a:buSzPct val="100000"/>
              <a:buFontTx/>
              <a:buAutoNum type="arabicPeriod" startAt="1"/>
            </a:pPr>
            <a:r>
              <a:rPr lang="en-US" sz="1400" dirty="0">
                <a:solidFill>
                  <a:srgbClr val="1C1F26"/>
                </a:solidFill>
                <a:latin typeface="Noto Sans JP" pitchFamily="34" charset="0"/>
                <a:ea typeface="Noto Sans JP" pitchFamily="34" charset="-122"/>
                <a:cs typeface="Noto Sans JP" pitchFamily="34" charset="-120"/>
              </a:rPr>
              <a:t>AI が「どんなツールがある？」と聞く（tools/list）</a:t>
            </a:r>
            <a:endParaRPr lang="en-US" sz="1400" dirty="0"/>
          </a:p>
          <a:p>
            <a:pPr algn="l" marL="187920" indent="-187920">
              <a:lnSpc>
                <a:spcPts val="2380"/>
              </a:lnSpc>
              <a:buSzPct val="100000"/>
              <a:buFontTx/>
              <a:buAutoNum type="arabicPeriod" startAt="1"/>
            </a:pPr>
            <a:r>
              <a:rPr lang="en-US" sz="1400" dirty="0">
                <a:solidFill>
                  <a:srgbClr val="1C1F26"/>
                </a:solidFill>
                <a:latin typeface="Noto Sans JP" pitchFamily="34" charset="0"/>
                <a:ea typeface="Noto Sans JP" pitchFamily="34" charset="-122"/>
                <a:cs typeface="Noto Sans JP" pitchFamily="34" charset="-120"/>
              </a:rPr>
              <a:t>質問に合うツールを選び、引数を付けて呼ぶ（tools/call）</a:t>
            </a:r>
            <a:endParaRPr lang="en-US" sz="1400" dirty="0"/>
          </a:p>
          <a:p>
            <a:pPr algn="l" marL="187920" indent="-187920">
              <a:lnSpc>
                <a:spcPts val="2380"/>
              </a:lnSpc>
              <a:buSzPct val="100000"/>
              <a:buFontTx/>
              <a:buAutoNum type="arabicPeriod" startAt="1"/>
            </a:pPr>
            <a:r>
              <a:rPr lang="en-US" sz="1400" dirty="0">
                <a:solidFill>
                  <a:srgbClr val="1C1F26"/>
                </a:solidFill>
                <a:latin typeface="Noto Sans JP" pitchFamily="34" charset="0"/>
                <a:ea typeface="Noto Sans JP" pitchFamily="34" charset="-122"/>
                <a:cs typeface="Noto Sans JP" pitchFamily="34" charset="-120"/>
              </a:rPr>
              <a:t>結果を受け取り、それを使って答えを書く</a:t>
            </a:r>
            <a:endParaRPr lang="en-US" sz="1400" dirty="0"/>
          </a:p>
        </p:txBody>
      </p:sp>
      <p:sp>
        <p:nvSpPr>
          <p:cNvPr id="16" name="Shape 9"/>
          <p:cNvSpPr/>
          <p:nvPr/>
        </p:nvSpPr>
        <p:spPr>
          <a:xfrm>
            <a:off x="6324600" y="1991370"/>
            <a:ext cx="5054600" cy="3937000"/>
          </a:xfrm>
          <a:prstGeom prst="roundRect">
            <a:avLst>
              <a:gd name="adj" fmla="val 2581"/>
            </a:avLst>
          </a:prstGeom>
          <a:solidFill>
            <a:srgbClr val="FFFFFF"/>
          </a:solidFill>
          <a:ln/>
        </p:spPr>
      </p:sp>
      <p:pic>
        <p:nvPicPr>
          <p:cNvPr id="17" name="Image 5" descr="AI Playground で、自作 MCP サーバーの roll_dice ツールが呼ばれ、サイコロの結果を返している画面">    </p:cNvPr>
          <p:cNvPicPr>
            <a:picLocks noChangeAspect="1"/>
          </p:cNvPicPr>
          <p:nvPr/>
        </p:nvPicPr>
        <p:blipFill>
          <a:blip r:embed="rId6"/>
          <a:stretch>
            <a:fillRect/>
          </a:stretch>
        </p:blipFill>
        <p:spPr>
          <a:xfrm>
            <a:off x="6330950" y="2586209"/>
            <a:ext cx="5041900" cy="2747321"/>
          </a:xfrm>
          <a:prstGeom prst="rect">
            <a:avLst/>
          </a:prstGeom>
        </p:spPr>
      </p:pic>
      <p:sp>
        <p:nvSpPr>
          <p:cNvPr id="18" name="Shape 10"/>
          <p:cNvSpPr/>
          <p:nvPr/>
        </p:nvSpPr>
        <p:spPr>
          <a:xfrm>
            <a:off x="6327775" y="1994545"/>
            <a:ext cx="5048250" cy="3930650"/>
          </a:xfrm>
          <a:prstGeom prst="roundRect">
            <a:avLst>
              <a:gd name="adj" fmla="val 2504"/>
            </a:avLst>
          </a:prstGeom>
          <a:noFill/>
          <a:ln w="6350">
            <a:solidFill>
              <a:srgbClr val="D8D0C2"/>
            </a:solidFill>
            <a:prstDash val="solid"/>
          </a:ln>
        </p:spPr>
      </p:sp>
      <p:sp>
        <p:nvSpPr>
          <p:cNvPr id="19" name="Text 1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080"/>
                </a:solidFill>
                <a:latin typeface="Noto Sans JP" pitchFamily="34" charset="0"/>
                <a:ea typeface="Noto Sans JP" pitchFamily="34" charset="-122"/>
                <a:cs typeface="Noto Sans JP" pitchFamily="34" charset="-120"/>
              </a:rPr>
              <a:t>右：ハンズオンで作る MCP サーバーのツールを、Cloudflare の AI Playground から呼んだ画面</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B4560A"/>
                </a:solidFill>
                <a:latin typeface="Noto Sans JP" pitchFamily="34" charset="0"/>
                <a:ea typeface="Noto Sans JP" pitchFamily="34" charset="-122"/>
                <a:cs typeface="Noto Sans JP" pitchFamily="34" charset="-120"/>
              </a:rPr>
              <a:t>無料プランでどこまでできるか</a:t>
            </a:r>
            <a:endParaRPr lang="en-US" sz="1400" dirty="0"/>
          </a:p>
        </p:txBody>
      </p:sp>
      <p:sp>
        <p:nvSpPr>
          <p:cNvPr id="3" name="Text 1"/>
          <p:cNvSpPr/>
          <p:nvPr>
            <p:ph type="title"/>
          </p:nvPr>
        </p:nvSpPr>
        <p:spPr>
          <a:xfrm>
            <a:off x="812800" y="1315690"/>
            <a:ext cx="10883392" cy="533400"/>
          </a:xfrm>
          <a:prstGeom prst="rect">
            <a:avLst/>
          </a:prstGeom>
          <a:noFill/>
          <a:ln/>
        </p:spPr>
        <p:txBody>
          <a:bodyPr wrap="square" lIns="0" tIns="0" rIns="0" bIns="0" rtlCol="0" anchor="t">
            <a:normAutofit/>
          </a:bodyPr>
          <a:lstStyle/>
          <a:p>
            <a:pPr algn="l" indent="0" marL="0">
              <a:lnSpc>
                <a:spcPts val="4000"/>
              </a:lnSpc>
              <a:buNone/>
            </a:pPr>
            <a:r>
              <a:rPr lang="en-US" sz="3200" b="1" i="0" dirty="0">
                <a:solidFill>
                  <a:srgbClr val="1C1F26"/>
                </a:solidFill>
                <a:latin typeface="Noto Sans JP" pitchFamily="34" charset="0"/>
                <a:ea typeface="Noto Sans JP" pitchFamily="34" charset="-122"/>
                <a:cs typeface="Noto Sans JP" pitchFamily="34" charset="-120"/>
              </a:rPr>
              <a:t>学習や試作なら、無料枠で十分に足りる</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090390"/>
          <a:ext cx="10553700" cy="2597150"/>
        </p:xfrm>
        <a:graphic>
          <a:graphicData uri="http://schemas.openxmlformats.org/drawingml/2006/table">
            <a:tbl>
              <a:tblPr/>
              <a:tblGrid>
                <a:gridCol w="2532888"/>
                <a:gridCol w="3799332"/>
                <a:gridCol w="4221480"/>
              </a:tblGrid>
              <a:tr h="412750">
                <a:tc>
                  <a:txBody>
                    <a:bodyPr/>
                    <a:lstStyle/>
                    <a:p>
                      <a:pPr indent="0" marL="0">
                        <a:lnSpc>
                          <a:spcPts val="2100"/>
                        </a:lnSpc>
                        <a:buNone/>
                      </a:pPr>
                      <a:r>
                        <a:rPr lang="en-US" sz="1500" b="1" dirty="0">
                          <a:solidFill>
                            <a:srgbClr val="F5F1EA"/>
                          </a:solidFill>
                          <a:latin typeface="Noto Sans JP" pitchFamily="34" charset="0"/>
                          <a:ea typeface="Noto Sans JP" pitchFamily="34" charset="-122"/>
                          <a:cs typeface="Noto Sans JP" pitchFamily="34" charset="-120"/>
                        </a:rPr>
                        <a:t>サービス</a:t>
                      </a:r>
                      <a:endParaRPr lang="en-US" sz="1500" dirty="0">
                        <a:latin typeface="Noto Sans JP" charset="0"/>
                        <a:ea typeface="Noto Sans JP" charset="0"/>
                        <a:cs typeface="Noto Sans JP" charset="0"/>
                      </a:endParaRPr>
                    </a:p>
                  </a:txBody>
                  <a:tcPr marL="66675" marR="66675" marT="66675" marB="66675" anchor="t">
                    <a:lnL w="12700" cap="flat" cmpd="sng" algn="ctr">
                      <a:solidFill>
                        <a:srgbClr val="C7C5C1"/>
                      </a:solidFill>
                      <a:prstDash val="solid"/>
                      <a:round/>
                      <a:headEnd type="none" w="med" len="med"/>
                      <a:tailEnd type="none" w="med" len="med"/>
                    </a:lnL>
                    <a:lnR w="12700" cap="flat" cmpd="sng" algn="ctr">
                      <a:solidFill>
                        <a:srgbClr val="1A1D22"/>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1A1D22"/>
                      </a:solidFill>
                      <a:prstDash val="solid"/>
                      <a:round/>
                      <a:headEnd type="none" w="med" len="med"/>
                      <a:tailEnd type="none" w="med" len="med"/>
                    </a:lnB>
                    <a:solidFill>
                      <a:srgbClr val="1C1F26"/>
                    </a:solidFill>
                  </a:tcPr>
                </a:tc>
                <a:tc>
                  <a:txBody>
                    <a:bodyPr/>
                    <a:lstStyle/>
                    <a:p>
                      <a:pPr indent="0" marL="0">
                        <a:lnSpc>
                          <a:spcPts val="2100"/>
                        </a:lnSpc>
                        <a:buNone/>
                      </a:pPr>
                      <a:r>
                        <a:rPr lang="en-US" sz="1500" b="1" dirty="0">
                          <a:solidFill>
                            <a:srgbClr val="F5F1EA"/>
                          </a:solidFill>
                          <a:latin typeface="Noto Sans JP" pitchFamily="34" charset="0"/>
                          <a:ea typeface="Noto Sans JP" pitchFamily="34" charset="-122"/>
                          <a:cs typeface="Noto Sans JP" pitchFamily="34" charset="-120"/>
                        </a:rPr>
                        <a:t>無料枠</a:t>
                      </a:r>
                      <a:endParaRPr lang="en-US" sz="1500" dirty="0">
                        <a:latin typeface="Noto Sans JP" charset="0"/>
                        <a:ea typeface="Noto Sans JP" charset="0"/>
                        <a:cs typeface="Noto Sans JP" charset="0"/>
                      </a:endParaRPr>
                    </a:p>
                  </a:txBody>
                  <a:tcPr marL="66675" marR="66675" marT="66675" marB="66675" anchor="t">
                    <a:lnL w="12700" cap="flat" cmpd="sng" algn="ctr">
                      <a:solidFill>
                        <a:srgbClr val="1A1D22"/>
                      </a:solidFill>
                      <a:prstDash val="solid"/>
                      <a:round/>
                      <a:headEnd type="none" w="med" len="med"/>
                      <a:tailEnd type="none" w="med" len="med"/>
                    </a:lnL>
                    <a:lnR w="12700" cap="flat" cmpd="sng" algn="ctr">
                      <a:solidFill>
                        <a:srgbClr val="1A1D22"/>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1A1D22"/>
                      </a:solidFill>
                      <a:prstDash val="solid"/>
                      <a:round/>
                      <a:headEnd type="none" w="med" len="med"/>
                      <a:tailEnd type="none" w="med" len="med"/>
                    </a:lnB>
                    <a:solidFill>
                      <a:srgbClr val="1C1F26"/>
                    </a:solidFill>
                  </a:tcPr>
                </a:tc>
                <a:tc>
                  <a:txBody>
                    <a:bodyPr/>
                    <a:lstStyle/>
                    <a:p>
                      <a:pPr indent="0" marL="0">
                        <a:lnSpc>
                          <a:spcPts val="2100"/>
                        </a:lnSpc>
                        <a:buNone/>
                      </a:pPr>
                      <a:r>
                        <a:rPr lang="en-US" sz="1500" b="1" dirty="0">
                          <a:solidFill>
                            <a:srgbClr val="F5F1EA"/>
                          </a:solidFill>
                          <a:latin typeface="Noto Sans JP" pitchFamily="34" charset="0"/>
                          <a:ea typeface="Noto Sans JP" pitchFamily="34" charset="-122"/>
                          <a:cs typeface="Noto Sans JP" pitchFamily="34" charset="-120"/>
                        </a:rPr>
                        <a:t>注意点</a:t>
                      </a:r>
                      <a:endParaRPr lang="en-US" sz="1500" dirty="0">
                        <a:latin typeface="Noto Sans JP" charset="0"/>
                        <a:ea typeface="Noto Sans JP" charset="0"/>
                        <a:cs typeface="Noto Sans JP" charset="0"/>
                      </a:endParaRPr>
                    </a:p>
                  </a:txBody>
                  <a:tcPr marL="66675" marR="66675" marT="66675" marB="66675" anchor="t">
                    <a:lnL w="12700" cap="flat" cmpd="sng" algn="ctr">
                      <a:solidFill>
                        <a:srgbClr val="1A1D22"/>
                      </a:solidFill>
                      <a:prstDash val="solid"/>
                      <a:round/>
                      <a:headEnd type="none" w="med" len="med"/>
                      <a:tailEnd type="none" w="med" len="med"/>
                    </a:lnL>
                    <a:lnR w="12700" cap="flat" cmpd="sng" algn="ctr">
                      <a:solidFill>
                        <a:srgbClr val="1A1D22"/>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1A1D22"/>
                      </a:solidFill>
                      <a:prstDash val="solid"/>
                      <a:round/>
                      <a:headEnd type="none" w="med" len="med"/>
                      <a:tailEnd type="none" w="med" len="med"/>
                    </a:lnB>
                    <a:solidFill>
                      <a:srgbClr val="1C1F26"/>
                    </a:solidFill>
                  </a:tcPr>
                </a:tc>
              </a:tr>
              <a:tr h="412750">
                <a:tc>
                  <a:txBody>
                    <a:bodyPr/>
                    <a:lstStyle/>
                    <a:p>
                      <a:pPr indent="0" marL="0">
                        <a:lnSpc>
                          <a:spcPts val="2100"/>
                        </a:lnSpc>
                        <a:buNone/>
                      </a:pPr>
                      <a:r>
                        <a:rPr lang="en-US" sz="1500" dirty="0">
                          <a:solidFill>
                            <a:srgbClr val="1C1F26"/>
                          </a:solidFill>
                          <a:latin typeface="Noto Sans JP" pitchFamily="34" charset="0"/>
                          <a:ea typeface="Noto Sans JP" pitchFamily="34" charset="-122"/>
                          <a:cs typeface="Noto Sans JP" pitchFamily="34" charset="-120"/>
                        </a:rPr>
                        <a:t>Workers</a:t>
                      </a:r>
                      <a:endParaRPr lang="en-US" sz="1500" dirty="0">
                        <a:latin typeface="Noto Sans JP" charset="0"/>
                        <a:ea typeface="Noto Sans JP" charset="0"/>
                        <a:cs typeface="Noto Sans JP" charset="0"/>
                      </a:endParaRPr>
                    </a:p>
                  </a:txBody>
                  <a:tcPr marL="66675" marR="66675" marT="66675" marB="66675" anchor="t">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1A1D22"/>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c>
                  <a:txBody>
                    <a:bodyPr/>
                    <a:lstStyle/>
                    <a:p>
                      <a:pPr indent="0" marL="0">
                        <a:lnSpc>
                          <a:spcPts val="2100"/>
                        </a:lnSpc>
                        <a:buNone/>
                      </a:pPr>
                      <a:r>
                        <a:rPr lang="en-US" sz="1500" dirty="0">
                          <a:solidFill>
                            <a:srgbClr val="1C1F26"/>
                          </a:solidFill>
                          <a:latin typeface="Noto Sans JP" pitchFamily="34" charset="0"/>
                          <a:ea typeface="Noto Sans JP" pitchFamily="34" charset="-122"/>
                          <a:cs typeface="Noto Sans JP" pitchFamily="34" charset="-120"/>
                        </a:rPr>
                        <a:t>1 日 10 万リクエスト</a:t>
                      </a:r>
                      <a:endParaRPr lang="en-US" sz="1500" dirty="0">
                        <a:latin typeface="Noto Sans JP" charset="0"/>
                        <a:ea typeface="Noto Sans JP" charset="0"/>
                        <a:cs typeface="Noto Sans JP" charset="0"/>
                      </a:endParaRPr>
                    </a:p>
                  </a:txBody>
                  <a:tcPr marL="66675" marR="66675" marT="66675" marB="66675" anchor="t">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1A1D22"/>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c>
                  <a:txBody>
                    <a:bodyPr/>
                    <a:lstStyle/>
                    <a:p>
                      <a:pPr indent="0" marL="0">
                        <a:lnSpc>
                          <a:spcPts val="2100"/>
                        </a:lnSpc>
                        <a:buNone/>
                      </a:pPr>
                      <a:r>
                        <a:rPr lang="en-US" sz="1500" dirty="0">
                          <a:solidFill>
                            <a:srgbClr val="1C1F26"/>
                          </a:solidFill>
                          <a:latin typeface="Noto Sans JP" pitchFamily="34" charset="0"/>
                          <a:ea typeface="Noto Sans JP" pitchFamily="34" charset="-122"/>
                          <a:cs typeface="Noto Sans JP" pitchFamily="34" charset="-120"/>
                        </a:rPr>
                        <a:t>静的ファイルだけの配信は無料で数えない</a:t>
                      </a:r>
                      <a:endParaRPr lang="en-US" sz="1500" dirty="0">
                        <a:latin typeface="Noto Sans JP" charset="0"/>
                        <a:ea typeface="Noto Sans JP" charset="0"/>
                        <a:cs typeface="Noto Sans JP" charset="0"/>
                      </a:endParaRPr>
                    </a:p>
                  </a:txBody>
                  <a:tcPr marL="66675" marR="66675" marT="66675" marB="66675" anchor="t">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1A1D22"/>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r>
              <a:tr h="679450">
                <a:tc>
                  <a:txBody>
                    <a:bodyPr/>
                    <a:lstStyle/>
                    <a:p>
                      <a:pPr indent="0" marL="0">
                        <a:lnSpc>
                          <a:spcPts val="2100"/>
                        </a:lnSpc>
                        <a:buNone/>
                      </a:pPr>
                      <a:r>
                        <a:rPr lang="en-US" sz="1500" dirty="0">
                          <a:solidFill>
                            <a:srgbClr val="1C1F26"/>
                          </a:solidFill>
                          <a:latin typeface="Noto Sans JP" pitchFamily="34" charset="0"/>
                          <a:ea typeface="Noto Sans JP" pitchFamily="34" charset="-122"/>
                          <a:cs typeface="Noto Sans JP" pitchFamily="34" charset="-120"/>
                        </a:rPr>
                        <a:t>Workers AI</a:t>
                      </a:r>
                      <a:endParaRPr lang="en-US" sz="1500" dirty="0">
                        <a:latin typeface="Noto Sans JP" charset="0"/>
                        <a:ea typeface="Noto Sans JP" charset="0"/>
                        <a:cs typeface="Noto Sans JP" charset="0"/>
                      </a:endParaRPr>
                    </a:p>
                  </a:txBody>
                  <a:tcPr marL="66675" marR="66675" marT="66675" marB="66675" anchor="t">
                    <a:lnL w="12700" cap="flat" cmpd="sng" algn="ctr">
                      <a:solidFill>
                        <a:srgbClr val="C7C5C1"/>
                      </a:solidFill>
                      <a:prstDash val="solid"/>
                      <a:round/>
                      <a:headEnd type="none" w="med" len="med"/>
                      <a:tailEnd type="none" w="med" len="med"/>
                    </a:lnL>
                    <a:lnR w="12700" cap="flat" cmpd="sng" algn="ctr">
                      <a:solidFill>
                        <a:srgbClr val="C0BCB6"/>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0BCB6"/>
                      </a:solidFill>
                      <a:prstDash val="solid"/>
                      <a:round/>
                      <a:headEnd type="none" w="med" len="med"/>
                      <a:tailEnd type="none" w="med" len="med"/>
                    </a:lnB>
                    <a:solidFill>
                      <a:srgbClr val="F1ECE4"/>
                    </a:solidFill>
                  </a:tcPr>
                </a:tc>
                <a:tc>
                  <a:txBody>
                    <a:bodyPr/>
                    <a:lstStyle/>
                    <a:p>
                      <a:pPr indent="0" marL="0">
                        <a:lnSpc>
                          <a:spcPts val="2100"/>
                        </a:lnSpc>
                        <a:buNone/>
                      </a:pPr>
                      <a:r>
                        <a:rPr lang="en-US" sz="1500" dirty="0">
                          <a:solidFill>
                            <a:srgbClr val="1C1F26"/>
                          </a:solidFill>
                          <a:latin typeface="Noto Sans JP" pitchFamily="34" charset="0"/>
                          <a:ea typeface="Noto Sans JP" pitchFamily="34" charset="-122"/>
                          <a:cs typeface="Noto Sans JP" pitchFamily="34" charset="-120"/>
                        </a:rPr>
                        <a:t>1 日 1 万ニューロン</a:t>
                      </a:r>
                      <a:endParaRPr lang="en-US" sz="1500" dirty="0">
                        <a:latin typeface="Noto Sans JP" charset="0"/>
                        <a:ea typeface="Noto Sans JP" charset="0"/>
                        <a:cs typeface="Noto Sans JP" charset="0"/>
                      </a:endParaRPr>
                    </a:p>
                  </a:txBody>
                  <a:tcPr marL="66675" marR="66675" marT="66675" marB="66675" anchor="t">
                    <a:lnL w="12700" cap="flat" cmpd="sng" algn="ctr">
                      <a:solidFill>
                        <a:srgbClr val="C0BCB6"/>
                      </a:solidFill>
                      <a:prstDash val="solid"/>
                      <a:round/>
                      <a:headEnd type="none" w="med" len="med"/>
                      <a:tailEnd type="none" w="med" len="med"/>
                    </a:lnL>
                    <a:lnR w="12700" cap="flat" cmpd="sng" algn="ctr">
                      <a:solidFill>
                        <a:srgbClr val="C0BCB6"/>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0BCB6"/>
                      </a:solidFill>
                      <a:prstDash val="solid"/>
                      <a:round/>
                      <a:headEnd type="none" w="med" len="med"/>
                      <a:tailEnd type="none" w="med" len="med"/>
                    </a:lnB>
                    <a:solidFill>
                      <a:srgbClr val="F1ECE4"/>
                    </a:solidFill>
                  </a:tcPr>
                </a:tc>
                <a:tc>
                  <a:txBody>
                    <a:bodyPr/>
                    <a:lstStyle/>
                    <a:p>
                      <a:pPr indent="0" marL="0">
                        <a:lnSpc>
                          <a:spcPts val="2100"/>
                        </a:lnSpc>
                        <a:buNone/>
                      </a:pPr>
                      <a:r>
                        <a:rPr lang="en-US" sz="1500" dirty="0">
                          <a:solidFill>
                            <a:srgbClr val="1C1F26"/>
                          </a:solidFill>
                          <a:latin typeface="Noto Sans JP" pitchFamily="34" charset="0"/>
                          <a:ea typeface="Noto Sans JP" pitchFamily="34" charset="-122"/>
                          <a:cs typeface="Noto Sans JP" pitchFamily="34" charset="-120"/>
                        </a:rPr>
                        <a:t>ニューロンは AI の計算量の単位。毎日 0 時（UTC）にリセット</a:t>
                      </a:r>
                      <a:endParaRPr lang="en-US" sz="1500" dirty="0">
                        <a:latin typeface="Noto Sans JP" charset="0"/>
                        <a:ea typeface="Noto Sans JP" charset="0"/>
                        <a:cs typeface="Noto Sans JP" charset="0"/>
                      </a:endParaRPr>
                    </a:p>
                  </a:txBody>
                  <a:tcPr marL="66675" marR="66675" marT="66675" marB="66675" anchor="t">
                    <a:lnL w="12700" cap="flat" cmpd="sng" algn="ctr">
                      <a:solidFill>
                        <a:srgbClr val="C0BCB6"/>
                      </a:solidFill>
                      <a:prstDash val="solid"/>
                      <a:round/>
                      <a:headEnd type="none" w="med" len="med"/>
                      <a:tailEnd type="none" w="med" len="med"/>
                    </a:lnL>
                    <a:lnR w="12700" cap="flat" cmpd="sng" algn="ctr">
                      <a:solidFill>
                        <a:srgbClr val="C0BCB6"/>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0BCB6"/>
                      </a:solidFill>
                      <a:prstDash val="solid"/>
                      <a:round/>
                      <a:headEnd type="none" w="med" len="med"/>
                      <a:tailEnd type="none" w="med" len="med"/>
                    </a:lnB>
                    <a:solidFill>
                      <a:srgbClr val="F1ECE4"/>
                    </a:solidFill>
                  </a:tcPr>
                </a:tc>
              </a:tr>
              <a:tr h="679450">
                <a:tc>
                  <a:txBody>
                    <a:bodyPr/>
                    <a:lstStyle/>
                    <a:p>
                      <a:pPr indent="0" marL="0">
                        <a:lnSpc>
                          <a:spcPts val="2100"/>
                        </a:lnSpc>
                        <a:buNone/>
                      </a:pPr>
                      <a:r>
                        <a:rPr lang="en-US" sz="1500" dirty="0">
                          <a:solidFill>
                            <a:srgbClr val="1C1F26"/>
                          </a:solidFill>
                          <a:latin typeface="Noto Sans JP" pitchFamily="34" charset="0"/>
                          <a:ea typeface="Noto Sans JP" pitchFamily="34" charset="-122"/>
                          <a:cs typeface="Noto Sans JP" pitchFamily="34" charset="-120"/>
                        </a:rPr>
                        <a:t>R2</a:t>
                      </a:r>
                      <a:endParaRPr lang="en-US" sz="1500" dirty="0">
                        <a:latin typeface="Noto Sans JP" charset="0"/>
                        <a:ea typeface="Noto Sans JP" charset="0"/>
                        <a:cs typeface="Noto Sans JP" charset="0"/>
                      </a:endParaRPr>
                    </a:p>
                  </a:txBody>
                  <a:tcPr marL="66675" marR="66675" marT="66675" marB="66675" anchor="t">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0BCB6"/>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c>
                  <a:txBody>
                    <a:bodyPr/>
                    <a:lstStyle/>
                    <a:p>
                      <a:pPr indent="0" marL="0">
                        <a:lnSpc>
                          <a:spcPts val="2100"/>
                        </a:lnSpc>
                        <a:buNone/>
                      </a:pPr>
                      <a:r>
                        <a:rPr lang="en-US" sz="1500" dirty="0">
                          <a:solidFill>
                            <a:srgbClr val="1C1F26"/>
                          </a:solidFill>
                          <a:latin typeface="Noto Sans JP" pitchFamily="34" charset="0"/>
                          <a:ea typeface="Noto Sans JP" pitchFamily="34" charset="-122"/>
                          <a:cs typeface="Noto Sans JP" pitchFamily="34" charset="-120"/>
                        </a:rPr>
                        <a:t>月 10 GB の保存</a:t>
                      </a:r>
                      <a:endParaRPr lang="en-US" sz="1500" dirty="0">
                        <a:latin typeface="Noto Sans JP" charset="0"/>
                        <a:ea typeface="Noto Sans JP" charset="0"/>
                        <a:cs typeface="Noto Sans JP" charset="0"/>
                      </a:endParaRPr>
                    </a:p>
                  </a:txBody>
                  <a:tcPr marL="66675" marR="66675" marT="66675" marB="66675" anchor="t">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0BCB6"/>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c>
                  <a:txBody>
                    <a:bodyPr/>
                    <a:lstStyle/>
                    <a:p>
                      <a:pPr indent="0" marL="0">
                        <a:lnSpc>
                          <a:spcPts val="2100"/>
                        </a:lnSpc>
                        <a:buNone/>
                      </a:pPr>
                      <a:r>
                        <a:rPr lang="en-US" sz="1500" dirty="0">
                          <a:solidFill>
                            <a:srgbClr val="1C1F26"/>
                          </a:solidFill>
                          <a:latin typeface="Noto Sans JP" pitchFamily="34" charset="0"/>
                          <a:ea typeface="Noto Sans JP" pitchFamily="34" charset="-122"/>
                          <a:cs typeface="Noto Sans JP" pitchFamily="34" charset="-120"/>
                        </a:rPr>
                        <a:t>無料でも、最初にサブスクリプション登録（支払い方法）が必要</a:t>
                      </a:r>
                      <a:endParaRPr lang="en-US" sz="1500" dirty="0">
                        <a:latin typeface="Noto Sans JP" charset="0"/>
                        <a:ea typeface="Noto Sans JP" charset="0"/>
                        <a:cs typeface="Noto Sans JP" charset="0"/>
                      </a:endParaRPr>
                    </a:p>
                  </a:txBody>
                  <a:tcPr marL="66675" marR="66675" marT="66675" marB="66675" anchor="t">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0BCB6"/>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r>
              <a:tr h="412750">
                <a:tc>
                  <a:txBody>
                    <a:bodyPr/>
                    <a:lstStyle/>
                    <a:p>
                      <a:pPr indent="0" marL="0">
                        <a:lnSpc>
                          <a:spcPts val="2100"/>
                        </a:lnSpc>
                        <a:buNone/>
                      </a:pPr>
                      <a:r>
                        <a:rPr lang="en-US" sz="1500" dirty="0">
                          <a:solidFill>
                            <a:srgbClr val="1C1F26"/>
                          </a:solidFill>
                          <a:latin typeface="Noto Sans JP" pitchFamily="34" charset="0"/>
                          <a:ea typeface="Noto Sans JP" pitchFamily="34" charset="-122"/>
                          <a:cs typeface="Noto Sans JP" pitchFamily="34" charset="-120"/>
                        </a:rPr>
                        <a:t>AI Playground</a:t>
                      </a:r>
                      <a:endParaRPr lang="en-US" sz="1500" dirty="0">
                        <a:latin typeface="Noto Sans JP" charset="0"/>
                        <a:ea typeface="Noto Sans JP" charset="0"/>
                        <a:cs typeface="Noto Sans JP" charset="0"/>
                      </a:endParaRPr>
                    </a:p>
                  </a:txBody>
                  <a:tcPr marL="66675" marR="66675" marT="66675" marB="66675" anchor="t">
                    <a:lnL w="12700" cap="flat" cmpd="sng" algn="ctr">
                      <a:solidFill>
                        <a:srgbClr val="C7C5C1"/>
                      </a:solidFill>
                      <a:prstDash val="solid"/>
                      <a:round/>
                      <a:headEnd type="none" w="med" len="med"/>
                      <a:tailEnd type="none" w="med" len="med"/>
                    </a:lnL>
                    <a:lnR w="12700" cap="flat" cmpd="sng" algn="ctr">
                      <a:solidFill>
                        <a:srgbClr val="C0BCB6"/>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0BCB6"/>
                      </a:solidFill>
                      <a:prstDash val="solid"/>
                      <a:round/>
                      <a:headEnd type="none" w="med" len="med"/>
                      <a:tailEnd type="none" w="med" len="med"/>
                    </a:lnB>
                    <a:solidFill>
                      <a:srgbClr val="F1ECE4"/>
                    </a:solidFill>
                  </a:tcPr>
                </a:tc>
                <a:tc>
                  <a:txBody>
                    <a:bodyPr/>
                    <a:lstStyle/>
                    <a:p>
                      <a:pPr indent="0" marL="0">
                        <a:lnSpc>
                          <a:spcPts val="2100"/>
                        </a:lnSpc>
                        <a:buNone/>
                      </a:pPr>
                      <a:r>
                        <a:rPr lang="en-US" sz="1500" dirty="0">
                          <a:solidFill>
                            <a:srgbClr val="1C1F26"/>
                          </a:solidFill>
                          <a:latin typeface="Noto Sans JP" pitchFamily="34" charset="0"/>
                          <a:ea typeface="Noto Sans JP" pitchFamily="34" charset="-122"/>
                          <a:cs typeface="Noto Sans JP" pitchFamily="34" charset="-120"/>
                        </a:rPr>
                        <a:t>ログイン不要で試せる</a:t>
                      </a:r>
                      <a:endParaRPr lang="en-US" sz="1500" dirty="0">
                        <a:latin typeface="Noto Sans JP" charset="0"/>
                        <a:ea typeface="Noto Sans JP" charset="0"/>
                        <a:cs typeface="Noto Sans JP" charset="0"/>
                      </a:endParaRPr>
                    </a:p>
                  </a:txBody>
                  <a:tcPr marL="66675" marR="66675" marT="66675" marB="66675" anchor="t">
                    <a:lnL w="12700" cap="flat" cmpd="sng" algn="ctr">
                      <a:solidFill>
                        <a:srgbClr val="C0BCB6"/>
                      </a:solidFill>
                      <a:prstDash val="solid"/>
                      <a:round/>
                      <a:headEnd type="none" w="med" len="med"/>
                      <a:tailEnd type="none" w="med" len="med"/>
                    </a:lnL>
                    <a:lnR w="12700" cap="flat" cmpd="sng" algn="ctr">
                      <a:solidFill>
                        <a:srgbClr val="C0BCB6"/>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0BCB6"/>
                      </a:solidFill>
                      <a:prstDash val="solid"/>
                      <a:round/>
                      <a:headEnd type="none" w="med" len="med"/>
                      <a:tailEnd type="none" w="med" len="med"/>
                    </a:lnB>
                    <a:solidFill>
                      <a:srgbClr val="F1ECE4"/>
                    </a:solidFill>
                  </a:tcPr>
                </a:tc>
                <a:tc>
                  <a:txBody>
                    <a:bodyPr/>
                    <a:lstStyle/>
                    <a:p>
                      <a:pPr indent="0" marL="0">
                        <a:lnSpc>
                          <a:spcPts val="2100"/>
                        </a:lnSpc>
                        <a:buNone/>
                      </a:pPr>
                      <a:r>
                        <a:rPr lang="en-US" sz="1500" dirty="0">
                          <a:solidFill>
                            <a:srgbClr val="1C1F26"/>
                          </a:solidFill>
                          <a:latin typeface="Noto Sans JP" pitchFamily="34" charset="0"/>
                          <a:ea typeface="Noto Sans JP" pitchFamily="34" charset="-122"/>
                          <a:cs typeface="Noto Sans JP" pitchFamily="34" charset="-120"/>
                        </a:rPr>
                        <a:t>Web ブラウザだけで使える</a:t>
                      </a:r>
                      <a:endParaRPr lang="en-US" sz="1500" dirty="0">
                        <a:latin typeface="Noto Sans JP" charset="0"/>
                        <a:ea typeface="Noto Sans JP" charset="0"/>
                        <a:cs typeface="Noto Sans JP" charset="0"/>
                      </a:endParaRPr>
                    </a:p>
                  </a:txBody>
                  <a:tcPr marL="66675" marR="66675" marT="66675" marB="66675" anchor="t">
                    <a:lnL w="12700" cap="flat" cmpd="sng" algn="ctr">
                      <a:solidFill>
                        <a:srgbClr val="C0BCB6"/>
                      </a:solidFill>
                      <a:prstDash val="solid"/>
                      <a:round/>
                      <a:headEnd type="none" w="med" len="med"/>
                      <a:tailEnd type="none" w="med" len="med"/>
                    </a:lnL>
                    <a:lnR w="12700" cap="flat" cmpd="sng" algn="ctr">
                      <a:solidFill>
                        <a:srgbClr val="C0BCB6"/>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0BCB6"/>
                      </a:solidFill>
                      <a:prstDash val="solid"/>
                      <a:round/>
                      <a:headEnd type="none" w="med" len="med"/>
                      <a:tailEnd type="none" w="med" len="med"/>
                    </a:lnB>
                    <a:solidFill>
                      <a:srgbClr val="F1ECE4"/>
                    </a:solidFill>
                  </a:tcPr>
                </a:tc>
              </a:tr>
            </a:tbl>
          </a:graphicData>
        </a:graphic>
      </p:graphicFrame>
      <p:sp>
        <p:nvSpPr>
          <p:cNvPr id="5" name="Text 2"/>
          <p:cNvSpPr/>
          <p:nvPr/>
        </p:nvSpPr>
        <p:spPr>
          <a:xfrm>
            <a:off x="812800" y="4941540"/>
            <a:ext cx="10883392" cy="330200"/>
          </a:xfrm>
          <a:prstGeom prst="rect">
            <a:avLst/>
          </a:prstGeom>
          <a:noFill/>
          <a:ln/>
        </p:spPr>
        <p:txBody>
          <a:bodyPr wrap="square" lIns="0" tIns="0" rIns="0" bIns="0" rtlCol="0" anchor="t">
            <a:normAutofit/>
          </a:bodyPr>
          <a:lstStyle/>
          <a:p>
            <a:pPr algn="l" indent="0" marL="0">
              <a:lnSpc>
                <a:spcPts val="2400"/>
              </a:lnSpc>
              <a:buNone/>
            </a:pPr>
            <a:r>
              <a:rPr lang="en-US" sz="1500" dirty="0">
                <a:solidFill>
                  <a:srgbClr val="4A4F5A"/>
                </a:solidFill>
                <a:latin typeface="Noto Sans JP" pitchFamily="34" charset="0"/>
                <a:ea typeface="Noto Sans JP" pitchFamily="34" charset="-122"/>
                <a:cs typeface="Noto Sans JP" pitchFamily="34" charset="-120"/>
              </a:rPr>
              <a:t>ハンズオンのチャット API を何十回呼んでも、1 万ニューロンのうち数十しか使わない（実測）</a:t>
            </a:r>
            <a:endParaRPr lang="en-US" sz="1500" dirty="0"/>
          </a:p>
        </p:txBody>
      </p:sp>
      <p:sp>
        <p:nvSpPr>
          <p:cNvPr id="6" name="Text 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080"/>
                </a:solidFill>
                <a:latin typeface="Noto Sans JP" pitchFamily="34" charset="0"/>
                <a:ea typeface="Noto Sans JP" pitchFamily="34" charset="-122"/>
                <a:cs typeface="Noto Sans JP" pitchFamily="34" charset="-120"/>
              </a:rPr>
              <a:t>出典：developers.cloudflare.com/workers-ai/platform/pricing、ダッシュボードの表示（2026年10月9日）</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C1F26"/>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F38020"/>
                </a:solidFill>
                <a:latin typeface="Noto Sans JP" pitchFamily="34" charset="0"/>
                <a:ea typeface="Noto Sans JP" pitchFamily="34" charset="-122"/>
                <a:cs typeface="Noto Sans JP" pitchFamily="34" charset="-120"/>
              </a:rPr>
              <a:t>ここからハンズオン</a:t>
            </a:r>
            <a:endParaRPr lang="en-US" sz="1400" dirty="0"/>
          </a:p>
        </p:txBody>
      </p:sp>
      <p:sp>
        <p:nvSpPr>
          <p:cNvPr id="3" name="Text 1"/>
          <p:cNvSpPr/>
          <p:nvPr>
            <p:ph type="title"/>
          </p:nvPr>
        </p:nvSpPr>
        <p:spPr>
          <a:xfrm>
            <a:off x="812800" y="1366490"/>
            <a:ext cx="10883392" cy="533400"/>
          </a:xfrm>
          <a:prstGeom prst="rect">
            <a:avLst/>
          </a:prstGeom>
          <a:noFill/>
          <a:ln/>
        </p:spPr>
        <p:txBody>
          <a:bodyPr wrap="square" lIns="0" tIns="0" rIns="0" bIns="0" rtlCol="0" anchor="t">
            <a:normAutofit/>
          </a:bodyPr>
          <a:lstStyle/>
          <a:p>
            <a:pPr algn="l" indent="0" marL="0">
              <a:lnSpc>
                <a:spcPts val="4000"/>
              </a:lnSpc>
              <a:buNone/>
            </a:pPr>
            <a:r>
              <a:rPr lang="en-US" sz="3200" b="1" i="0" dirty="0">
                <a:solidFill>
                  <a:srgbClr val="F5F1EA"/>
                </a:solidFill>
                <a:latin typeface="Noto Sans JP" pitchFamily="34" charset="0"/>
                <a:ea typeface="Noto Sans JP" pitchFamily="34" charset="-122"/>
                <a:cs typeface="Noto Sans JP" pitchFamily="34" charset="-120"/>
              </a:rPr>
              <a:t>画面操作から始めて、最後に MCP サーバーを公開する</a:t>
            </a:r>
            <a:endParaRPr lang="en-US" sz="3200" dirty="0"/>
          </a:p>
        </p:txBody>
      </p:sp>
      <p:sp>
        <p:nvSpPr>
          <p:cNvPr id="4" name="Shape 2"/>
          <p:cNvSpPr/>
          <p:nvPr/>
        </p:nvSpPr>
        <p:spPr>
          <a:xfrm>
            <a:off x="812800" y="2179290"/>
            <a:ext cx="2527300" cy="3091210"/>
          </a:xfrm>
          <a:prstGeom prst="roundRect">
            <a:avLst>
              <a:gd name="adj" fmla="val 4020"/>
            </a:avLst>
          </a:prstGeom>
          <a:solidFill>
            <a:srgbClr val="2D3340"/>
          </a:solidFill>
          <a:ln/>
        </p:spPr>
      </p:sp>
      <p:sp>
        <p:nvSpPr>
          <p:cNvPr id="5" name="Text 3"/>
          <p:cNvSpPr/>
          <p:nvPr/>
        </p:nvSpPr>
        <p:spPr>
          <a:xfrm>
            <a:off x="1041400" y="2407890"/>
            <a:ext cx="2132203"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F38020"/>
                </a:solidFill>
                <a:latin typeface="Noto Sans JP" pitchFamily="34" charset="0"/>
                <a:ea typeface="Noto Sans JP" pitchFamily="34" charset="-122"/>
                <a:cs typeface="Noto Sans JP" pitchFamily="34" charset="-120"/>
              </a:rPr>
              <a:t>1</a:t>
            </a:r>
            <a:endParaRPr lang="en-US" sz="2800" dirty="0"/>
          </a:p>
        </p:txBody>
      </p:sp>
      <p:sp>
        <p:nvSpPr>
          <p:cNvPr id="6" name="Text 4"/>
          <p:cNvSpPr/>
          <p:nvPr/>
        </p:nvSpPr>
        <p:spPr>
          <a:xfrm>
            <a:off x="1041400" y="2865090"/>
            <a:ext cx="2132203" cy="316855"/>
          </a:xfrm>
          <a:prstGeom prst="rect">
            <a:avLst/>
          </a:prstGeom>
          <a:noFill/>
          <a:ln/>
        </p:spPr>
        <p:txBody>
          <a:bodyPr wrap="square" lIns="0" tIns="0" rIns="0" bIns="0" rtlCol="0" anchor="t">
            <a:normAutofit/>
          </a:bodyPr>
          <a:lstStyle/>
          <a:p>
            <a:pPr algn="l" indent="0" marL="0">
              <a:lnSpc>
                <a:spcPts val="2295"/>
              </a:lnSpc>
              <a:buNone/>
            </a:pPr>
            <a:r>
              <a:rPr lang="en-US" sz="1700" b="1" dirty="0">
                <a:solidFill>
                  <a:srgbClr val="F5F1EA"/>
                </a:solidFill>
                <a:latin typeface="Noto Sans JP" pitchFamily="34" charset="0"/>
                <a:ea typeface="Noto Sans JP" pitchFamily="34" charset="-122"/>
                <a:cs typeface="Noto Sans JP" pitchFamily="34" charset="-120"/>
              </a:rPr>
              <a:t>Web サイトを公開</a:t>
            </a:r>
            <a:endParaRPr lang="en-US" sz="1700" dirty="0"/>
          </a:p>
        </p:txBody>
      </p:sp>
      <p:sp>
        <p:nvSpPr>
          <p:cNvPr id="7" name="Text 5"/>
          <p:cNvSpPr/>
          <p:nvPr/>
        </p:nvSpPr>
        <p:spPr>
          <a:xfrm>
            <a:off x="1041400" y="3258145"/>
            <a:ext cx="2132203" cy="817761"/>
          </a:xfrm>
          <a:prstGeom prst="rect">
            <a:avLst/>
          </a:prstGeom>
          <a:noFill/>
          <a:ln/>
        </p:spPr>
        <p:txBody>
          <a:bodyPr wrap="square" lIns="0" tIns="0" rIns="0" bIns="0" rtlCol="0" anchor="t">
            <a:normAutofit/>
          </a:bodyPr>
          <a:lstStyle/>
          <a:p>
            <a:pPr algn="l" indent="0" marL="0">
              <a:lnSpc>
                <a:spcPts val="2080"/>
              </a:lnSpc>
              <a:buNone/>
            </a:pPr>
            <a:r>
              <a:rPr lang="en-US" sz="1300" dirty="0">
                <a:solidFill>
                  <a:srgbClr val="C9C3B8"/>
                </a:solidFill>
                <a:latin typeface="Noto Sans JP" pitchFamily="34" charset="0"/>
                <a:ea typeface="Noto Sans JP" pitchFamily="34" charset="-122"/>
                <a:cs typeface="Noto Sans JP" pitchFamily="34" charset="-120"/>
              </a:rPr>
              <a:t>HTML を画面にドラッグするだけ。R2 にもファイルを保存</a:t>
            </a:r>
            <a:endParaRPr lang="en-US" sz="1300" dirty="0"/>
          </a:p>
        </p:txBody>
      </p:sp>
      <p:sp>
        <p:nvSpPr>
          <p:cNvPr id="8" name="Shape 6"/>
          <p:cNvSpPr/>
          <p:nvPr/>
        </p:nvSpPr>
        <p:spPr>
          <a:xfrm>
            <a:off x="3492500" y="2179290"/>
            <a:ext cx="2527300" cy="3091210"/>
          </a:xfrm>
          <a:prstGeom prst="roundRect">
            <a:avLst>
              <a:gd name="adj" fmla="val 4020"/>
            </a:avLst>
          </a:prstGeom>
          <a:solidFill>
            <a:srgbClr val="2D3340"/>
          </a:solidFill>
          <a:ln/>
        </p:spPr>
      </p:sp>
      <p:sp>
        <p:nvSpPr>
          <p:cNvPr id="9" name="Text 7"/>
          <p:cNvSpPr/>
          <p:nvPr/>
        </p:nvSpPr>
        <p:spPr>
          <a:xfrm>
            <a:off x="3721100" y="2407890"/>
            <a:ext cx="2132203"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F38020"/>
                </a:solidFill>
                <a:latin typeface="Noto Sans JP" pitchFamily="34" charset="0"/>
                <a:ea typeface="Noto Sans JP" pitchFamily="34" charset="-122"/>
                <a:cs typeface="Noto Sans JP" pitchFamily="34" charset="-120"/>
              </a:rPr>
              <a:t>2</a:t>
            </a:r>
            <a:endParaRPr lang="en-US" sz="2800" dirty="0"/>
          </a:p>
        </p:txBody>
      </p:sp>
      <p:sp>
        <p:nvSpPr>
          <p:cNvPr id="10" name="Text 8"/>
          <p:cNvSpPr/>
          <p:nvPr/>
        </p:nvSpPr>
        <p:spPr>
          <a:xfrm>
            <a:off x="3721100" y="2865090"/>
            <a:ext cx="2132203" cy="316855"/>
          </a:xfrm>
          <a:prstGeom prst="rect">
            <a:avLst/>
          </a:prstGeom>
          <a:noFill/>
          <a:ln/>
        </p:spPr>
        <p:txBody>
          <a:bodyPr wrap="square" lIns="0" tIns="0" rIns="0" bIns="0" rtlCol="0" anchor="t">
            <a:normAutofit/>
          </a:bodyPr>
          <a:lstStyle/>
          <a:p>
            <a:pPr algn="l" indent="0" marL="0">
              <a:lnSpc>
                <a:spcPts val="2295"/>
              </a:lnSpc>
              <a:buNone/>
            </a:pPr>
            <a:r>
              <a:rPr lang="en-US" sz="1700" b="1" dirty="0">
                <a:solidFill>
                  <a:srgbClr val="F5F1EA"/>
                </a:solidFill>
                <a:latin typeface="Noto Sans JP" pitchFamily="34" charset="0"/>
                <a:ea typeface="Noto Sans JP" pitchFamily="34" charset="-122"/>
                <a:cs typeface="Noto Sans JP" pitchFamily="34" charset="-120"/>
              </a:rPr>
              <a:t>AI Playground</a:t>
            </a:r>
            <a:endParaRPr lang="en-US" sz="1700" dirty="0"/>
          </a:p>
        </p:txBody>
      </p:sp>
      <p:sp>
        <p:nvSpPr>
          <p:cNvPr id="11" name="Text 9"/>
          <p:cNvSpPr/>
          <p:nvPr/>
        </p:nvSpPr>
        <p:spPr>
          <a:xfrm>
            <a:off x="3721100" y="3258145"/>
            <a:ext cx="2132203" cy="553641"/>
          </a:xfrm>
          <a:prstGeom prst="rect">
            <a:avLst/>
          </a:prstGeom>
          <a:noFill/>
          <a:ln/>
        </p:spPr>
        <p:txBody>
          <a:bodyPr wrap="square" lIns="0" tIns="0" rIns="0" bIns="0" rtlCol="0" anchor="t">
            <a:normAutofit/>
          </a:bodyPr>
          <a:lstStyle/>
          <a:p>
            <a:pPr algn="l" indent="0" marL="0">
              <a:lnSpc>
                <a:spcPts val="2080"/>
              </a:lnSpc>
              <a:buNone/>
            </a:pPr>
            <a:r>
              <a:rPr lang="en-US" sz="1300" dirty="0">
                <a:solidFill>
                  <a:srgbClr val="C9C3B8"/>
                </a:solidFill>
                <a:latin typeface="Noto Sans JP" pitchFamily="34" charset="0"/>
                <a:ea typeface="Noto Sans JP" pitchFamily="34" charset="-122"/>
                <a:cs typeface="Noto Sans JP" pitchFamily="34" charset="-120"/>
              </a:rPr>
              <a:t>ブラウザで、いろいろな会社のモデルを試す</a:t>
            </a:r>
            <a:endParaRPr lang="en-US" sz="1300" dirty="0"/>
          </a:p>
        </p:txBody>
      </p:sp>
      <p:sp>
        <p:nvSpPr>
          <p:cNvPr id="12" name="Shape 10"/>
          <p:cNvSpPr/>
          <p:nvPr/>
        </p:nvSpPr>
        <p:spPr>
          <a:xfrm>
            <a:off x="6172200" y="2179290"/>
            <a:ext cx="2527300" cy="3091210"/>
          </a:xfrm>
          <a:prstGeom prst="roundRect">
            <a:avLst>
              <a:gd name="adj" fmla="val 4020"/>
            </a:avLst>
          </a:prstGeom>
          <a:solidFill>
            <a:srgbClr val="2D3340"/>
          </a:solidFill>
          <a:ln/>
        </p:spPr>
      </p:sp>
      <p:sp>
        <p:nvSpPr>
          <p:cNvPr id="13" name="Text 11"/>
          <p:cNvSpPr/>
          <p:nvPr/>
        </p:nvSpPr>
        <p:spPr>
          <a:xfrm>
            <a:off x="6400800" y="2407890"/>
            <a:ext cx="2132203"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F38020"/>
                </a:solidFill>
                <a:latin typeface="Noto Sans JP" pitchFamily="34" charset="0"/>
                <a:ea typeface="Noto Sans JP" pitchFamily="34" charset="-122"/>
                <a:cs typeface="Noto Sans JP" pitchFamily="34" charset="-120"/>
              </a:rPr>
              <a:t>3</a:t>
            </a:r>
            <a:endParaRPr lang="en-US" sz="2800" dirty="0"/>
          </a:p>
        </p:txBody>
      </p:sp>
      <p:sp>
        <p:nvSpPr>
          <p:cNvPr id="14" name="Text 12"/>
          <p:cNvSpPr/>
          <p:nvPr/>
        </p:nvSpPr>
        <p:spPr>
          <a:xfrm>
            <a:off x="6400800" y="2865090"/>
            <a:ext cx="2132203" cy="316855"/>
          </a:xfrm>
          <a:prstGeom prst="rect">
            <a:avLst/>
          </a:prstGeom>
          <a:noFill/>
          <a:ln/>
        </p:spPr>
        <p:txBody>
          <a:bodyPr wrap="square" lIns="0" tIns="0" rIns="0" bIns="0" rtlCol="0" anchor="t">
            <a:normAutofit/>
          </a:bodyPr>
          <a:lstStyle/>
          <a:p>
            <a:pPr algn="l" indent="0" marL="0">
              <a:lnSpc>
                <a:spcPts val="2295"/>
              </a:lnSpc>
              <a:buNone/>
            </a:pPr>
            <a:r>
              <a:rPr lang="en-US" sz="1700" b="1" dirty="0">
                <a:solidFill>
                  <a:srgbClr val="F5F1EA"/>
                </a:solidFill>
                <a:latin typeface="Noto Sans JP" pitchFamily="34" charset="0"/>
                <a:ea typeface="Noto Sans JP" pitchFamily="34" charset="-122"/>
                <a:cs typeface="Noto Sans JP" pitchFamily="34" charset="-120"/>
              </a:rPr>
              <a:t>チャット API</a:t>
            </a:r>
            <a:endParaRPr lang="en-US" sz="1700" dirty="0"/>
          </a:p>
        </p:txBody>
      </p:sp>
      <p:sp>
        <p:nvSpPr>
          <p:cNvPr id="15" name="Text 13"/>
          <p:cNvSpPr/>
          <p:nvPr/>
        </p:nvSpPr>
        <p:spPr>
          <a:xfrm>
            <a:off x="6400800" y="3258145"/>
            <a:ext cx="2132203" cy="553641"/>
          </a:xfrm>
          <a:prstGeom prst="rect">
            <a:avLst/>
          </a:prstGeom>
          <a:noFill/>
          <a:ln/>
        </p:spPr>
        <p:txBody>
          <a:bodyPr wrap="square" lIns="0" tIns="0" rIns="0" bIns="0" rtlCol="0" anchor="t">
            <a:normAutofit/>
          </a:bodyPr>
          <a:lstStyle/>
          <a:p>
            <a:pPr algn="l" indent="0" marL="0">
              <a:lnSpc>
                <a:spcPts val="2080"/>
              </a:lnSpc>
              <a:buNone/>
            </a:pPr>
            <a:r>
              <a:rPr lang="en-US" sz="1300" dirty="0">
                <a:solidFill>
                  <a:srgbClr val="C9C3B8"/>
                </a:solidFill>
                <a:latin typeface="Noto Sans JP" pitchFamily="34" charset="0"/>
                <a:ea typeface="Noto Sans JP" pitchFamily="34" charset="-122"/>
                <a:cs typeface="Noto Sans JP" pitchFamily="34" charset="-120"/>
              </a:rPr>
              <a:t>Workers ＋ Workers AI。コマンドでデプロイ</a:t>
            </a:r>
            <a:endParaRPr lang="en-US" sz="1300" dirty="0"/>
          </a:p>
        </p:txBody>
      </p:sp>
      <p:sp>
        <p:nvSpPr>
          <p:cNvPr id="16" name="Shape 14"/>
          <p:cNvSpPr/>
          <p:nvPr/>
        </p:nvSpPr>
        <p:spPr>
          <a:xfrm>
            <a:off x="8851900" y="2179290"/>
            <a:ext cx="2527300" cy="3091210"/>
          </a:xfrm>
          <a:prstGeom prst="roundRect">
            <a:avLst>
              <a:gd name="adj" fmla="val 4020"/>
            </a:avLst>
          </a:prstGeom>
          <a:solidFill>
            <a:srgbClr val="2D3340"/>
          </a:solidFill>
          <a:ln/>
        </p:spPr>
      </p:sp>
      <p:sp>
        <p:nvSpPr>
          <p:cNvPr id="17" name="Text 15"/>
          <p:cNvSpPr/>
          <p:nvPr/>
        </p:nvSpPr>
        <p:spPr>
          <a:xfrm>
            <a:off x="9080500" y="2407890"/>
            <a:ext cx="2132203"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F38020"/>
                </a:solidFill>
                <a:latin typeface="Noto Sans JP" pitchFamily="34" charset="0"/>
                <a:ea typeface="Noto Sans JP" pitchFamily="34" charset="-122"/>
                <a:cs typeface="Noto Sans JP" pitchFamily="34" charset="-120"/>
              </a:rPr>
              <a:t>4</a:t>
            </a:r>
            <a:endParaRPr lang="en-US" sz="2800" dirty="0"/>
          </a:p>
        </p:txBody>
      </p:sp>
      <p:sp>
        <p:nvSpPr>
          <p:cNvPr id="18" name="Text 16"/>
          <p:cNvSpPr/>
          <p:nvPr/>
        </p:nvSpPr>
        <p:spPr>
          <a:xfrm>
            <a:off x="9080500" y="2865090"/>
            <a:ext cx="2132203" cy="316855"/>
          </a:xfrm>
          <a:prstGeom prst="rect">
            <a:avLst/>
          </a:prstGeom>
          <a:noFill/>
          <a:ln/>
        </p:spPr>
        <p:txBody>
          <a:bodyPr wrap="square" lIns="0" tIns="0" rIns="0" bIns="0" rtlCol="0" anchor="t">
            <a:normAutofit/>
          </a:bodyPr>
          <a:lstStyle/>
          <a:p>
            <a:pPr algn="l" indent="0" marL="0">
              <a:lnSpc>
                <a:spcPts val="2295"/>
              </a:lnSpc>
              <a:buNone/>
            </a:pPr>
            <a:r>
              <a:rPr lang="en-US" sz="1700" b="1" dirty="0">
                <a:solidFill>
                  <a:srgbClr val="F5F1EA"/>
                </a:solidFill>
                <a:latin typeface="Noto Sans JP" pitchFamily="34" charset="0"/>
                <a:ea typeface="Noto Sans JP" pitchFamily="34" charset="-122"/>
                <a:cs typeface="Noto Sans JP" pitchFamily="34" charset="-120"/>
              </a:rPr>
              <a:t>リモート MCP</a:t>
            </a:r>
            <a:endParaRPr lang="en-US" sz="1700" dirty="0"/>
          </a:p>
        </p:txBody>
      </p:sp>
      <p:sp>
        <p:nvSpPr>
          <p:cNvPr id="19" name="Text 17"/>
          <p:cNvSpPr/>
          <p:nvPr/>
        </p:nvSpPr>
        <p:spPr>
          <a:xfrm>
            <a:off x="9080500" y="3258145"/>
            <a:ext cx="2132203" cy="553641"/>
          </a:xfrm>
          <a:prstGeom prst="rect">
            <a:avLst/>
          </a:prstGeom>
          <a:noFill/>
          <a:ln/>
        </p:spPr>
        <p:txBody>
          <a:bodyPr wrap="square" lIns="0" tIns="0" rIns="0" bIns="0" rtlCol="0" anchor="t">
            <a:normAutofit/>
          </a:bodyPr>
          <a:lstStyle/>
          <a:p>
            <a:pPr algn="l" indent="0" marL="0">
              <a:lnSpc>
                <a:spcPts val="2080"/>
              </a:lnSpc>
              <a:buNone/>
            </a:pPr>
            <a:r>
              <a:rPr lang="en-US" sz="1300" dirty="0">
                <a:solidFill>
                  <a:srgbClr val="C9C3B8"/>
                </a:solidFill>
                <a:latin typeface="Noto Sans JP" pitchFamily="34" charset="0"/>
                <a:ea typeface="Noto Sans JP" pitchFamily="34" charset="-122"/>
                <a:cs typeface="Noto Sans JP" pitchFamily="34" charset="-120"/>
              </a:rPr>
              <a:t>ツールを自作して、AI から呼び出す</a:t>
            </a:r>
            <a:endParaRPr lang="en-US" sz="1300" dirty="0"/>
          </a:p>
        </p:txBody>
      </p:sp>
      <p:sp>
        <p:nvSpPr>
          <p:cNvPr id="20" name="Text 18"/>
          <p:cNvSpPr/>
          <p:nvPr/>
        </p:nvSpPr>
        <p:spPr>
          <a:xfrm>
            <a:off x="812800" y="557530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C9C3B8"/>
                </a:solidFill>
                <a:latin typeface="Noto Sans JP" pitchFamily="34" charset="0"/>
                <a:ea typeface="Noto Sans JP" pitchFamily="34" charset="-122"/>
                <a:cs typeface="Noto Sans JP" pitchFamily="34" charset="-120"/>
              </a:rPr>
              <a:t>必要なもの：Cloudflare の無料アカウント、PC、ブラウザ（3 と 4 は Node.js も）。手順書は別ファイル</a:t>
            </a:r>
            <a:endParaRPr lang="en-US" sz="1500" dirty="0"/>
          </a:p>
        </p:txBody>
      </p:sp>
    </p:spTree>
  </p:cSld>
  <p:clrMapOvr>
    <a:masterClrMapping/>
  </p:clrMapOvr>
</p:sld>
</file>

<file path=ppt/theme/theme1.xml><?xml version="1.0" encoding="utf-8"?>
<a:theme xmlns:a="http://schemas.openxmlformats.org/drawingml/2006/main" name="Cloudflare 入門">
  <a:themeElements>
    <a:clrScheme name="Cloudflare 入門">
      <a:dk1>
        <a:srgbClr val="1C1F26"/>
      </a:dk1>
      <a:lt1>
        <a:srgbClr val="FAF7F2"/>
      </a:lt1>
      <a:dk2>
        <a:srgbClr val="545559"/>
      </a:dk2>
      <a:lt2>
        <a:srgbClr val="E4E1DE"/>
      </a:lt2>
      <a:accent1>
        <a:srgbClr val="F38020"/>
      </a:accent1>
      <a:accent2>
        <a:srgbClr val="B4560A"/>
      </a:accent2>
      <a:accent3>
        <a:srgbClr val="2B59C3"/>
      </a:accent3>
      <a:accent4>
        <a:srgbClr val="4A7BE0"/>
      </a:accent4>
      <a:accent5>
        <a:srgbClr val="4A4F5A"/>
      </a:accent5>
      <a:accent6>
        <a:srgbClr val="C9C3B8"/>
      </a:accent6>
      <a:hlink>
        <a:srgbClr val="0563C1"/>
      </a:hlink>
      <a:folHlink>
        <a:srgbClr val="954F72"/>
      </a:folHlink>
    </a:clrScheme>
    <a:fontScheme name="Cloudflare 入門">
      <a:majorFont>
        <a:latin typeface="Noto Sans JP"/>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JP"/>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Cloudflare 入門</dc:title>
  <dc:subject/>
  <dc:creator/>
  <cp:lastModifiedBy/>
  <cp:revision>1</cp:revision>
  <dcterms:created xsi:type="dcterms:W3CDTF">2026-10-09T14:56:00Z</dcterms:created>
  <dcterms:modified xsi:type="dcterms:W3CDTF">2026-10-09T14:56:00Z</dcterms:modified>
</cp:coreProperties>
</file>